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cd4e5756074ce6" /><Relationship Type="http://schemas.openxmlformats.org/officeDocument/2006/relationships/extended-properties" Target="/docProps/app.xml" Id="Ra65e0ac097c84f5d" /><Relationship Type="http://schemas.openxmlformats.org/officeDocument/2006/relationships/officeDocument" Target="/ppt/presentation.xml" Id="R0179dc745b2b47cf" /></Relationships>
</file>

<file path=ppt/presentation.xml><?xml version="1.0" encoding="utf-8"?>
<p:presentation xmlns:p="http://schemas.openxmlformats.org/presentationml/2006/main">
  <p:sldMasterIdLst>
    <p:sldMasterId xmlns:r="http://schemas.openxmlformats.org/officeDocument/2006/relationships" id="2147483648" r:id="R5634ba950534491d"/>
  </p:sldMasterIdLst>
  <p:notesMasterIdLst>
    <p:notesMasterId xmlns:r="http://schemas.openxmlformats.org/officeDocument/2006/relationships" r:id="R866148d7f7274fcf"/>
  </p:notesMasterIdLst>
  <p:sldIdLst>
    <p:sldId xmlns:r="http://schemas.openxmlformats.org/officeDocument/2006/relationships" id="256" r:id="R1aa1f776464f425f"/>
    <p:sldId xmlns:r="http://schemas.openxmlformats.org/officeDocument/2006/relationships" id="257" r:id="R60c37ee070984b66"/>
    <p:sldId xmlns:r="http://schemas.openxmlformats.org/officeDocument/2006/relationships" id="258" r:id="R39d39dbff12040c1"/>
    <p:sldId xmlns:r="http://schemas.openxmlformats.org/officeDocument/2006/relationships" id="259" r:id="R69fef591b32a4e4c"/>
    <p:sldId xmlns:r="http://schemas.openxmlformats.org/officeDocument/2006/relationships" id="260" r:id="R7e91363cebca4533"/>
    <p:sldId xmlns:r="http://schemas.openxmlformats.org/officeDocument/2006/relationships" id="261" r:id="R451ed2c45d714529"/>
    <p:sldId xmlns:r="http://schemas.openxmlformats.org/officeDocument/2006/relationships" id="262" r:id="Re3db09af8d24471e"/>
    <p:sldId xmlns:r="http://schemas.openxmlformats.org/officeDocument/2006/relationships" id="263" r:id="Ra9ef05dd1fe54438"/>
    <p:sldId xmlns:r="http://schemas.openxmlformats.org/officeDocument/2006/relationships" id="264" r:id="R0135d1e996ee4b56"/>
    <p:sldId xmlns:r="http://schemas.openxmlformats.org/officeDocument/2006/relationships" id="265" r:id="Rac15483765b14bbf"/>
    <p:sldId xmlns:r="http://schemas.openxmlformats.org/officeDocument/2006/relationships" id="266" r:id="R8dc3d5e7721f4b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f5f78816324a16" /><Relationship Type="http://schemas.openxmlformats.org/officeDocument/2006/relationships/slideMaster" Target="/ppt/slideMasters/slideMaster1.xml" Id="R5634ba950534491d" /><Relationship Type="http://schemas.openxmlformats.org/officeDocument/2006/relationships/notesMaster" Target="/ppt/notesMasters/notesMaster1.xml" Id="R866148d7f7274fcf" /><Relationship Type="http://schemas.openxmlformats.org/officeDocument/2006/relationships/presProps" Target="/ppt/presProps.xml" Id="R766ea7bab7d14940" /><Relationship Type="http://schemas.openxmlformats.org/officeDocument/2006/relationships/tableStyles" Target="/ppt/tableStyles.xml" Id="R449d1942824e4402" /><Relationship Type="http://schemas.openxmlformats.org/officeDocument/2006/relationships/slide" Target="/ppt/slides/slide1.xml" Id="R1aa1f776464f425f" /><Relationship Type="http://schemas.openxmlformats.org/officeDocument/2006/relationships/slide" Target="/ppt/slides/slide2.xml" Id="R60c37ee070984b66" /><Relationship Type="http://schemas.openxmlformats.org/officeDocument/2006/relationships/slide" Target="/ppt/slides/slide3.xml" Id="R39d39dbff12040c1" /><Relationship Type="http://schemas.openxmlformats.org/officeDocument/2006/relationships/slide" Target="/ppt/slides/slide4.xml" Id="R69fef591b32a4e4c" /><Relationship Type="http://schemas.openxmlformats.org/officeDocument/2006/relationships/slide" Target="/ppt/slides/slide5.xml" Id="R7e91363cebca4533" /><Relationship Type="http://schemas.openxmlformats.org/officeDocument/2006/relationships/slide" Target="/ppt/slides/slide6.xml" Id="R451ed2c45d714529" /><Relationship Type="http://schemas.openxmlformats.org/officeDocument/2006/relationships/slide" Target="/ppt/slides/slide7.xml" Id="Re3db09af8d24471e" /><Relationship Type="http://schemas.openxmlformats.org/officeDocument/2006/relationships/slide" Target="/ppt/slides/slide8.xml" Id="Ra9ef05dd1fe54438" /><Relationship Type="http://schemas.openxmlformats.org/officeDocument/2006/relationships/slide" Target="/ppt/slides/slide9.xml" Id="R0135d1e996ee4b56" /><Relationship Type="http://schemas.openxmlformats.org/officeDocument/2006/relationships/slide" Target="/ppt/slides/slide10.xml" Id="Rac15483765b14bbf" /><Relationship Type="http://schemas.openxmlformats.org/officeDocument/2006/relationships/slide" Target="/ppt/slides/slide11.xml" Id="R8dc3d5e7721f4b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8f331c686f4a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a9064eaa344b01" /><Relationship Type="http://schemas.openxmlformats.org/officeDocument/2006/relationships/notesMaster" Target="/ppt/notesMasters/notesMaster1.xml" Id="R0ad64d6c7dab44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393132548346cf" /><Relationship Type="http://schemas.openxmlformats.org/officeDocument/2006/relationships/notesMaster" Target="/ppt/notesMasters/notesMaster1.xml" Id="R03ed35377df249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3da77be450490f" /><Relationship Type="http://schemas.openxmlformats.org/officeDocument/2006/relationships/notesMaster" Target="/ppt/notesMasters/notesMaster1.xml" Id="R78a23805b55546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8a86b7902c4778" /><Relationship Type="http://schemas.openxmlformats.org/officeDocument/2006/relationships/notesMaster" Target="/ppt/notesMasters/notesMaster1.xml" Id="Rf295305fdd3e43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6aa9b24d8446ff" /><Relationship Type="http://schemas.openxmlformats.org/officeDocument/2006/relationships/notesMaster" Target="/ppt/notesMasters/notesMaster1.xml" Id="R189d863e01e94a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a05a153204924" /><Relationship Type="http://schemas.openxmlformats.org/officeDocument/2006/relationships/notesMaster" Target="/ppt/notesMasters/notesMaster1.xml" Id="Rfe8beaf447f741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7663cdaad947b3" /><Relationship Type="http://schemas.openxmlformats.org/officeDocument/2006/relationships/notesMaster" Target="/ppt/notesMasters/notesMaster1.xml" Id="Ra68f0a7ab6e64f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f24f9008b74397" /><Relationship Type="http://schemas.openxmlformats.org/officeDocument/2006/relationships/notesMaster" Target="/ppt/notesMasters/notesMaster1.xml" Id="Rd7e4f6edbde145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da434290a14a15" /><Relationship Type="http://schemas.openxmlformats.org/officeDocument/2006/relationships/notesMaster" Target="/ppt/notesMasters/notesMaster1.xml" Id="R29b98bc55db240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e47dfa06834efc" /><Relationship Type="http://schemas.openxmlformats.org/officeDocument/2006/relationships/notesMaster" Target="/ppt/notesMasters/notesMaster1.xml" Id="R55422959ef9446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6fef98e73e4234" /><Relationship Type="http://schemas.openxmlformats.org/officeDocument/2006/relationships/notesMaster" Target="/ppt/notesMasters/notesMaster1.xml" Id="R24625c07d1924f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Name → project → purchase, balance, refund.</a:t>
            </a:r>
          </a:p>
          <a:p xmlns:a="http://schemas.openxmlformats.org/drawingml/2006/main">
            <a:r>
              <a:t/>
            </a:r>
          </a:p>
          <a:p xmlns:a="http://schemas.openxmlformats.org/drawingml/2006/main">
            <a:r>
              <a:t>### Script</a:t>
            </a:r>
          </a:p>
          <a:p xmlns:a="http://schemas.openxmlformats.org/drawingml/2006/main">
            <a:r>
              <a:t/>
            </a:r>
          </a:p>
          <a:p xmlns:a="http://schemas.openxmlformats.org/drawingml/2006/main">
            <a:r>
              <a:t>I'm Marvens Jean, and this is Credit Circuit, my UCI 2123 capstone. It's a credit card transaction simulator built with React, Spring Boot, and MySQL. I'll walk through a purchase, what happens to the account balance, and how a refund brings it back.</a:t>
            </a:r>
          </a:p>
          <a:p xmlns:a="http://schemas.openxmlformats.org/drawingml/2006/main">
            <a:r>
              <a:t/>
            </a:r>
          </a:p>
          <a:p xmlns:a="http://schemas.openxmlformats.org/drawingml/2006/main">
            <a:r>
              <a:t>Sources: Application artwork: outputs/03_Verification/card-model-front.png, October 10,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Retail background → curiosity about everyday processes → finance.</a:t>
            </a:r>
          </a:p>
          <a:p xmlns:a="http://schemas.openxmlformats.org/drawingml/2006/main">
            <a:r>
              <a:t/>
            </a:r>
          </a:p>
          <a:p xmlns:a="http://schemas.openxmlformats.org/drawingml/2006/main">
            <a:r>
              <a:t>### Script</a:t>
            </a:r>
          </a:p>
          <a:p xmlns:a="http://schemas.openxmlformats.org/drawingml/2006/main">
            <a:r>
              <a:t/>
            </a:r>
          </a:p>
          <a:p xmlns:a="http://schemas.openxmlformats.org/drawingml/2006/main">
            <a:r>
              <a:t>Most of my background is in retail. What drew me to development was wanting to understand the systems behind everyday things we usually take for granted. Finance interests me, so exploring what happens behind a credit card purchase felt like a good place to start.</a:t>
            </a:r>
          </a:p>
          <a:p xmlns:a="http://schemas.openxmlformats.org/drawingml/2006/main">
            <a:r>
              <a:t/>
            </a:r>
          </a:p>
          <a:p xmlns:a="http://schemas.openxmlformats.org/drawingml/2006/main">
            <a:r>
              <a:t>Sources: Personal background and interests supplied by Marvens Jean. Photo supplied by the presenter: IMG_0020.jpg.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$50 → connection drops → retry → one outcome and a matching balance.</a:t>
            </a:r>
          </a:p>
          <a:p xmlns:a="http://schemas.openxmlformats.org/drawingml/2006/main">
            <a:r>
              <a:t/>
            </a:r>
          </a:p>
          <a:p xmlns:a="http://schemas.openxmlformats.org/drawingml/2006/main">
            <a:r>
              <a:t>### Script</a:t>
            </a:r>
          </a:p>
          <a:p xmlns:a="http://schemas.openxmlformats.org/drawingml/2006/main">
            <a:r>
              <a:t/>
            </a:r>
          </a:p>
          <a:p xmlns:a="http://schemas.openxmlformats.org/drawingml/2006/main">
            <a:r>
              <a:t>That brings me to the problem I wanted to solve.</a:t>
            </a:r>
          </a:p>
          <a:p xmlns:a="http://schemas.openxmlformats.org/drawingml/2006/main">
            <a:r>
              <a:t/>
            </a:r>
          </a:p>
          <a:p xmlns:a="http://schemas.openxmlformats.org/drawingml/2006/main">
            <a:r>
              <a:t>Take a $50 purchase: the page hangs, and you never get a confirmation. You try again. Now you're wondering whether you've been charged twice.</a:t>
            </a:r>
          </a:p>
          <a:p xmlns:a="http://schemas.openxmlformats.org/drawingml/2006/main">
            <a:r>
              <a:t/>
            </a:r>
          </a:p>
          <a:p xmlns:a="http://schemas.openxmlformats.org/drawingml/2006/main">
            <a:r>
              <a:t>That's the problem I built around. A customer needs a clear answer, and their balance needs to match what actually happened.</a:t>
            </a:r>
          </a:p>
          <a:p xmlns:a="http://schemas.openxmlformats.org/drawingml/2006/main">
            <a:r>
              <a:t/>
            </a:r>
          </a:p>
          <a:p xmlns:a="http://schemas.openxmlformats.org/drawingml/2006/main">
            <a:r>
              <a:t>Credit Circuit recognizes repeated requests, records approvals and declines, and links a full refund to its original purchase. Customers can follow their history, and administrators can control account status. Everything uses fictional cards and balances.</a:t>
            </a:r>
          </a:p>
          <a:p xmlns:a="http://schemas.openxmlformats.org/drawingml/2006/main">
            <a:r>
              <a:t/>
            </a:r>
          </a:p>
          <a:p xmlns:a="http://schemas.openxmlformats.org/drawingml/2006/main">
            <a:r>
              <a:t>Sources: Illustrative $50 retry scenario. Implementation: backend/src/main/java/com/marvens/capstone/service/TransactionService.java.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React = screens → Spring Boot = decisions → MySQL = saved records.</a:t>
            </a:r>
          </a:p>
          <a:p xmlns:a="http://schemas.openxmlformats.org/drawingml/2006/main">
            <a:r>
              <a:t/>
            </a:r>
          </a:p>
          <a:p xmlns:a="http://schemas.openxmlformats.org/drawingml/2006/main">
            <a:r>
              <a:t>### Script</a:t>
            </a:r>
          </a:p>
          <a:p xmlns:a="http://schemas.openxmlformats.org/drawingml/2006/main">
            <a:r>
              <a:t/>
            </a:r>
          </a:p>
          <a:p xmlns:a="http://schemas.openxmlformats.org/drawingml/2006/main">
            <a:r>
              <a:t>Here's the path a purchase takes through the application.</a:t>
            </a:r>
          </a:p>
          <a:p xmlns:a="http://schemas.openxmlformats.org/drawingml/2006/main">
            <a:r>
              <a:t/>
            </a:r>
          </a:p>
          <a:p xmlns:a="http://schemas.openxmlformats.org/drawingml/2006/main">
            <a:r>
              <a:t>I used three main technologies. React builds the screens the customer interacts with. Spring Boot runs behind those screens and handles the rules for purchases and refunds. MySQL keeps the account information and transaction history.</a:t>
            </a:r>
          </a:p>
          <a:p xmlns:a="http://schemas.openxmlformats.org/drawingml/2006/main">
            <a:r>
              <a:t/>
            </a:r>
          </a:p>
          <a:p xmlns:a="http://schemas.openxmlformats.org/drawingml/2006/main">
            <a:r>
              <a:t>When someone submits a purchase, the screen sends the information, the backend checks it, and the database saves the outcome. The result comes back to the customer as a receipt and an updated balance.</a:t>
            </a:r>
          </a:p>
          <a:p xmlns:a="http://schemas.openxmlformats.org/drawingml/2006/main">
            <a:r>
              <a:t/>
            </a:r>
          </a:p>
          <a:p xmlns:a="http://schemas.openxmlformats.org/drawingml/2006/main">
            <a:r>
              <a:t>Each part has a clear job, which helps me follow a purchase through the application.</a:t>
            </a:r>
          </a:p>
          <a:p xmlns:a="http://schemas.openxmlformats.org/drawingml/2006/main">
            <a:r>
              <a:t/>
            </a:r>
          </a:p>
          <a:p xmlns:a="http://schemas.openxmlformats.org/drawingml/2006/main">
            <a:r>
              <a:t>Sources: outputs/02_Architecture/01_System_Architecture.md.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Right account and card → allowed purchase? → correct balance and history.</a:t>
            </a:r>
          </a:p>
          <a:p xmlns:a="http://schemas.openxmlformats.org/drawingml/2006/main">
            <a:r>
              <a:t/>
            </a:r>
          </a:p>
          <a:p xmlns:a="http://schemas.openxmlformats.org/drawingml/2006/main">
            <a:r>
              <a:t>### Script</a:t>
            </a:r>
          </a:p>
          <a:p xmlns:a="http://schemas.openxmlformats.org/drawingml/2006/main">
            <a:r>
              <a:t/>
            </a:r>
          </a:p>
          <a:p xmlns:a="http://schemas.openxmlformats.org/drawingml/2006/main">
            <a:r>
              <a:t>The purchase decisions happen in the service. This is the part of the backend that decides whether a purchase can go through.</a:t>
            </a:r>
          </a:p>
          <a:p xmlns:a="http://schemas.openxmlformats.org/drawingml/2006/main">
            <a:r>
              <a:t/>
            </a:r>
          </a:p>
          <a:p xmlns:a="http://schemas.openxmlformats.org/drawingml/2006/main">
            <a:r>
              <a:t>It checks that the customer is using their own account and assigned card. It also checks whether the card has expired, whether the account is frozen, and whether enough credit is available.</a:t>
            </a:r>
          </a:p>
          <a:p xmlns:a="http://schemas.openxmlformats.org/drawingml/2006/main">
            <a:r>
              <a:t/>
            </a:r>
          </a:p>
          <a:p xmlns:a="http://schemas.openxmlformats.org/drawingml/2006/main">
            <a:r>
              <a:t>For an approved purchase, the outstanding balance goes up by that amount. A decline leaves that balance unchanged. Both outcomes are recorded so the customer can see what happened.</a:t>
            </a:r>
          </a:p>
          <a:p xmlns:a="http://schemas.openxmlformats.org/drawingml/2006/main">
            <a:r>
              <a:t/>
            </a:r>
          </a:p>
          <a:p xmlns:a="http://schemas.openxmlformats.org/drawingml/2006/main">
            <a:r>
              <a:t>The two lines shown here connect that purchase record to the account and card it belongs to.</a:t>
            </a:r>
          </a:p>
          <a:p xmlns:a="http://schemas.openxmlformats.org/drawingml/2006/main">
            <a:r>
              <a:t/>
            </a:r>
          </a:p>
          <a:p xmlns:a="http://schemas.openxmlformats.org/drawingml/2006/main">
            <a:r>
              <a:t>Sources: backend/src/main/java/com/marvens/capstone/service/TransactionService.java.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Customer → account → card → purchase → linked refund.</a:t>
            </a:r>
          </a:p>
          <a:p xmlns:a="http://schemas.openxmlformats.org/drawingml/2006/main">
            <a:r>
              <a:t/>
            </a:r>
          </a:p>
          <a:p xmlns:a="http://schemas.openxmlformats.org/drawingml/2006/main">
            <a:r>
              <a:t>### Script</a:t>
            </a:r>
          </a:p>
          <a:p xmlns:a="http://schemas.openxmlformats.org/drawingml/2006/main">
            <a:r>
              <a:t/>
            </a:r>
          </a:p>
          <a:p xmlns:a="http://schemas.openxmlformats.org/drawingml/2006/main">
            <a:r>
              <a:t>Every purchase needs a record I can trace back to the right account.</a:t>
            </a:r>
          </a:p>
          <a:p xmlns:a="http://schemas.openxmlformats.org/drawingml/2006/main">
            <a:r>
              <a:t/>
            </a:r>
          </a:p>
          <a:p xmlns:a="http://schemas.openxmlformats.org/drawingml/2006/main">
            <a:r>
              <a:t>The database has four connected groups of records: users, accounts, fictional cards, and transactions. A customer has an account, the account has a card, and purchases are connected to both.</a:t>
            </a:r>
          </a:p>
          <a:p xmlns:a="http://schemas.openxmlformats.org/drawingml/2006/main">
            <a:r>
              <a:t/>
            </a:r>
          </a:p>
          <a:p xmlns:a="http://schemas.openxmlformats.org/drawingml/2006/main">
            <a:r>
              <a:t>A refund stays linked to the purchase it reverses. The original purchase remains in history, alongside the refund and the balance after each outcome.</a:t>
            </a:r>
          </a:p>
          <a:p xmlns:a="http://schemas.openxmlformats.org/drawingml/2006/main">
            <a:r>
              <a:t/>
            </a:r>
          </a:p>
          <a:p xmlns:a="http://schemas.openxmlformats.org/drawingml/2006/main">
            <a:r>
              <a:t>That gives me a clear trail of where a balance change came from.</a:t>
            </a:r>
          </a:p>
          <a:p xmlns:a="http://schemas.openxmlformats.org/drawingml/2006/main">
            <a:r>
              <a:t/>
            </a:r>
          </a:p>
          <a:p xmlns:a="http://schemas.openxmlformats.org/drawingml/2006/main">
            <a:r>
              <a:t>Sources: outputs/02_Architecture/02_Entity_Relationship_Diagram.md.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Customer submits details → sees outcome, reason, and updated credit.</a:t>
            </a:r>
          </a:p>
          <a:p xmlns:a="http://schemas.openxmlformats.org/drawingml/2006/main">
            <a:r>
              <a:t/>
            </a:r>
          </a:p>
          <a:p xmlns:a="http://schemas.openxmlformats.org/drawingml/2006/main">
            <a:r>
              <a:t>### Script</a:t>
            </a:r>
          </a:p>
          <a:p xmlns:a="http://schemas.openxmlformats.org/drawingml/2006/main">
            <a:r>
              <a:t/>
            </a:r>
          </a:p>
          <a:p xmlns:a="http://schemas.openxmlformats.org/drawingml/2006/main">
            <a:r>
              <a:t>After that decision, the customer needs a clear answer.</a:t>
            </a:r>
          </a:p>
          <a:p xmlns:a="http://schemas.openxmlformats.org/drawingml/2006/main">
            <a:r>
              <a:t/>
            </a:r>
          </a:p>
          <a:p xmlns:a="http://schemas.openxmlformats.org/drawingml/2006/main">
            <a:r>
              <a:t>The purchase form sends the card details, merchant, and amount to the backend. The result tells the screen whether the purchase was approved or declined and provides the current account balance.</a:t>
            </a:r>
          </a:p>
          <a:p xmlns:a="http://schemas.openxmlformats.org/drawingml/2006/main">
            <a:r>
              <a:t/>
            </a:r>
          </a:p>
          <a:p xmlns:a="http://schemas.openxmlformats.org/drawingml/2006/main">
            <a:r>
              <a:t>The customer sees a receipt, a reason if the purchase was declined, and updated available credit. They can see the outcome without having to work it out themselves.</a:t>
            </a:r>
          </a:p>
          <a:p xmlns:a="http://schemas.openxmlformats.org/drawingml/2006/main">
            <a:r>
              <a:t/>
            </a:r>
          </a:p>
          <a:p xmlns:a="http://schemas.openxmlformats.org/drawingml/2006/main">
            <a:r>
              <a:t>Sources: outputs/02_Architecture/03_API_Design.md and TransactionController.java.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Retry = same purchase → simultaneous purchases wait → balance and history stay together.</a:t>
            </a:r>
          </a:p>
          <a:p xmlns:a="http://schemas.openxmlformats.org/drawingml/2006/main">
            <a:r>
              <a:t/>
            </a:r>
          </a:p>
          <a:p xmlns:a="http://schemas.openxmlformats.org/drawingml/2006/main">
            <a:r>
              <a:t>### Script</a:t>
            </a:r>
          </a:p>
          <a:p xmlns:a="http://schemas.openxmlformats.org/drawingml/2006/main">
            <a:r>
              <a:t/>
            </a:r>
          </a:p>
          <a:p xmlns:a="http://schemas.openxmlformats.org/drawingml/2006/main">
            <a:r>
              <a:t>That answer needs to stay reliable when something goes wrong.</a:t>
            </a:r>
          </a:p>
          <a:p xmlns:a="http://schemas.openxmlformats.org/drawingml/2006/main">
            <a:r>
              <a:t/>
            </a:r>
          </a:p>
          <a:p xmlns:a="http://schemas.openxmlformats.org/drawingml/2006/main">
            <a:r>
              <a:t>If the same purchase is retried, the app returns the original result. The retry doesn't add another purchase to the balance.</a:t>
            </a:r>
          </a:p>
          <a:p xmlns:a="http://schemas.openxmlformats.org/drawingml/2006/main">
            <a:r>
              <a:t/>
            </a:r>
          </a:p>
          <a:p xmlns:a="http://schemas.openxmlformats.org/drawingml/2006/main">
            <a:r>
              <a:t>If two purchases arrive together, the app handles changes to that account one at a time so both can't spend the same remaining credit.</a:t>
            </a:r>
          </a:p>
          <a:p xmlns:a="http://schemas.openxmlformats.org/drawingml/2006/main">
            <a:r>
              <a:t/>
            </a:r>
          </a:p>
          <a:p xmlns:a="http://schemas.openxmlformats.org/drawingml/2006/main">
            <a:r>
              <a:t>The balance change and purchase history are also saved together. If saving fails, neither change sticks. I did that to prevent a changed balance with no purchase recorded to explain it.</a:t>
            </a:r>
          </a:p>
          <a:p xmlns:a="http://schemas.openxmlformats.org/drawingml/2006/main">
            <a:r>
              <a:t/>
            </a:r>
          </a:p>
          <a:p xmlns:a="http://schemas.openxmlformats.org/drawingml/2006/main">
            <a:r>
              <a:t>Sources: TransactionService.java and the recorded transaction integration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Protected access → own account only → successful and failed purchases tested.</a:t>
            </a:r>
          </a:p>
          <a:p xmlns:a="http://schemas.openxmlformats.org/drawingml/2006/main">
            <a:r>
              <a:t/>
            </a:r>
          </a:p>
          <a:p xmlns:a="http://schemas.openxmlformats.org/drawingml/2006/main">
            <a:r>
              <a:t>### Script</a:t>
            </a:r>
          </a:p>
          <a:p xmlns:a="http://schemas.openxmlformats.org/drawingml/2006/main">
            <a:r>
              <a:t/>
            </a:r>
          </a:p>
          <a:p xmlns:a="http://schemas.openxmlformats.org/drawingml/2006/main">
            <a:r>
              <a:t>I tested those situations and checked who can access each account.</a:t>
            </a:r>
          </a:p>
          <a:p xmlns:a="http://schemas.openxmlformats.org/drawingml/2006/main">
            <a:r>
              <a:t/>
            </a:r>
          </a:p>
          <a:p xmlns:a="http://schemas.openxmlformats.org/drawingml/2006/main">
            <a:r>
              <a:t>Spring Security protects account access. BCrypt protects stored passwords, and signed JWTs let the server verify who is signed in. Customers can only use their own accounts; administrators have separate controls.</a:t>
            </a:r>
          </a:p>
          <a:p xmlns:a="http://schemas.openxmlformats.org/drawingml/2006/main">
            <a:r>
              <a:t/>
            </a:r>
          </a:p>
          <a:p xmlns:a="http://schemas.openxmlformats.org/drawingml/2006/main">
            <a:r>
              <a:t>The tests cover approvals, declines, retries, purchases arriving together, and failed saves. The recorded Java run passed 47 tests, exercising over 95 percent of the code's lines. The October 9 Postman API checks and SonarQube code quality review also passed.</a:t>
            </a:r>
          </a:p>
          <a:p xmlns:a="http://schemas.openxmlformats.org/drawingml/2006/main">
            <a:r>
              <a:t/>
            </a:r>
          </a:p>
          <a:p xmlns:a="http://schemas.openxmlformats.org/drawingml/2006/main">
            <a:r>
              <a:t>Sources: outputs/03_Verification/01_Completion_Checklist.md and 02_Quality_Report.md. Recorded Java, Postman, and SonarQube evidence: October 9, 2026. Later frontend checks: October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Recorded application → five actions → play video.</a:t>
            </a:r>
          </a:p>
          <a:p xmlns:a="http://schemas.openxmlformats.org/drawingml/2006/main">
            <a:r>
              <a:t/>
            </a:r>
          </a:p>
          <a:p xmlns:a="http://schemas.openxmlformats.org/drawingml/2006/main">
            <a:r>
              <a:t>### Script</a:t>
            </a:r>
          </a:p>
          <a:p xmlns:a="http://schemas.openxmlformats.org/drawingml/2006/main">
            <a:r>
              <a:t/>
            </a:r>
          </a:p>
          <a:p xmlns:a="http://schemas.openxmlformats.org/drawingml/2006/main">
            <a:r>
              <a:t>Here's a recording of that workflow running locally. I'll walk through the dashboard, an approved purchase, a decline, a full refund, and an administrator freezing the account.</a:t>
            </a:r>
          </a:p>
          <a:p xmlns:a="http://schemas.openxmlformats.org/drawingml/2006/main">
            <a:r>
              <a:t/>
            </a:r>
          </a:p>
          <a:p xmlns:a="http://schemas.openxmlformats.org/drawingml/2006/main">
            <a:r>
              <a:t>Demo narration:</a:t>
            </a:r>
          </a:p>
          <a:p xmlns:a="http://schemas.openxmlformats.org/drawingml/2006/main">
            <a:r>
              <a:t>**Cue:** Follow the visible action. Leave room to read each result.</a:t>
            </a:r>
          </a:p>
          <a:p xmlns:a="http://schemas.openxmlformats.org/drawingml/2006/main">
            <a:r>
              <a:t/>
            </a:r>
          </a:p>
          <a:p xmlns:a="http://schemas.openxmlformats.org/drawingml/2006/main">
            <a:r>
              <a:t>The sections below follow the video in order. The finished recording is 2:57 and silent. I will follow the visible action rather than treat these sections as fixed speaking intervals.</a:t>
            </a:r>
          </a:p>
          <a:p xmlns:a="http://schemas.openxmlformats.org/drawingml/2006/main">
            <a:r>
              <a:t/>
            </a:r>
          </a:p>
          <a:p xmlns:a="http://schemas.openxmlformats.org/drawingml/2006/main">
            <a:r>
              <a:t>### Dashboard and card</a:t>
            </a:r>
          </a:p>
          <a:p xmlns:a="http://schemas.openxmlformats.org/drawingml/2006/main">
            <a:r>
              <a:t/>
            </a:r>
          </a:p>
          <a:p xmlns:a="http://schemas.openxmlformats.org/drawingml/2006/main">
            <a:r>
              <a:t>I'll start on the customer's dashboard. This account shows its outstanding balance and available credit. The assigned fictional card is masked, and I can flip it to see the back.</a:t>
            </a:r>
          </a:p>
          <a:p xmlns:a="http://schemas.openxmlformats.org/drawingml/2006/main">
            <a:r>
              <a:t/>
            </a:r>
          </a:p>
          <a:p xmlns:a="http://schemas.openxmlformats.org/drawingml/2006/main">
            <a:r>
              <a:t>### Approved purchase</a:t>
            </a:r>
          </a:p>
          <a:p xmlns:a="http://schemas.openxmlformats.org/drawingml/2006/main">
            <a:r>
              <a:t/>
            </a:r>
          </a:p>
          <a:p xmlns:a="http://schemas.openxmlformats.org/drawingml/2006/main">
            <a:r>
              <a:t>I'm submitting a $50 purchase. The assigned card details were filled in before recording.</a:t>
            </a:r>
          </a:p>
          <a:p xmlns:a="http://schemas.openxmlformats.org/drawingml/2006/main">
            <a:r>
              <a:t/>
            </a:r>
          </a:p>
          <a:p xmlns:a="http://schemas.openxmlformats.org/drawingml/2006/main">
            <a:r>
              <a:t>The receipt confirms the approval. The outstanding balance increases by $50, and the available credit decreases by the same amount.</a:t>
            </a:r>
          </a:p>
          <a:p xmlns:a="http://schemas.openxmlformats.org/drawingml/2006/main">
            <a:r>
              <a:t/>
            </a:r>
          </a:p>
          <a:p xmlns:a="http://schemas.openxmlformats.org/drawingml/2006/main">
            <a:r>
              <a:t>### Declined purchase</a:t>
            </a:r>
          </a:p>
          <a:p xmlns:a="http://schemas.openxmlformats.org/drawingml/2006/main">
            <a:r>
              <a:t/>
            </a:r>
          </a:p>
          <a:p xmlns:a="http://schemas.openxmlformats.org/drawingml/2006/main">
            <a:r>
              <a:t>This purchase is above the remaining available credit. It is declined with a reason, and the balance stays at the amount shown after the first purchase.</a:t>
            </a:r>
          </a:p>
          <a:p xmlns:a="http://schemas.openxmlformats.org/drawingml/2006/main">
            <a:r>
              <a:t/>
            </a:r>
          </a:p>
          <a:p xmlns:a="http://schemas.openxmlformats.org/drawingml/2006/main">
            <a:r>
              <a:t>### History and full refund</a:t>
            </a:r>
          </a:p>
          <a:p xmlns:a="http://schemas.openxmlformats.org/drawingml/2006/main">
            <a:r>
              <a:t/>
            </a:r>
          </a:p>
          <a:p xmlns:a="http://schemas.openxmlformats.org/drawingml/2006/main">
            <a:r>
              <a:t>Both outcomes are in the transaction history. I can refund the approved $50 purchase in full.</a:t>
            </a:r>
          </a:p>
          <a:p xmlns:a="http://schemas.openxmlformats.org/drawingml/2006/main">
            <a:r>
              <a:t/>
            </a:r>
          </a:p>
          <a:p xmlns:a="http://schemas.openxmlformats.org/drawingml/2006/main">
            <a:r>
              <a:t>The original purchase stays in history, and a separate refund points back to it. The confirmation shows that my available credit has returned to where it started.</a:t>
            </a:r>
          </a:p>
          <a:p xmlns:a="http://schemas.openxmlformats.org/drawingml/2006/main">
            <a:r>
              <a:t/>
            </a:r>
          </a:p>
          <a:p xmlns:a="http://schemas.openxmlformats.org/drawingml/2006/main">
            <a:r>
              <a:t>### Admin freeze</a:t>
            </a:r>
          </a:p>
          <a:p xmlns:a="http://schemas.openxmlformats.org/drawingml/2006/main">
            <a:r>
              <a:t/>
            </a:r>
          </a:p>
          <a:p xmlns:a="http://schemas.openxmlformats.org/drawingml/2006/main">
            <a:r>
              <a:t>I've switched to a separately signed-in administrator. Here is the same customer account.</a:t>
            </a:r>
          </a:p>
          <a:p xmlns:a="http://schemas.openxmlformats.org/drawingml/2006/main">
            <a:r>
              <a:t/>
            </a:r>
          </a:p>
          <a:p xmlns:a="http://schemas.openxmlformats.org/drawingml/2006/main">
            <a:r>
              <a:t>I can freeze it, and the status changes to Frozen. The service declines new purchases on a frozen account, while eligible refunds remain available.</a:t>
            </a:r>
          </a:p>
          <a:p xmlns:a="http://schemas.openxmlformats.org/drawingml/2006/main">
            <a:r>
              <a:t/>
            </a:r>
          </a:p>
          <a:p xmlns:a="http://schemas.openxmlformats.org/drawingml/2006/main">
            <a:r>
              <a:t>Sources: Application screenshot: outputs/03_Verification/card-wallet-masked.png, October 10, 2026. Fictional balances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 Checks behind a purchase → clear history → what happens when things go wrong.</a:t>
            </a:r>
          </a:p>
          <a:p xmlns:a="http://schemas.openxmlformats.org/drawingml/2006/main">
            <a:r>
              <a:t/>
            </a:r>
          </a:p>
          <a:p xmlns:a="http://schemas.openxmlformats.org/drawingml/2006/main">
            <a:r>
              <a:t>### Script</a:t>
            </a:r>
          </a:p>
          <a:p xmlns:a="http://schemas.openxmlformats.org/drawingml/2006/main">
            <a:r>
              <a:t/>
            </a:r>
          </a:p>
          <a:p xmlns:a="http://schemas.openxmlformats.org/drawingml/2006/main">
            <a:r>
              <a:t>Building that workflow showed me how much happens behind the Buy button. Checking the account, making a decision, and keeping the balance and history consistent all contribute to the receipt the customer sees.</a:t>
            </a:r>
          </a:p>
          <a:p xmlns:a="http://schemas.openxmlformats.org/drawingml/2006/main">
            <a:r>
              <a:t/>
            </a:r>
          </a:p>
          <a:p xmlns:a="http://schemas.openxmlformats.org/drawingml/2006/main">
            <a:r>
              <a:t>Linking refunds to their original purchases made that history easier to follow. Testing what happens when someone retries, two purchases arrive together, or a save fails also helped me check that the account stays consistent.</a:t>
            </a:r>
          </a:p>
          <a:p xmlns:a="http://schemas.openxmlformats.org/drawingml/2006/main">
            <a:r>
              <a:t/>
            </a:r>
          </a:p>
          <a:p xmlns:a="http://schemas.openxmlformats.org/drawingml/2006/main">
            <a:r>
              <a:t>Credit Circuit brings that together in a complete purchase and refund workflow. Thank you. I'm happy to take questions.</a:t>
            </a:r>
          </a:p>
          <a:p xmlns:a="http://schemas.openxmlformats.org/drawingml/2006/main">
            <a:r>
              <a:t/>
            </a:r>
          </a:p>
          <a:p xmlns:a="http://schemas.openxmlformats.org/drawingml/2006/main">
            <a:r>
              <a:t>Sources: Presenter reflections based on the project simplification and testing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0061f306bd44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99216f089b4a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b9465b319e4c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c5520d9cb346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eb3953add04d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e0b09ba50245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6CC56E-8D81-4C9B-96D9-671D7AF7C1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029474-6B2F-405E-BC3A-B812BF28FC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83A1E8-23BB-4C59-AB8B-8EF959AE92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ADF6CB-4681-41E6-BA86-E82A85E581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77DE09-938B-4521-A5AD-DB22878527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B4B37F-32C3-4624-A842-354EABC8A4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588598-C8B2-4C45-86AC-40EB1E73E5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7CA731-ACF3-41F9-BB16-0E1FC6CCFE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F32692-ECE8-40C4-9185-30B5F2DDD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E5CE50-23D1-43B0-A495-A263EA3DDB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10abc465704fe8" /><Relationship Type="http://schemas.openxmlformats.org/officeDocument/2006/relationships/slideLayout" Target="/ppt/slideLayouts/slideLayout1.xml" Id="R381dd8096c3c46d3" /><Relationship Type="http://schemas.openxmlformats.org/officeDocument/2006/relationships/slideLayout" Target="/ppt/slideLayouts/slideLayout2.xml" Id="R099ef42c69314221" /><Relationship Type="http://schemas.openxmlformats.org/officeDocument/2006/relationships/slideLayout" Target="/ppt/slideLayouts/slideLayout3.xml" Id="Rac5d9cfe754d4b1f" /><Relationship Type="http://schemas.openxmlformats.org/officeDocument/2006/relationships/slideLayout" Target="/ppt/slideLayouts/slideLayout4.xml" Id="R3f38f38210974f12" /><Relationship Type="http://schemas.openxmlformats.org/officeDocument/2006/relationships/slideLayout" Target="/ppt/slideLayouts/slideLayout5.xml" Id="R6e7b993a9c6247e6" /><Relationship Type="http://schemas.openxmlformats.org/officeDocument/2006/relationships/slideLayout" Target="/ppt/slideLayouts/slideLayout6.xml" Id="R94b248b9e75f42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1dd8096c3c46d3"/>
    <p:sldLayoutId xmlns:r="http://schemas.openxmlformats.org/officeDocument/2006/relationships" id="2147483650" r:id="R099ef42c69314221"/>
    <p:sldLayoutId xmlns:r="http://schemas.openxmlformats.org/officeDocument/2006/relationships" id="2147483651" r:id="Rac5d9cfe754d4b1f"/>
    <p:sldLayoutId xmlns:r="http://schemas.openxmlformats.org/officeDocument/2006/relationships" id="2147483652" r:id="R3f38f38210974f12"/>
    <p:sldLayoutId xmlns:r="http://schemas.openxmlformats.org/officeDocument/2006/relationships" id="2147483653" r:id="R6e7b993a9c6247e6"/>
    <p:sldLayoutId xmlns:r="http://schemas.openxmlformats.org/officeDocument/2006/relationships" id="2147483654" r:id="R94b248b9e75f42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ba0972a18b4de6" /><Relationship Type="http://schemas.openxmlformats.org/officeDocument/2006/relationships/image" Target="/ppt/media/image.png" Id="R91f0e8c729604e6a" /><Relationship Type="http://schemas.openxmlformats.org/officeDocument/2006/relationships/notesSlide" Target="/ppt/notesSlides/notesSlide1.xml" Id="R7df8ea47802948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57ec4c90a24328" /><Relationship Type="http://schemas.openxmlformats.org/officeDocument/2006/relationships/image" Target="/ppt/media/image.jpeg" Id="Ra0ab5943666b4586" /><Relationship Type="http://schemas.openxmlformats.org/officeDocument/2006/relationships/notesSlide" Target="/ppt/notesSlides/notesSlide2.xml" Id="R533a25b720c444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a33f869c2649b3" /><Relationship Type="http://schemas.openxmlformats.org/officeDocument/2006/relationships/notesSlide" Target="/ppt/notesSlides/notesSlide3.xml" Id="Rb17bf0ef903241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cf0d0e75984286" /><Relationship Type="http://schemas.openxmlformats.org/officeDocument/2006/relationships/notesSlide" Target="/ppt/notesSlides/notesSlide4.xml" Id="Ra3f9a6bb73204e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4ab24e2d9e4182" /><Relationship Type="http://schemas.openxmlformats.org/officeDocument/2006/relationships/notesSlide" Target="/ppt/notesSlides/notesSlide5.xml" Id="R577261d5979b4a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5fbf7d257c4051" /><Relationship Type="http://schemas.openxmlformats.org/officeDocument/2006/relationships/notesSlide" Target="/ppt/notesSlides/notesSlide6.xml" Id="R266381a3363949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4e932d152d4fe8" /><Relationship Type="http://schemas.openxmlformats.org/officeDocument/2006/relationships/notesSlide" Target="/ppt/notesSlides/notesSlide7.xml" Id="R49cebf4e845e42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ea3be570a5c417f" /><Relationship Type="http://schemas.openxmlformats.org/officeDocument/2006/relationships/notesSlide" Target="/ppt/notesSlides/notesSlide8.xml" Id="R79f7ba7c9a8643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628c6612c84cbd" /><Relationship Type="http://schemas.openxmlformats.org/officeDocument/2006/relationships/notesSlide" Target="/ppt/notesSlides/notesSlide9.xml" Id="Rc7f990ad2ad048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b1c0d6cffa4371" /><Relationship Type="http://schemas.openxmlformats.org/officeDocument/2006/relationships/image" Target="/ppt/media/image2.png" Id="Rd1c338fd21a2472c" /><Relationship Type="http://schemas.openxmlformats.org/officeDocument/2006/relationships/notesSlide" Target="/ppt/notesSlides/notesSlide10.xml" Id="R9a6e6144ee5e44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ce4628edd504512" /><Relationship Type="http://schemas.openxmlformats.org/officeDocument/2006/relationships/notesSlide" Target="/ppt/notesSlides/notesSlide11.xml" Id="R76d4664fc9244c5d" /></Relationships>
</file>

<file path=ppt/slides/slide1.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2113C4BD-096D-44D5-91A7-357EEC2B2377}"/>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01</a:t>
            </a:r>
          </a:p>
        </p:txBody>
      </p:sp>
      <p:sp>
        <p:nvSpPr>
          <p:cNvPr id="2" name="Marvens Jean  /  UCI 2123">
            <a:extLst xmlns:a="http://schemas.openxmlformats.org/drawingml/2006/main">
              <a:ext uri="{FF2B5EF4-FFF2-40B4-BE49-F238E27FC236}">
                <a16:creationId xmlns:a16="http://schemas.microsoft.com/office/drawing/2014/main" id="{0ABBCD83-7E43-4B11-BD87-66F708A1E5F2}"/>
              </a:ext>
            </a:extLst>
          </p:cNvPr>
          <p:cNvSpPr>
            <a:spLocks xmlns:a="http://schemas.openxmlformats.org/drawingml/2006/main" noGrp="1"/>
          </p:cNvSpPr>
          <p:nvPr/>
        </p:nvSpPr>
        <p:spPr>
          <a:xfrm xmlns:a="http://schemas.openxmlformats.org/drawingml/2006/main">
            <a:off x="685800" y="61912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6F58B"/>
                </a:solidFill>
                <a:latin typeface="Consolas"/>
                <a:ea typeface="Consolas"/>
                <a:cs typeface="Consolas"/>
              </a:defRPr>
            </a:defPPr>
          </a:lstStyle>
          <a:p xmlns:a="http://schemas.openxmlformats.org/drawingml/2006/main">
            <a:pPr algn="l">
              <a:buNone/>
              <a:defRPr sz="1500" b="0">
                <a:solidFill>
                  <a:srgbClr val="D6F58B"/>
                </a:solidFill>
                <a:latin typeface="Consolas"/>
                <a:ea typeface="Consolas"/>
                <a:cs typeface="Consolas"/>
              </a:defRPr>
            </a:pPr>
            <a:r>
              <a:rPr sz="1500" b="0">
                <a:solidFill>
                  <a:srgbClr val="D6F58B"/>
                </a:solidFill>
                <a:latin typeface="Consolas"/>
                <a:ea typeface="Consolas"/>
                <a:cs typeface="Consolas"/>
              </a:rPr>
              <a:t>Marvens Jean  /  UCI 2123</a:t>
            </a:r>
          </a:p>
        </p:txBody>
      </p:sp>
      <p:sp>
        <p:nvSpPr>
          <p:cNvPr id="3" name="Credit">
            <a:extLst xmlns:a="http://schemas.openxmlformats.org/drawingml/2006/main">
              <a:ext uri="{FF2B5EF4-FFF2-40B4-BE49-F238E27FC236}">
                <a16:creationId xmlns:a16="http://schemas.microsoft.com/office/drawing/2014/main" id="{9F7791DF-4048-41F6-A45F-A800EFD8B76B}"/>
              </a:ext>
            </a:extLst>
          </p:cNvPr>
          <p:cNvSpPr>
            <a:spLocks xmlns:a="http://schemas.openxmlformats.org/drawingml/2006/main" noGrp="1"/>
          </p:cNvSpPr>
          <p:nvPr/>
        </p:nvSpPr>
        <p:spPr>
          <a:xfrm xmlns:a="http://schemas.openxmlformats.org/drawingml/2006/main">
            <a:off x="685800" y="1828800"/>
            <a:ext cx="571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00" b="1">
                <a:solidFill>
                  <a:srgbClr val="F2F3EA"/>
                </a:solidFill>
                <a:latin typeface="Segoe UI"/>
                <a:ea typeface="Segoe UI"/>
                <a:cs typeface="Segoe UI"/>
              </a:defRPr>
            </a:defPPr>
          </a:lstStyle>
          <a:p xmlns:a="http://schemas.openxmlformats.org/drawingml/2006/main">
            <a:pPr algn="l">
              <a:buNone/>
              <a:defRPr sz="8700" b="1">
                <a:solidFill>
                  <a:srgbClr val="F2F3EA"/>
                </a:solidFill>
                <a:latin typeface="Segoe UI"/>
                <a:ea typeface="Segoe UI"/>
                <a:cs typeface="Segoe UI"/>
              </a:defRPr>
            </a:pPr>
            <a:r>
              <a:rPr sz="8700" b="1">
                <a:solidFill>
                  <a:srgbClr val="F2F3EA"/>
                </a:solidFill>
                <a:latin typeface="Segoe UI"/>
                <a:ea typeface="Segoe UI"/>
                <a:cs typeface="Segoe UI"/>
              </a:rPr>
              <a:t>Credit</a:t>
            </a:r>
          </a:p>
        </p:txBody>
      </p:sp>
      <p:sp>
        <p:nvSpPr>
          <p:cNvPr id="4" name="Circuit.">
            <a:extLst xmlns:a="http://schemas.openxmlformats.org/drawingml/2006/main">
              <a:ext uri="{FF2B5EF4-FFF2-40B4-BE49-F238E27FC236}">
                <a16:creationId xmlns:a16="http://schemas.microsoft.com/office/drawing/2014/main" id="{54B6A249-A826-4097-913D-ACD1BA6DFE06}"/>
              </a:ext>
            </a:extLst>
          </p:cNvPr>
          <p:cNvSpPr>
            <a:spLocks xmlns:a="http://schemas.openxmlformats.org/drawingml/2006/main" noGrp="1"/>
          </p:cNvSpPr>
          <p:nvPr/>
        </p:nvSpPr>
        <p:spPr>
          <a:xfrm xmlns:a="http://schemas.openxmlformats.org/drawingml/2006/main">
            <a:off x="685800" y="2886075"/>
            <a:ext cx="5715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00" b="1">
                <a:solidFill>
                  <a:srgbClr val="D6F58B"/>
                </a:solidFill>
                <a:latin typeface="Segoe UI"/>
                <a:ea typeface="Segoe UI"/>
                <a:cs typeface="Segoe UI"/>
              </a:defRPr>
            </a:defPPr>
          </a:lstStyle>
          <a:p xmlns:a="http://schemas.openxmlformats.org/drawingml/2006/main">
            <a:pPr algn="l">
              <a:buNone/>
              <a:defRPr sz="8700" b="1">
                <a:solidFill>
                  <a:srgbClr val="D6F58B"/>
                </a:solidFill>
                <a:latin typeface="Segoe UI"/>
                <a:ea typeface="Segoe UI"/>
                <a:cs typeface="Segoe UI"/>
              </a:defRPr>
            </a:pPr>
            <a:r>
              <a:rPr sz="8700" b="1">
                <a:solidFill>
                  <a:srgbClr val="D6F58B"/>
                </a:solidFill>
                <a:latin typeface="Segoe UI"/>
                <a:ea typeface="Segoe UI"/>
                <a:cs typeface="Segoe UI"/>
              </a:rPr>
              <a:t>Circuit.</a:t>
            </a:r>
          </a:p>
        </p:txBody>
      </p:sp>
      <p:sp>
        <p:nvSpPr>
          <p:cNvPr id="5" name="Every purchase starts a signal.">
            <a:extLst xmlns:a="http://schemas.openxmlformats.org/drawingml/2006/main">
              <a:ext uri="{FF2B5EF4-FFF2-40B4-BE49-F238E27FC236}">
                <a16:creationId xmlns:a16="http://schemas.microsoft.com/office/drawing/2014/main" id="{933135E8-CF11-4CEA-8932-50F4A550C8E3}"/>
              </a:ext>
            </a:extLst>
          </p:cNvPr>
          <p:cNvSpPr>
            <a:spLocks xmlns:a="http://schemas.openxmlformats.org/drawingml/2006/main" noGrp="1"/>
          </p:cNvSpPr>
          <p:nvPr/>
        </p:nvSpPr>
        <p:spPr>
          <a:xfrm xmlns:a="http://schemas.openxmlformats.org/drawingml/2006/main">
            <a:off x="723900" y="4581525"/>
            <a:ext cx="628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2F3EA"/>
                </a:solidFill>
                <a:latin typeface="Segoe UI"/>
                <a:ea typeface="Segoe UI"/>
                <a:cs typeface="Segoe UI"/>
              </a:defRPr>
            </a:defPPr>
          </a:lstStyle>
          <a:p xmlns:a="http://schemas.openxmlformats.org/drawingml/2006/main">
            <a:pPr algn="l">
              <a:buNone/>
              <a:defRPr sz="2325" b="0">
                <a:solidFill>
                  <a:srgbClr val="F2F3EA"/>
                </a:solidFill>
                <a:latin typeface="Segoe UI"/>
                <a:ea typeface="Segoe UI"/>
                <a:cs typeface="Segoe UI"/>
              </a:defRPr>
            </a:pPr>
            <a:r>
              <a:rPr sz="2325" b="0">
                <a:solidFill>
                  <a:srgbClr val="F2F3EA"/>
                </a:solidFill>
                <a:latin typeface="Segoe UI"/>
                <a:ea typeface="Segoe UI"/>
                <a:cs typeface="Segoe UI"/>
              </a:rPr>
              <a:t>Every purchase starts a signal.</a:t>
            </a:r>
          </a:p>
        </p:txBody>
      </p:sp>
      <p:sp>
        <p:nvSpPr>
          <p:cNvPr id="6" name="Credit card transaction simulator">
            <a:extLst xmlns:a="http://schemas.openxmlformats.org/drawingml/2006/main">
              <a:ext uri="{FF2B5EF4-FFF2-40B4-BE49-F238E27FC236}">
                <a16:creationId xmlns:a16="http://schemas.microsoft.com/office/drawing/2014/main" id="{BF65008A-DC5B-4CEF-9672-7990F7E57EEB}"/>
              </a:ext>
            </a:extLst>
          </p:cNvPr>
          <p:cNvSpPr>
            <a:spLocks xmlns:a="http://schemas.openxmlformats.org/drawingml/2006/main" noGrp="1"/>
          </p:cNvSpPr>
          <p:nvPr/>
        </p:nvSpPr>
        <p:spPr>
          <a:xfrm xmlns:a="http://schemas.openxmlformats.org/drawingml/2006/main">
            <a:off x="723900" y="53149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CB6AB"/>
                </a:solidFill>
                <a:latin typeface="Segoe UI"/>
                <a:ea typeface="Segoe UI"/>
                <a:cs typeface="Segoe UI"/>
              </a:defRPr>
            </a:defPPr>
          </a:lstStyle>
          <a:p xmlns:a="http://schemas.openxmlformats.org/drawingml/2006/main">
            <a:pPr algn="l">
              <a:buNone/>
              <a:defRPr sz="1725" b="0">
                <a:solidFill>
                  <a:srgbClr val="ACB6AB"/>
                </a:solidFill>
                <a:latin typeface="Segoe UI"/>
                <a:ea typeface="Segoe UI"/>
                <a:cs typeface="Segoe UI"/>
              </a:defRPr>
            </a:pPr>
            <a:r>
              <a:rPr sz="1725" b="0">
                <a:solidFill>
                  <a:srgbClr val="ACB6AB"/>
                </a:solidFill>
                <a:latin typeface="Segoe UI"/>
                <a:ea typeface="Segoe UI"/>
                <a:cs typeface="Segoe UI"/>
              </a:rPr>
              <a:t>Credit card transaction simulator</a:t>
            </a:r>
          </a:p>
        </p:txBody>
      </p:sp>
      <p:pic>
        <p:nvPicPr>
          <p:cNvPr id="7" name="">
            <a:extLst xmlns:a="http://schemas.openxmlformats.org/drawingml/2006/main">
              <a:ext uri="{FF2B5EF4-FFF2-40B4-BE49-F238E27FC236}">
                <a16:creationId xmlns:a16="http://schemas.microsoft.com/office/drawing/2014/main" id="{E9FCCF60-8F25-4790-8610-E1D9EEF19C67}"/>
              </a:ext>
            </a:extLst>
          </p:cNvPr>
          <p:cNvPicPr>
            <a:picLocks xmlns:a="http://schemas.openxmlformats.org/drawingml/2006/main" noChangeAspect="1"/>
          </p:cNvPicPr>
          <p:nvPr/>
        </p:nvPicPr>
        <p:blipFill>
          <a:blip xmlns:r="http://schemas.openxmlformats.org/officeDocument/2006/relationships" xmlns:a="http://schemas.openxmlformats.org/drawingml/2006/main" r:embed="R91f0e8c729604e6a"/>
          <a:stretch xmlns:a="http://schemas.openxmlformats.org/drawingml/2006/main"/>
        </p:blipFill>
        <p:spPr>
          <a:xfrm xmlns:a="http://schemas.openxmlformats.org/drawingml/2006/main">
            <a:off x="6838950" y="2334378"/>
            <a:ext cx="4667250" cy="2941719"/>
          </a:xfrm>
          <a:prstGeom xmlns:a="http://schemas.openxmlformats.org/drawingml/2006/main" prst="rect">
            <a:avLst/>
          </a:prstGeom>
        </p:spPr>
      </p:pic>
    </p:spTree>
    <p:extLst>
      <p:ext uri="{BB962C8B-B14F-4D97-AF65-F5344CB8AC3E}">
        <p14:creationId xmlns:p14="http://schemas.microsoft.com/office/powerpoint/2010/main" val="1601464736"/>
      </p:ext>
    </p:extLst>
  </p:cSld>
</p:sld>
</file>

<file path=ppt/slides/slide2.xml><?xml version="1.0" encoding="utf-8"?>
<p:sld xmlns:p="http://schemas.openxmlformats.org/presentationml/2006/main">
  <p:cSld>
    <p:bg>
      <p:bgPr>
        <a:solidFill xmlns:a="http://schemas.openxmlformats.org/drawingml/2006/main">
          <a:srgbClr val="E7EBDF"/>
        </a:solidFill>
      </p:bgPr>
    </p:bg>
    <p:spTree>
      <p:nvGrpSpPr>
        <p:cNvPr id="1" name=""/>
        <p:cNvGrpSpPr/>
        <p:nvPr/>
      </p:nvGrpSpPr>
      <p:grpSpPr>
        <a:xfrm xmlns:a="http://schemas.openxmlformats.org/drawingml/2006/main"/>
      </p:grpSpPr>
      <p:sp>
        <p:nvSpPr>
          <p:cNvPr id="7" name="02">
            <a:extLst xmlns:a="http://schemas.openxmlformats.org/drawingml/2006/main">
              <a:ext uri="{FF2B5EF4-FFF2-40B4-BE49-F238E27FC236}">
                <a16:creationId xmlns:a16="http://schemas.microsoft.com/office/drawing/2014/main" id="{D8848B5F-1B85-4D27-9165-8BFEB8908CC4}"/>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4B"/>
                </a:solidFill>
                <a:latin typeface="Consolas"/>
                <a:ea typeface="Consolas"/>
                <a:cs typeface="Consolas"/>
              </a:defRPr>
            </a:defPPr>
          </a:lstStyle>
          <a:p xmlns:a="http://schemas.openxmlformats.org/drawingml/2006/main">
            <a:pPr algn="r">
              <a:buNone/>
              <a:defRPr sz="1350" b="0">
                <a:solidFill>
                  <a:srgbClr val="53634B"/>
                </a:solidFill>
                <a:latin typeface="Consolas"/>
                <a:ea typeface="Consolas"/>
                <a:cs typeface="Consolas"/>
              </a:defRPr>
            </a:pPr>
            <a:r>
              <a:rPr sz="1350" b="0">
                <a:solidFill>
                  <a:srgbClr val="53634B"/>
                </a:solidFill>
                <a:latin typeface="Consolas"/>
                <a:ea typeface="Consolas"/>
                <a:cs typeface="Consolas"/>
              </a:rPr>
              <a:t>02</a:t>
            </a:r>
          </a:p>
        </p:txBody>
      </p:sp>
      <p:sp>
        <p:nvSpPr>
          <p:cNvPr id="2" name="ABOUT ME">
            <a:extLst xmlns:a="http://schemas.openxmlformats.org/drawingml/2006/main">
              <a:ext uri="{FF2B5EF4-FFF2-40B4-BE49-F238E27FC236}">
                <a16:creationId xmlns:a16="http://schemas.microsoft.com/office/drawing/2014/main" id="{461DA4DE-A34B-42B9-9630-5ABBCEAFC20A}"/>
              </a:ext>
            </a:extLst>
          </p:cNvPr>
          <p:cNvSpPr>
            <a:spLocks xmlns:a="http://schemas.openxmlformats.org/drawingml/2006/main" noGrp="1"/>
          </p:cNvSpPr>
          <p:nvPr/>
        </p:nvSpPr>
        <p:spPr>
          <a:xfrm xmlns:a="http://schemas.openxmlformats.org/drawingml/2006/main">
            <a:off x="685800" y="4572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4B"/>
                </a:solidFill>
                <a:latin typeface="Consolas"/>
                <a:ea typeface="Consolas"/>
                <a:cs typeface="Consolas"/>
              </a:defRPr>
            </a:defPPr>
          </a:lstStyle>
          <a:p xmlns:a="http://schemas.openxmlformats.org/drawingml/2006/main">
            <a:pPr algn="l">
              <a:buNone/>
              <a:defRPr sz="1425" b="0">
                <a:solidFill>
                  <a:srgbClr val="53634B"/>
                </a:solidFill>
                <a:latin typeface="Consolas"/>
                <a:ea typeface="Consolas"/>
                <a:cs typeface="Consolas"/>
              </a:defRPr>
            </a:pPr>
            <a:r>
              <a:rPr sz="1425" b="0">
                <a:solidFill>
                  <a:srgbClr val="53634B"/>
                </a:solidFill>
                <a:latin typeface="Consolas"/>
                <a:ea typeface="Consolas"/>
                <a:cs typeface="Consolas"/>
              </a:rPr>
              <a:t>ABOUT ME</a:t>
            </a:r>
          </a:p>
        </p:txBody>
      </p:sp>
      <p:sp>
        <p:nvSpPr>
          <p:cNvPr id="3" name="My background&#10;is in retail.">
            <a:extLst xmlns:a="http://schemas.openxmlformats.org/drawingml/2006/main">
              <a:ext uri="{FF2B5EF4-FFF2-40B4-BE49-F238E27FC236}">
                <a16:creationId xmlns:a16="http://schemas.microsoft.com/office/drawing/2014/main" id="{09E8A402-CFF8-4689-AAB9-17AE9070345E}"/>
              </a:ext>
            </a:extLst>
          </p:cNvPr>
          <p:cNvSpPr>
            <a:spLocks xmlns:a="http://schemas.openxmlformats.org/drawingml/2006/main" noGrp="1"/>
          </p:cNvSpPr>
          <p:nvPr/>
        </p:nvSpPr>
        <p:spPr>
          <a:xfrm xmlns:a="http://schemas.openxmlformats.org/drawingml/2006/main">
            <a:off x="685800" y="1476375"/>
            <a:ext cx="504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51C18"/>
                </a:solidFill>
                <a:latin typeface="Segoe UI"/>
                <a:ea typeface="Segoe UI"/>
                <a:cs typeface="Segoe UI"/>
              </a:defRPr>
            </a:defPPr>
          </a:lstStyle>
          <a:p xmlns:a="http://schemas.openxmlformats.org/drawingml/2006/main">
            <a:pPr algn="l">
              <a:buNone/>
              <a:defRPr sz="3900" b="1">
                <a:solidFill>
                  <a:srgbClr val="151C18"/>
                </a:solidFill>
                <a:latin typeface="Segoe UI"/>
                <a:ea typeface="Segoe UI"/>
                <a:cs typeface="Segoe UI"/>
              </a:defRPr>
            </a:pPr>
            <a:r>
              <a:rPr sz="3900" b="1">
                <a:solidFill>
                  <a:srgbClr val="151C18"/>
                </a:solidFill>
                <a:latin typeface="Segoe UI"/>
                <a:ea typeface="Segoe UI"/>
                <a:cs typeface="Segoe UI"/>
              </a:rPr>
              <a:t>My background</a:t>
            </a:r>
          </a:p>
          <a:p xmlns:a="http://schemas.openxmlformats.org/drawingml/2006/main">
            <a:pPr algn="l">
              <a:buNone/>
              <a:defRPr sz="3900" b="1">
                <a:solidFill>
                  <a:srgbClr val="151C18"/>
                </a:solidFill>
                <a:latin typeface="Segoe UI"/>
                <a:ea typeface="Segoe UI"/>
                <a:cs typeface="Segoe UI"/>
              </a:defRPr>
            </a:pPr>
            <a:r>
              <a:rPr sz="3900" b="1">
                <a:solidFill>
                  <a:srgbClr val="151C18"/>
                </a:solidFill>
                <a:latin typeface="Segoe UI"/>
                <a:ea typeface="Segoe UI"/>
                <a:cs typeface="Segoe UI"/>
              </a:rPr>
              <a:t>is in retail.</a:t>
            </a:r>
          </a:p>
        </p:txBody>
      </p:sp>
      <p:sp>
        <p:nvSpPr>
          <p:cNvPr id="4" name="Development interested me because&#10;I wanted">
            <a:extLst xmlns:a="http://schemas.openxmlformats.org/drawingml/2006/main">
              <a:ext uri="{FF2B5EF4-FFF2-40B4-BE49-F238E27FC236}">
                <a16:creationId xmlns:a16="http://schemas.microsoft.com/office/drawing/2014/main" id="{62F34348-0320-42F4-9105-D0486074BC8D}"/>
              </a:ext>
            </a:extLst>
          </p:cNvPr>
          <p:cNvSpPr>
            <a:spLocks xmlns:a="http://schemas.openxmlformats.org/drawingml/2006/main" noGrp="1"/>
          </p:cNvSpPr>
          <p:nvPr/>
        </p:nvSpPr>
        <p:spPr>
          <a:xfrm xmlns:a="http://schemas.openxmlformats.org/drawingml/2006/main">
            <a:off x="723900" y="33242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34B"/>
                </a:solidFill>
                <a:latin typeface="Segoe UI"/>
                <a:ea typeface="Segoe UI"/>
                <a:cs typeface="Segoe UI"/>
              </a:defRPr>
            </a:defPPr>
          </a:lstStyle>
          <a:p xmlns:a="http://schemas.openxmlformats.org/drawingml/2006/main">
            <a:pPr algn="l">
              <a:buNone/>
              <a:defRPr sz="2250" b="0">
                <a:solidFill>
                  <a:srgbClr val="53634B"/>
                </a:solidFill>
                <a:latin typeface="Segoe UI"/>
                <a:ea typeface="Segoe UI"/>
                <a:cs typeface="Segoe UI"/>
              </a:defRPr>
            </a:pPr>
            <a:r>
              <a:rPr sz="2250" b="0">
                <a:solidFill>
                  <a:srgbClr val="53634B"/>
                </a:solidFill>
                <a:latin typeface="Segoe UI"/>
                <a:ea typeface="Segoe UI"/>
                <a:cs typeface="Segoe UI"/>
              </a:rPr>
              <a:t>Development interested me because</a:t>
            </a:r>
          </a:p>
          <a:p xmlns:a="http://schemas.openxmlformats.org/drawingml/2006/main">
            <a:pPr algn="l">
              <a:buNone/>
              <a:defRPr sz="2250" b="0">
                <a:solidFill>
                  <a:srgbClr val="53634B"/>
                </a:solidFill>
                <a:latin typeface="Segoe UI"/>
                <a:ea typeface="Segoe UI"/>
                <a:cs typeface="Segoe UI"/>
              </a:defRPr>
            </a:pPr>
            <a:r>
              <a:rPr sz="2250" b="0">
                <a:solidFill>
                  <a:srgbClr val="53634B"/>
                </a:solidFill>
                <a:latin typeface="Segoe UI"/>
                <a:ea typeface="Segoe UI"/>
                <a:cs typeface="Segoe UI"/>
              </a:rPr>
              <a:t>I wanted to understand how</a:t>
            </a:r>
          </a:p>
          <a:p xmlns:a="http://schemas.openxmlformats.org/drawingml/2006/main">
            <a:pPr algn="l">
              <a:buNone/>
              <a:defRPr sz="2250" b="0">
                <a:solidFill>
                  <a:srgbClr val="53634B"/>
                </a:solidFill>
                <a:latin typeface="Segoe UI"/>
                <a:ea typeface="Segoe UI"/>
                <a:cs typeface="Segoe UI"/>
              </a:defRPr>
            </a:pPr>
            <a:r>
              <a:rPr sz="2250" b="0">
                <a:solidFill>
                  <a:srgbClr val="53634B"/>
                </a:solidFill>
                <a:latin typeface="Segoe UI"/>
                <a:ea typeface="Segoe UI"/>
                <a:cs typeface="Segoe UI"/>
              </a:rPr>
              <a:t>everyday processes work.</a:t>
            </a:r>
          </a:p>
        </p:txBody>
      </p:sp>
      <p:sp>
        <p:nvSpPr>
          <p:cNvPr id="5" name="My interest in finance led me to&#10;explore c">
            <a:extLst xmlns:a="http://schemas.openxmlformats.org/drawingml/2006/main">
              <a:ext uri="{FF2B5EF4-FFF2-40B4-BE49-F238E27FC236}">
                <a16:creationId xmlns:a16="http://schemas.microsoft.com/office/drawing/2014/main" id="{488BB849-77C8-44D0-A7BA-FC05F7312AEB}"/>
              </a:ext>
            </a:extLst>
          </p:cNvPr>
          <p:cNvSpPr>
            <a:spLocks xmlns:a="http://schemas.openxmlformats.org/drawingml/2006/main" noGrp="1"/>
          </p:cNvSpPr>
          <p:nvPr/>
        </p:nvSpPr>
        <p:spPr>
          <a:xfrm xmlns:a="http://schemas.openxmlformats.org/drawingml/2006/main">
            <a:off x="723900" y="49815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34B"/>
                </a:solidFill>
                <a:latin typeface="Segoe UI"/>
                <a:ea typeface="Segoe UI"/>
                <a:cs typeface="Segoe UI"/>
              </a:defRPr>
            </a:defPPr>
          </a:lstStyle>
          <a:p xmlns:a="http://schemas.openxmlformats.org/drawingml/2006/main">
            <a:pPr algn="l">
              <a:buNone/>
              <a:defRPr sz="2250" b="0">
                <a:solidFill>
                  <a:srgbClr val="53634B"/>
                </a:solidFill>
                <a:latin typeface="Segoe UI"/>
                <a:ea typeface="Segoe UI"/>
                <a:cs typeface="Segoe UI"/>
              </a:defRPr>
            </a:pPr>
            <a:r>
              <a:rPr sz="2250" b="0">
                <a:solidFill>
                  <a:srgbClr val="53634B"/>
                </a:solidFill>
                <a:latin typeface="Segoe UI"/>
                <a:ea typeface="Segoe UI"/>
                <a:cs typeface="Segoe UI"/>
              </a:rPr>
              <a:t>My interest in finance led me to</a:t>
            </a:r>
          </a:p>
          <a:p xmlns:a="http://schemas.openxmlformats.org/drawingml/2006/main">
            <a:pPr algn="l">
              <a:buNone/>
              <a:defRPr sz="2250" b="0">
                <a:solidFill>
                  <a:srgbClr val="53634B"/>
                </a:solidFill>
                <a:latin typeface="Segoe UI"/>
                <a:ea typeface="Segoe UI"/>
                <a:cs typeface="Segoe UI"/>
              </a:defRPr>
            </a:pPr>
            <a:r>
              <a:rPr sz="2250" b="0">
                <a:solidFill>
                  <a:srgbClr val="53634B"/>
                </a:solidFill>
                <a:latin typeface="Segoe UI"/>
                <a:ea typeface="Segoe UI"/>
                <a:cs typeface="Segoe UI"/>
              </a:rPr>
              <a:t>explore credit card transactions.</a:t>
            </a:r>
          </a:p>
        </p:txBody>
      </p:sp>
      <p:pic>
        <p:nvPicPr>
          <p:cNvPr id="6" name="">
            <a:extLst xmlns:a="http://schemas.openxmlformats.org/drawingml/2006/main">
              <a:ext uri="{FF2B5EF4-FFF2-40B4-BE49-F238E27FC236}">
                <a16:creationId xmlns:a16="http://schemas.microsoft.com/office/drawing/2014/main" id="{9F44C3B6-72AA-4BE4-B5B1-8C85A838C58B}"/>
              </a:ext>
            </a:extLst>
          </p:cNvPr>
          <p:cNvPicPr>
            <a:picLocks xmlns:a="http://schemas.openxmlformats.org/drawingml/2006/main" noChangeAspect="1"/>
          </p:cNvPicPr>
          <p:nvPr/>
        </p:nvPicPr>
        <p:blipFill>
          <a:blip xmlns:r="http://schemas.openxmlformats.org/officeDocument/2006/relationships" xmlns:a="http://schemas.openxmlformats.org/drawingml/2006/main" r:embed="Ra0ab5943666b4586"/>
          <a:srcRect xmlns:a="http://schemas.openxmlformats.org/drawingml/2006/main" l="0" t="0" r="14300" b="0"/>
          <a:stretch xmlns:a="http://schemas.openxmlformats.org/drawingml/2006/main"/>
        </p:blipFill>
        <p:spPr>
          <a:xfrm xmlns:a="http://schemas.openxmlformats.org/drawingml/2006/main">
            <a:off x="6305550" y="1266825"/>
            <a:ext cx="5200650" cy="4552950"/>
          </a:xfrm>
          <a:prstGeom xmlns:a="http://schemas.openxmlformats.org/drawingml/2006/main" prst="rect">
            <a:avLst/>
          </a:prstGeom>
        </p:spPr>
      </p:pic>
    </p:spTree>
    <p:extLst>
      <p:ext uri="{BB962C8B-B14F-4D97-AF65-F5344CB8AC3E}">
        <p14:creationId xmlns:p14="http://schemas.microsoft.com/office/powerpoint/2010/main" val="537957244"/>
      </p:ext>
    </p:extLst>
  </p:cSld>
</p:sld>
</file>

<file path=ppt/slides/slide3.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1F5D67C-E970-46CD-8562-A00B50E68645}"/>
              </a:ext>
            </a:extLst>
          </p:cNvPr>
          <p:cNvCxnSpPr>
            <a:stCxn xmlns:a="http://schemas.openxmlformats.org/drawingml/2006/main" id="8" idx="3"/>
            <a:endCxn xmlns:a="http://schemas.openxmlformats.org/drawingml/2006/main" id="11" idx="1"/>
          </p:cNvCxnSpPr>
          <p:nvPr/>
        </p:nvCxnSpPr>
        <p:spPr>
          <a:xfrm xmlns:a="http://schemas.openxmlformats.org/drawingml/2006/main">
            <a:off x="6915150" y="3762375"/>
            <a:ext cx="895350" cy="0"/>
          </a:xfrm>
          <a:prstGeom xmlns:a="http://schemas.openxmlformats.org/drawingml/2006/main" prst="straightConnector1">
            <a:avLst/>
          </a:prstGeom>
          <a:ln xmlns:a="http://schemas.openxmlformats.org/drawingml/2006/main" w="19050">
            <a:solidFill>
              <a:srgbClr val="D6F58B"/>
            </a:solidFill>
            <a:tailEnd type="triangle" w="med" len="med"/>
          </a:ln>
        </p:spPr>
      </p:cxnSp>
      <p:cxnSp>
        <p:nvCxnSpPr>
          <p:cNvPr id="14" name="">
            <a:extLst xmlns:a="http://schemas.openxmlformats.org/drawingml/2006/main">
              <a:ext uri="{FF2B5EF4-FFF2-40B4-BE49-F238E27FC236}">
                <a16:creationId xmlns:a16="http://schemas.microsoft.com/office/drawing/2014/main" id="{A538DC34-85A7-4FCB-AA91-E6F8A7E0132D}"/>
              </a:ext>
            </a:extLst>
          </p:cNvPr>
          <p:cNvCxnSpPr>
            <a:stCxn xmlns:a="http://schemas.openxmlformats.org/drawingml/2006/main" id="5" idx="3"/>
            <a:endCxn xmlns:a="http://schemas.openxmlformats.org/drawingml/2006/main" id="8" idx="1"/>
          </p:cNvCxnSpPr>
          <p:nvPr/>
        </p:nvCxnSpPr>
        <p:spPr>
          <a:xfrm xmlns:a="http://schemas.openxmlformats.org/drawingml/2006/main">
            <a:off x="3352800" y="3762375"/>
            <a:ext cx="895350" cy="0"/>
          </a:xfrm>
          <a:prstGeom xmlns:a="http://schemas.openxmlformats.org/drawingml/2006/main" prst="straightConnector1">
            <a:avLst/>
          </a:prstGeom>
          <a:ln xmlns:a="http://schemas.openxmlformats.org/drawingml/2006/main" w="19050">
            <a:solidFill>
              <a:srgbClr val="D6F58B"/>
            </a:solidFill>
            <a:tailEnd type="triangle" w="med" len="med"/>
          </a:ln>
        </p:spPr>
      </p:cxnSp>
      <p:sp>
        <p:nvSpPr>
          <p:cNvPr id="18" name="03">
            <a:extLst xmlns:a="http://schemas.openxmlformats.org/drawingml/2006/main">
              <a:ext uri="{FF2B5EF4-FFF2-40B4-BE49-F238E27FC236}">
                <a16:creationId xmlns:a16="http://schemas.microsoft.com/office/drawing/2014/main" id="{30010780-3B80-41DE-93FF-5F75F42BAFA5}"/>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03</a:t>
            </a:r>
          </a:p>
        </p:txBody>
      </p:sp>
      <p:sp>
        <p:nvSpPr>
          <p:cNvPr id="2" name="PROBLEM AND SOLUTION">
            <a:extLst xmlns:a="http://schemas.openxmlformats.org/drawingml/2006/main">
              <a:ext uri="{FF2B5EF4-FFF2-40B4-BE49-F238E27FC236}">
                <a16:creationId xmlns:a16="http://schemas.microsoft.com/office/drawing/2014/main" id="{11263E61-E782-4B8C-804F-F1B46B48FED0}"/>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PROBLEM AND SOLUTION</a:t>
            </a:r>
          </a:p>
        </p:txBody>
      </p:sp>
      <p:sp>
        <p:nvSpPr>
          <p:cNvPr id="3" name="Trying again shouldn’t cost you twice">
            <a:extLst xmlns:a="http://schemas.openxmlformats.org/drawingml/2006/main">
              <a:ext uri="{FF2B5EF4-FFF2-40B4-BE49-F238E27FC236}">
                <a16:creationId xmlns:a16="http://schemas.microsoft.com/office/drawing/2014/main" id="{A19EEB8C-648E-4B20-958A-9AA8FD7EF0BD}"/>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Trying again shouldn’t cost you twice</a:t>
            </a:r>
          </a:p>
        </p:txBody>
      </p:sp>
      <p:sp>
        <p:nvSpPr>
          <p:cNvPr id="4" name="A dropped connection shouldn’t turn a $50 ">
            <a:extLst xmlns:a="http://schemas.openxmlformats.org/drawingml/2006/main">
              <a:ext uri="{FF2B5EF4-FFF2-40B4-BE49-F238E27FC236}">
                <a16:creationId xmlns:a16="http://schemas.microsoft.com/office/drawing/2014/main" id="{CF6CABC4-F460-4CAC-9CC7-EF513EE0E5AD}"/>
              </a:ext>
            </a:extLst>
          </p:cNvPr>
          <p:cNvSpPr>
            <a:spLocks xmlns:a="http://schemas.openxmlformats.org/drawingml/2006/main" noGrp="1"/>
          </p:cNvSpPr>
          <p:nvPr/>
        </p:nvSpPr>
        <p:spPr>
          <a:xfrm xmlns:a="http://schemas.openxmlformats.org/drawingml/2006/main">
            <a:off x="685800" y="21336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CB6AB"/>
                </a:solidFill>
                <a:latin typeface="Segoe UI"/>
                <a:ea typeface="Segoe UI"/>
                <a:cs typeface="Segoe UI"/>
              </a:defRPr>
            </a:defPPr>
          </a:lstStyle>
          <a:p xmlns:a="http://schemas.openxmlformats.org/drawingml/2006/main">
            <a:pPr algn="l">
              <a:buNone/>
              <a:defRPr sz="2175" b="0">
                <a:solidFill>
                  <a:srgbClr val="ACB6AB"/>
                </a:solidFill>
                <a:latin typeface="Segoe UI"/>
                <a:ea typeface="Segoe UI"/>
                <a:cs typeface="Segoe UI"/>
              </a:defRPr>
            </a:pPr>
            <a:r>
              <a:rPr sz="2175" b="0">
                <a:solidFill>
                  <a:srgbClr val="ACB6AB"/>
                </a:solidFill>
                <a:latin typeface="Segoe UI"/>
                <a:ea typeface="Segoe UI"/>
                <a:cs typeface="Segoe UI"/>
              </a:rPr>
              <a:t>A dropped connection shouldn’t turn a $50 purchase into a $100 problem.</a:t>
            </a:r>
          </a:p>
        </p:txBody>
      </p:sp>
      <p:sp>
        <p:nvSpPr>
          <p:cNvPr id="5" name="A $50 purchase">
            <a:extLst xmlns:a="http://schemas.openxmlformats.org/drawingml/2006/main">
              <a:ext uri="{FF2B5EF4-FFF2-40B4-BE49-F238E27FC236}">
                <a16:creationId xmlns:a16="http://schemas.microsoft.com/office/drawing/2014/main" id="{6EF98ED5-2234-4977-8475-0AB01A8F8611}"/>
              </a:ext>
            </a:extLst>
          </p:cNvPr>
          <p:cNvSpPr>
            <a:spLocks xmlns:a="http://schemas.openxmlformats.org/drawingml/2006/main" noGrp="1"/>
          </p:cNvSpPr>
          <p:nvPr/>
        </p:nvSpPr>
        <p:spPr>
          <a:xfrm xmlns:a="http://schemas.openxmlformats.org/drawingml/2006/main">
            <a:off x="685800" y="3143250"/>
            <a:ext cx="2667000" cy="12382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6" name="A $50 purchase">
            <a:extLst xmlns:a="http://schemas.openxmlformats.org/drawingml/2006/main">
              <a:ext uri="{FF2B5EF4-FFF2-40B4-BE49-F238E27FC236}">
                <a16:creationId xmlns:a16="http://schemas.microsoft.com/office/drawing/2014/main" id="{B3A7ACB8-111A-46B3-A6A2-39A1C7054E5E}"/>
              </a:ext>
            </a:extLst>
          </p:cNvPr>
          <p:cNvSpPr>
            <a:spLocks xmlns:a="http://schemas.openxmlformats.org/drawingml/2006/main" noGrp="1"/>
          </p:cNvSpPr>
          <p:nvPr/>
        </p:nvSpPr>
        <p:spPr>
          <a:xfrm xmlns:a="http://schemas.openxmlformats.org/drawingml/2006/main">
            <a:off x="857250" y="3314700"/>
            <a:ext cx="2324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A $50 purchase</a:t>
            </a:r>
          </a:p>
        </p:txBody>
      </p:sp>
      <p:sp>
        <p:nvSpPr>
          <p:cNvPr id="7" name="You submit the purchase">
            <a:extLst xmlns:a="http://schemas.openxmlformats.org/drawingml/2006/main">
              <a:ext uri="{FF2B5EF4-FFF2-40B4-BE49-F238E27FC236}">
                <a16:creationId xmlns:a16="http://schemas.microsoft.com/office/drawing/2014/main" id="{C11B7EB1-E11B-40E6-8E8D-2E3D9C95524D}"/>
              </a:ext>
            </a:extLst>
          </p:cNvPr>
          <p:cNvSpPr>
            <a:spLocks xmlns:a="http://schemas.openxmlformats.org/drawingml/2006/main" noGrp="1"/>
          </p:cNvSpPr>
          <p:nvPr/>
        </p:nvSpPr>
        <p:spPr>
          <a:xfrm xmlns:a="http://schemas.openxmlformats.org/drawingml/2006/main">
            <a:off x="857250" y="3771900"/>
            <a:ext cx="2324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You submit the purchase</a:t>
            </a:r>
          </a:p>
        </p:txBody>
      </p:sp>
      <p:sp>
        <p:nvSpPr>
          <p:cNvPr id="8" name="You try again">
            <a:extLst xmlns:a="http://schemas.openxmlformats.org/drawingml/2006/main">
              <a:ext uri="{FF2B5EF4-FFF2-40B4-BE49-F238E27FC236}">
                <a16:creationId xmlns:a16="http://schemas.microsoft.com/office/drawing/2014/main" id="{238F10D6-2F54-4A4A-A7BD-30157A74BA7A}"/>
              </a:ext>
            </a:extLst>
          </p:cNvPr>
          <p:cNvSpPr>
            <a:spLocks xmlns:a="http://schemas.openxmlformats.org/drawingml/2006/main" noGrp="1"/>
          </p:cNvSpPr>
          <p:nvPr/>
        </p:nvSpPr>
        <p:spPr>
          <a:xfrm xmlns:a="http://schemas.openxmlformats.org/drawingml/2006/main">
            <a:off x="4248150" y="3143250"/>
            <a:ext cx="2667000" cy="12382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9" name="You try again">
            <a:extLst xmlns:a="http://schemas.openxmlformats.org/drawingml/2006/main">
              <a:ext uri="{FF2B5EF4-FFF2-40B4-BE49-F238E27FC236}">
                <a16:creationId xmlns:a16="http://schemas.microsoft.com/office/drawing/2014/main" id="{778CB7A7-ECB7-4FE5-B8D0-CFDE3003A000}"/>
              </a:ext>
            </a:extLst>
          </p:cNvPr>
          <p:cNvSpPr>
            <a:spLocks xmlns:a="http://schemas.openxmlformats.org/drawingml/2006/main" noGrp="1"/>
          </p:cNvSpPr>
          <p:nvPr/>
        </p:nvSpPr>
        <p:spPr>
          <a:xfrm xmlns:a="http://schemas.openxmlformats.org/drawingml/2006/main">
            <a:off x="4419600" y="3314700"/>
            <a:ext cx="2324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You try again</a:t>
            </a:r>
          </a:p>
        </p:txBody>
      </p:sp>
      <p:sp>
        <p:nvSpPr>
          <p:cNvPr id="10" name="The same purchase, retried">
            <a:extLst xmlns:a="http://schemas.openxmlformats.org/drawingml/2006/main">
              <a:ext uri="{FF2B5EF4-FFF2-40B4-BE49-F238E27FC236}">
                <a16:creationId xmlns:a16="http://schemas.microsoft.com/office/drawing/2014/main" id="{1E5DBE22-B780-4B7A-A2D3-C61826372B30}"/>
              </a:ext>
            </a:extLst>
          </p:cNvPr>
          <p:cNvSpPr>
            <a:spLocks xmlns:a="http://schemas.openxmlformats.org/drawingml/2006/main" noGrp="1"/>
          </p:cNvSpPr>
          <p:nvPr/>
        </p:nvSpPr>
        <p:spPr>
          <a:xfrm xmlns:a="http://schemas.openxmlformats.org/drawingml/2006/main">
            <a:off x="4419600" y="3771900"/>
            <a:ext cx="2324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The same purchase, retried</a:t>
            </a:r>
          </a:p>
        </p:txBody>
      </p:sp>
      <p:sp>
        <p:nvSpPr>
          <p:cNvPr id="11" name="Still $50">
            <a:extLst xmlns:a="http://schemas.openxmlformats.org/drawingml/2006/main">
              <a:ext uri="{FF2B5EF4-FFF2-40B4-BE49-F238E27FC236}">
                <a16:creationId xmlns:a16="http://schemas.microsoft.com/office/drawing/2014/main" id="{BC1BE3B0-20C1-4B82-84C8-5FCD11988725}"/>
              </a:ext>
            </a:extLst>
          </p:cNvPr>
          <p:cNvSpPr>
            <a:spLocks xmlns:a="http://schemas.openxmlformats.org/drawingml/2006/main" noGrp="1"/>
          </p:cNvSpPr>
          <p:nvPr/>
        </p:nvSpPr>
        <p:spPr>
          <a:xfrm xmlns:a="http://schemas.openxmlformats.org/drawingml/2006/main">
            <a:off x="7810500" y="3143250"/>
            <a:ext cx="3695700" cy="12382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12" name="Still $50">
            <a:extLst xmlns:a="http://schemas.openxmlformats.org/drawingml/2006/main">
              <a:ext uri="{FF2B5EF4-FFF2-40B4-BE49-F238E27FC236}">
                <a16:creationId xmlns:a16="http://schemas.microsoft.com/office/drawing/2014/main" id="{79EE4689-4CA8-43E5-AA44-6F808119B828}"/>
              </a:ext>
            </a:extLst>
          </p:cNvPr>
          <p:cNvSpPr>
            <a:spLocks xmlns:a="http://schemas.openxmlformats.org/drawingml/2006/main" noGrp="1"/>
          </p:cNvSpPr>
          <p:nvPr/>
        </p:nvSpPr>
        <p:spPr>
          <a:xfrm xmlns:a="http://schemas.openxmlformats.org/drawingml/2006/main">
            <a:off x="7981950" y="331470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Still $50</a:t>
            </a:r>
          </a:p>
        </p:txBody>
      </p:sp>
      <p:sp>
        <p:nvSpPr>
          <p:cNvPr id="13" name="Credit Circuit recognizes the retry">
            <a:extLst xmlns:a="http://schemas.openxmlformats.org/drawingml/2006/main">
              <a:ext uri="{FF2B5EF4-FFF2-40B4-BE49-F238E27FC236}">
                <a16:creationId xmlns:a16="http://schemas.microsoft.com/office/drawing/2014/main" id="{B7CB490F-87EF-4DC0-A060-F7625871F126}"/>
              </a:ext>
            </a:extLst>
          </p:cNvPr>
          <p:cNvSpPr>
            <a:spLocks xmlns:a="http://schemas.openxmlformats.org/drawingml/2006/main" noGrp="1"/>
          </p:cNvSpPr>
          <p:nvPr/>
        </p:nvSpPr>
        <p:spPr>
          <a:xfrm xmlns:a="http://schemas.openxmlformats.org/drawingml/2006/main">
            <a:off x="7981950" y="3771900"/>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Credit Circuit recognizes the retry</a:t>
            </a:r>
          </a:p>
        </p:txBody>
      </p:sp>
      <p:sp>
        <p:nvSpPr>
          <p:cNvPr id="16" name="Credit Circuit">
            <a:extLst xmlns:a="http://schemas.openxmlformats.org/drawingml/2006/main">
              <a:ext uri="{FF2B5EF4-FFF2-40B4-BE49-F238E27FC236}">
                <a16:creationId xmlns:a16="http://schemas.microsoft.com/office/drawing/2014/main" id="{138400E7-EA92-40C7-AC9F-B9622F3E75DB}"/>
              </a:ext>
            </a:extLst>
          </p:cNvPr>
          <p:cNvSpPr>
            <a:spLocks xmlns:a="http://schemas.openxmlformats.org/drawingml/2006/main" noGrp="1"/>
          </p:cNvSpPr>
          <p:nvPr/>
        </p:nvSpPr>
        <p:spPr>
          <a:xfrm xmlns:a="http://schemas.openxmlformats.org/drawingml/2006/main">
            <a:off x="685800" y="4914900"/>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F58B"/>
                </a:solidFill>
                <a:latin typeface="Segoe UI"/>
                <a:ea typeface="Segoe UI"/>
                <a:cs typeface="Segoe UI"/>
              </a:defRPr>
            </a:defPPr>
          </a:lstStyle>
          <a:p xmlns:a="http://schemas.openxmlformats.org/drawingml/2006/main">
            <a:pPr algn="l">
              <a:buNone/>
              <a:defRPr sz="2250" b="1">
                <a:solidFill>
                  <a:srgbClr val="D6F58B"/>
                </a:solidFill>
                <a:latin typeface="Segoe UI"/>
                <a:ea typeface="Segoe UI"/>
                <a:cs typeface="Segoe UI"/>
              </a:defRPr>
            </a:pPr>
            <a:r>
              <a:rPr sz="2250" b="1">
                <a:solidFill>
                  <a:srgbClr val="D6F58B"/>
                </a:solidFill>
                <a:latin typeface="Segoe UI"/>
                <a:ea typeface="Segoe UI"/>
                <a:cs typeface="Segoe UI"/>
              </a:rPr>
              <a:t>Credit Circuit</a:t>
            </a:r>
          </a:p>
        </p:txBody>
      </p:sp>
      <p:sp>
        <p:nvSpPr>
          <p:cNvPr id="17" name="See what happened to every purchase,&#10;with ">
            <a:extLst xmlns:a="http://schemas.openxmlformats.org/drawingml/2006/main">
              <a:ext uri="{FF2B5EF4-FFF2-40B4-BE49-F238E27FC236}">
                <a16:creationId xmlns:a16="http://schemas.microsoft.com/office/drawing/2014/main" id="{DCDF2526-DFF3-4212-AFBD-886A1642A44A}"/>
              </a:ext>
            </a:extLst>
          </p:cNvPr>
          <p:cNvSpPr>
            <a:spLocks xmlns:a="http://schemas.openxmlformats.org/drawingml/2006/main" noGrp="1"/>
          </p:cNvSpPr>
          <p:nvPr/>
        </p:nvSpPr>
        <p:spPr>
          <a:xfrm xmlns:a="http://schemas.openxmlformats.org/drawingml/2006/main">
            <a:off x="3238500" y="4914900"/>
            <a:ext cx="8229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2F3EA"/>
                </a:solidFill>
                <a:latin typeface="Segoe UI"/>
                <a:ea typeface="Segoe UI"/>
                <a:cs typeface="Segoe UI"/>
              </a:defRPr>
            </a:defPPr>
          </a:lstStyle>
          <a:p xmlns:a="http://schemas.openxmlformats.org/drawingml/2006/main">
            <a:pPr algn="l">
              <a:buNone/>
              <a:defRPr sz="2250" b="0">
                <a:solidFill>
                  <a:srgbClr val="F2F3EA"/>
                </a:solidFill>
                <a:latin typeface="Segoe UI"/>
                <a:ea typeface="Segoe UI"/>
                <a:cs typeface="Segoe UI"/>
              </a:defRPr>
            </a:pPr>
            <a:r>
              <a:rPr sz="2250" b="0">
                <a:solidFill>
                  <a:srgbClr val="F2F3EA"/>
                </a:solidFill>
                <a:latin typeface="Segoe UI"/>
                <a:ea typeface="Segoe UI"/>
                <a:cs typeface="Segoe UI"/>
              </a:rPr>
              <a:t>See what happened to every purchase,</a:t>
            </a:r>
          </a:p>
          <a:p xmlns:a="http://schemas.openxmlformats.org/drawingml/2006/main">
            <a:pPr algn="l">
              <a:buNone/>
              <a:defRPr sz="2250" b="0">
                <a:solidFill>
                  <a:srgbClr val="F2F3EA"/>
                </a:solidFill>
                <a:latin typeface="Segoe UI"/>
                <a:ea typeface="Segoe UI"/>
                <a:cs typeface="Segoe UI"/>
              </a:defRPr>
            </a:pPr>
            <a:r>
              <a:rPr sz="2250" b="0">
                <a:solidFill>
                  <a:srgbClr val="F2F3EA"/>
                </a:solidFill>
                <a:latin typeface="Segoe UI"/>
                <a:ea typeface="Segoe UI"/>
                <a:cs typeface="Segoe UI"/>
              </a:rPr>
              <a:t>with clear decisions and refunds you can trace.</a:t>
            </a:r>
          </a:p>
        </p:txBody>
      </p:sp>
    </p:spTree>
    <p:extLst>
      <p:ext uri="{BB962C8B-B14F-4D97-AF65-F5344CB8AC3E}">
        <p14:creationId xmlns:p14="http://schemas.microsoft.com/office/powerpoint/2010/main" val="1110790266"/>
      </p:ext>
    </p:extLst>
  </p:cSld>
</p:sld>
</file>

<file path=ppt/slides/slide4.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DF7BD575-213B-4884-BBDB-712B0C4C4C4F}"/>
              </a:ext>
            </a:extLst>
          </p:cNvPr>
          <p:cNvCxnSpPr>
            <a:stCxn xmlns:a="http://schemas.openxmlformats.org/drawingml/2006/main" id="16" idx="3"/>
            <a:endCxn xmlns:a="http://schemas.openxmlformats.org/drawingml/2006/main" id="19" idx="1"/>
          </p:cNvCxnSpPr>
          <p:nvPr/>
        </p:nvCxnSpPr>
        <p:spPr>
          <a:xfrm xmlns:a="http://schemas.openxmlformats.org/drawingml/2006/main">
            <a:off x="9658350" y="3552825"/>
            <a:ext cx="219075" cy="0"/>
          </a:xfrm>
          <a:prstGeom xmlns:a="http://schemas.openxmlformats.org/drawingml/2006/main" prst="straightConnector1">
            <a:avLst/>
          </a:prstGeom>
          <a:ln xmlns:a="http://schemas.openxmlformats.org/drawingml/2006/main" w="19050">
            <a:solidFill>
              <a:srgbClr val="D6F58B"/>
            </a:solidFill>
            <a:tailEnd type="triangle" w="med" len="med"/>
          </a:ln>
        </p:spPr>
      </p:cxnSp>
      <p:cxnSp>
        <p:nvCxnSpPr>
          <p:cNvPr id="25" name="">
            <a:extLst xmlns:a="http://schemas.openxmlformats.org/drawingml/2006/main">
              <a:ext uri="{FF2B5EF4-FFF2-40B4-BE49-F238E27FC236}">
                <a16:creationId xmlns:a16="http://schemas.microsoft.com/office/drawing/2014/main" id="{B78E7886-8FD8-46C8-BD9D-D8D9CC26718B}"/>
              </a:ext>
            </a:extLst>
          </p:cNvPr>
          <p:cNvCxnSpPr>
            <a:stCxn xmlns:a="http://schemas.openxmlformats.org/drawingml/2006/main" id="13" idx="3"/>
            <a:endCxn xmlns:a="http://schemas.openxmlformats.org/drawingml/2006/main" id="16" idx="1"/>
          </p:cNvCxnSpPr>
          <p:nvPr/>
        </p:nvCxnSpPr>
        <p:spPr>
          <a:xfrm xmlns:a="http://schemas.openxmlformats.org/drawingml/2006/main">
            <a:off x="7820025" y="3552825"/>
            <a:ext cx="219075" cy="0"/>
          </a:xfrm>
          <a:prstGeom xmlns:a="http://schemas.openxmlformats.org/drawingml/2006/main" prst="straightConnector1">
            <a:avLst/>
          </a:prstGeom>
          <a:ln xmlns:a="http://schemas.openxmlformats.org/drawingml/2006/main" w="19050">
            <a:solidFill>
              <a:srgbClr val="D6F58B"/>
            </a:solidFill>
            <a:tailEnd type="triangle" w="med" len="med"/>
          </a:ln>
        </p:spPr>
      </p:cxnSp>
      <p:cxnSp>
        <p:nvCxnSpPr>
          <p:cNvPr id="24" name="">
            <a:extLst xmlns:a="http://schemas.openxmlformats.org/drawingml/2006/main">
              <a:ext uri="{FF2B5EF4-FFF2-40B4-BE49-F238E27FC236}">
                <a16:creationId xmlns:a16="http://schemas.microsoft.com/office/drawing/2014/main" id="{94B4945E-2FDA-437F-AA6A-7B63F0A2384F}"/>
              </a:ext>
            </a:extLst>
          </p:cNvPr>
          <p:cNvCxnSpPr>
            <a:stCxn xmlns:a="http://schemas.openxmlformats.org/drawingml/2006/main" id="10" idx="3"/>
            <a:endCxn xmlns:a="http://schemas.openxmlformats.org/drawingml/2006/main" id="13" idx="1"/>
          </p:cNvCxnSpPr>
          <p:nvPr/>
        </p:nvCxnSpPr>
        <p:spPr>
          <a:xfrm xmlns:a="http://schemas.openxmlformats.org/drawingml/2006/main">
            <a:off x="5981700" y="3552825"/>
            <a:ext cx="219075" cy="0"/>
          </a:xfrm>
          <a:prstGeom xmlns:a="http://schemas.openxmlformats.org/drawingml/2006/main" prst="straightConnector1">
            <a:avLst/>
          </a:prstGeom>
          <a:ln xmlns:a="http://schemas.openxmlformats.org/drawingml/2006/main" w="19050">
            <a:solidFill>
              <a:srgbClr val="D6F58B"/>
            </a:solidFill>
            <a:tailEnd type="triangle" w="med" len="med"/>
          </a:ln>
        </p:spPr>
      </p:cxnSp>
      <p:cxnSp>
        <p:nvCxnSpPr>
          <p:cNvPr id="23" name="">
            <a:extLst xmlns:a="http://schemas.openxmlformats.org/drawingml/2006/main">
              <a:ext uri="{FF2B5EF4-FFF2-40B4-BE49-F238E27FC236}">
                <a16:creationId xmlns:a16="http://schemas.microsoft.com/office/drawing/2014/main" id="{03B23919-D13B-431D-ACB2-F578134D2CD9}"/>
              </a:ext>
            </a:extLst>
          </p:cNvPr>
          <p:cNvCxnSpPr>
            <a:stCxn xmlns:a="http://schemas.openxmlformats.org/drawingml/2006/main" id="7" idx="3"/>
            <a:endCxn xmlns:a="http://schemas.openxmlformats.org/drawingml/2006/main" id="10" idx="1"/>
          </p:cNvCxnSpPr>
          <p:nvPr/>
        </p:nvCxnSpPr>
        <p:spPr>
          <a:xfrm xmlns:a="http://schemas.openxmlformats.org/drawingml/2006/main">
            <a:off x="4143375" y="3552825"/>
            <a:ext cx="219075" cy="0"/>
          </a:xfrm>
          <a:prstGeom xmlns:a="http://schemas.openxmlformats.org/drawingml/2006/main" prst="straightConnector1">
            <a:avLst/>
          </a:prstGeom>
          <a:ln xmlns:a="http://schemas.openxmlformats.org/drawingml/2006/main" w="19050">
            <a:solidFill>
              <a:srgbClr val="D6F58B"/>
            </a:solidFill>
            <a:tailEnd type="triangle" w="med" len="med"/>
          </a:ln>
        </p:spPr>
      </p:cxnSp>
      <p:cxnSp>
        <p:nvCxnSpPr>
          <p:cNvPr id="22" name="">
            <a:extLst xmlns:a="http://schemas.openxmlformats.org/drawingml/2006/main">
              <a:ext uri="{FF2B5EF4-FFF2-40B4-BE49-F238E27FC236}">
                <a16:creationId xmlns:a16="http://schemas.microsoft.com/office/drawing/2014/main" id="{D40920DA-A658-4BB1-9BB7-7AB86EC65FEA}"/>
              </a:ext>
            </a:extLst>
          </p:cNvPr>
          <p:cNvCxnSpPr>
            <a:stCxn xmlns:a="http://schemas.openxmlformats.org/drawingml/2006/main" id="4" idx="3"/>
            <a:endCxn xmlns:a="http://schemas.openxmlformats.org/drawingml/2006/main" id="7" idx="1"/>
          </p:cNvCxnSpPr>
          <p:nvPr/>
        </p:nvCxnSpPr>
        <p:spPr>
          <a:xfrm xmlns:a="http://schemas.openxmlformats.org/drawingml/2006/main">
            <a:off x="2305050" y="3552825"/>
            <a:ext cx="219075" cy="0"/>
          </a:xfrm>
          <a:prstGeom xmlns:a="http://schemas.openxmlformats.org/drawingml/2006/main" prst="straightConnector1">
            <a:avLst/>
          </a:prstGeom>
          <a:ln xmlns:a="http://schemas.openxmlformats.org/drawingml/2006/main" w="19050">
            <a:solidFill>
              <a:srgbClr val="D6F58B"/>
            </a:solidFill>
            <a:tailEnd type="triangle" w="med" len="med"/>
          </a:ln>
        </p:spPr>
      </p:cxnSp>
      <p:sp>
        <p:nvSpPr>
          <p:cNvPr id="29" name="04">
            <a:extLst xmlns:a="http://schemas.openxmlformats.org/drawingml/2006/main">
              <a:ext uri="{FF2B5EF4-FFF2-40B4-BE49-F238E27FC236}">
                <a16:creationId xmlns:a16="http://schemas.microsoft.com/office/drawing/2014/main" id="{58B479D7-CE3C-44F7-A50F-AA546A7D1F8D}"/>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04</a:t>
            </a:r>
          </a:p>
        </p:txBody>
      </p:sp>
      <p:sp>
        <p:nvSpPr>
          <p:cNvPr id="2" name="ARCHITECTURE">
            <a:extLst xmlns:a="http://schemas.openxmlformats.org/drawingml/2006/main">
              <a:ext uri="{FF2B5EF4-FFF2-40B4-BE49-F238E27FC236}">
                <a16:creationId xmlns:a16="http://schemas.microsoft.com/office/drawing/2014/main" id="{6A3D59D2-1B14-4A89-B408-4F4C0E1D6DCE}"/>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ARCHITECTURE</a:t>
            </a:r>
          </a:p>
        </p:txBody>
      </p:sp>
      <p:sp>
        <p:nvSpPr>
          <p:cNvPr id="3" name="The stack">
            <a:extLst xmlns:a="http://schemas.openxmlformats.org/drawingml/2006/main">
              <a:ext uri="{FF2B5EF4-FFF2-40B4-BE49-F238E27FC236}">
                <a16:creationId xmlns:a16="http://schemas.microsoft.com/office/drawing/2014/main" id="{600A23F7-A14F-4205-805F-807003F67BBA}"/>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The stack</a:t>
            </a:r>
          </a:p>
        </p:txBody>
      </p:sp>
      <p:sp>
        <p:nvSpPr>
          <p:cNvPr id="4" name="React">
            <a:extLst xmlns:a="http://schemas.openxmlformats.org/drawingml/2006/main">
              <a:ext uri="{FF2B5EF4-FFF2-40B4-BE49-F238E27FC236}">
                <a16:creationId xmlns:a16="http://schemas.microsoft.com/office/drawing/2014/main" id="{9A785AFF-77E0-438B-BF84-23E294A8FB2F}"/>
              </a:ext>
            </a:extLst>
          </p:cNvPr>
          <p:cNvSpPr>
            <a:spLocks xmlns:a="http://schemas.openxmlformats.org/drawingml/2006/main" noGrp="1"/>
          </p:cNvSpPr>
          <p:nvPr/>
        </p:nvSpPr>
        <p:spPr>
          <a:xfrm xmlns:a="http://schemas.openxmlformats.org/drawingml/2006/main">
            <a:off x="685800" y="2762250"/>
            <a:ext cx="1619250" cy="15811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5" name="React">
            <a:extLst xmlns:a="http://schemas.openxmlformats.org/drawingml/2006/main">
              <a:ext uri="{FF2B5EF4-FFF2-40B4-BE49-F238E27FC236}">
                <a16:creationId xmlns:a16="http://schemas.microsoft.com/office/drawing/2014/main" id="{505F92AC-EE06-4E54-8BC4-2EA8E1749BB8}"/>
              </a:ext>
            </a:extLst>
          </p:cNvPr>
          <p:cNvSpPr>
            <a:spLocks xmlns:a="http://schemas.openxmlformats.org/drawingml/2006/main" noGrp="1"/>
          </p:cNvSpPr>
          <p:nvPr/>
        </p:nvSpPr>
        <p:spPr>
          <a:xfrm xmlns:a="http://schemas.openxmlformats.org/drawingml/2006/main">
            <a:off x="857250" y="2933700"/>
            <a:ext cx="127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F3EA"/>
                </a:solidFill>
                <a:latin typeface="Segoe UI"/>
                <a:ea typeface="Segoe UI"/>
                <a:cs typeface="Segoe UI"/>
              </a:defRPr>
            </a:defPPr>
          </a:lstStyle>
          <a:p xmlns:a="http://schemas.openxmlformats.org/drawingml/2006/main">
            <a:pPr algn="l">
              <a:buNone/>
              <a:defRPr sz="1875" b="1">
                <a:solidFill>
                  <a:srgbClr val="F2F3EA"/>
                </a:solidFill>
                <a:latin typeface="Segoe UI"/>
                <a:ea typeface="Segoe UI"/>
                <a:cs typeface="Segoe UI"/>
              </a:defRPr>
            </a:pPr>
            <a:r>
              <a:rPr sz="1875" b="1">
                <a:solidFill>
                  <a:srgbClr val="F2F3EA"/>
                </a:solidFill>
                <a:latin typeface="Segoe UI"/>
                <a:ea typeface="Segoe UI"/>
                <a:cs typeface="Segoe UI"/>
              </a:rPr>
              <a:t>React</a:t>
            </a:r>
          </a:p>
        </p:txBody>
      </p:sp>
      <p:sp>
        <p:nvSpPr>
          <p:cNvPr id="6" name="Form and&#10;feedback">
            <a:extLst xmlns:a="http://schemas.openxmlformats.org/drawingml/2006/main">
              <a:ext uri="{FF2B5EF4-FFF2-40B4-BE49-F238E27FC236}">
                <a16:creationId xmlns:a16="http://schemas.microsoft.com/office/drawing/2014/main" id="{0820CE81-51AB-4753-A3EE-8FEC02B02B31}"/>
              </a:ext>
            </a:extLst>
          </p:cNvPr>
          <p:cNvSpPr>
            <a:spLocks xmlns:a="http://schemas.openxmlformats.org/drawingml/2006/main" noGrp="1"/>
          </p:cNvSpPr>
          <p:nvPr/>
        </p:nvSpPr>
        <p:spPr>
          <a:xfrm xmlns:a="http://schemas.openxmlformats.org/drawingml/2006/main">
            <a:off x="857250" y="3390900"/>
            <a:ext cx="1276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Form and</a:t>
            </a:r>
          </a:p>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feedback</a:t>
            </a:r>
          </a:p>
        </p:txBody>
      </p:sp>
      <p:sp>
        <p:nvSpPr>
          <p:cNvPr id="7" name="API call">
            <a:extLst xmlns:a="http://schemas.openxmlformats.org/drawingml/2006/main">
              <a:ext uri="{FF2B5EF4-FFF2-40B4-BE49-F238E27FC236}">
                <a16:creationId xmlns:a16="http://schemas.microsoft.com/office/drawing/2014/main" id="{851E7E81-A7DA-4715-8CCD-5094BAD7200C}"/>
              </a:ext>
            </a:extLst>
          </p:cNvPr>
          <p:cNvSpPr>
            <a:spLocks xmlns:a="http://schemas.openxmlformats.org/drawingml/2006/main" noGrp="1"/>
          </p:cNvSpPr>
          <p:nvPr/>
        </p:nvSpPr>
        <p:spPr>
          <a:xfrm xmlns:a="http://schemas.openxmlformats.org/drawingml/2006/main">
            <a:off x="2524125" y="2762250"/>
            <a:ext cx="1619250" cy="15811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8" name="API call">
            <a:extLst xmlns:a="http://schemas.openxmlformats.org/drawingml/2006/main">
              <a:ext uri="{FF2B5EF4-FFF2-40B4-BE49-F238E27FC236}">
                <a16:creationId xmlns:a16="http://schemas.microsoft.com/office/drawing/2014/main" id="{A2912F41-EE2A-477F-B164-53C8F1250EEB}"/>
              </a:ext>
            </a:extLst>
          </p:cNvPr>
          <p:cNvSpPr>
            <a:spLocks xmlns:a="http://schemas.openxmlformats.org/drawingml/2006/main" noGrp="1"/>
          </p:cNvSpPr>
          <p:nvPr/>
        </p:nvSpPr>
        <p:spPr>
          <a:xfrm xmlns:a="http://schemas.openxmlformats.org/drawingml/2006/main">
            <a:off x="2695575" y="2933700"/>
            <a:ext cx="127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F3EA"/>
                </a:solidFill>
                <a:latin typeface="Segoe UI"/>
                <a:ea typeface="Segoe UI"/>
                <a:cs typeface="Segoe UI"/>
              </a:defRPr>
            </a:defPPr>
          </a:lstStyle>
          <a:p xmlns:a="http://schemas.openxmlformats.org/drawingml/2006/main">
            <a:pPr algn="l">
              <a:buNone/>
              <a:defRPr sz="1875" b="1">
                <a:solidFill>
                  <a:srgbClr val="F2F3EA"/>
                </a:solidFill>
                <a:latin typeface="Segoe UI"/>
                <a:ea typeface="Segoe UI"/>
                <a:cs typeface="Segoe UI"/>
              </a:defRPr>
            </a:pPr>
            <a:r>
              <a:rPr sz="1875" b="1">
                <a:solidFill>
                  <a:srgbClr val="F2F3EA"/>
                </a:solidFill>
                <a:latin typeface="Segoe UI"/>
                <a:ea typeface="Segoe UI"/>
                <a:cs typeface="Segoe UI"/>
              </a:rPr>
              <a:t>API call</a:t>
            </a:r>
          </a:p>
        </p:txBody>
      </p:sp>
      <p:sp>
        <p:nvSpPr>
          <p:cNvPr id="9" name="Purchase&#10;request">
            <a:extLst xmlns:a="http://schemas.openxmlformats.org/drawingml/2006/main">
              <a:ext uri="{FF2B5EF4-FFF2-40B4-BE49-F238E27FC236}">
                <a16:creationId xmlns:a16="http://schemas.microsoft.com/office/drawing/2014/main" id="{325EE8C1-7962-4EE7-A8D3-0E60C39577E5}"/>
              </a:ext>
            </a:extLst>
          </p:cNvPr>
          <p:cNvSpPr>
            <a:spLocks xmlns:a="http://schemas.openxmlformats.org/drawingml/2006/main" noGrp="1"/>
          </p:cNvSpPr>
          <p:nvPr/>
        </p:nvSpPr>
        <p:spPr>
          <a:xfrm xmlns:a="http://schemas.openxmlformats.org/drawingml/2006/main">
            <a:off x="2695575" y="3390900"/>
            <a:ext cx="1276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Purchase</a:t>
            </a:r>
          </a:p>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request</a:t>
            </a:r>
          </a:p>
        </p:txBody>
      </p:sp>
      <p:sp>
        <p:nvSpPr>
          <p:cNvPr id="10" name="Controller">
            <a:extLst xmlns:a="http://schemas.openxmlformats.org/drawingml/2006/main">
              <a:ext uri="{FF2B5EF4-FFF2-40B4-BE49-F238E27FC236}">
                <a16:creationId xmlns:a16="http://schemas.microsoft.com/office/drawing/2014/main" id="{27EC3C88-83F1-4CA3-B242-7CBEBD30910A}"/>
              </a:ext>
            </a:extLst>
          </p:cNvPr>
          <p:cNvSpPr>
            <a:spLocks xmlns:a="http://schemas.openxmlformats.org/drawingml/2006/main" noGrp="1"/>
          </p:cNvSpPr>
          <p:nvPr/>
        </p:nvSpPr>
        <p:spPr>
          <a:xfrm xmlns:a="http://schemas.openxmlformats.org/drawingml/2006/main">
            <a:off x="4362450" y="2762250"/>
            <a:ext cx="1619250" cy="15811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11" name="Controller">
            <a:extLst xmlns:a="http://schemas.openxmlformats.org/drawingml/2006/main">
              <a:ext uri="{FF2B5EF4-FFF2-40B4-BE49-F238E27FC236}">
                <a16:creationId xmlns:a16="http://schemas.microsoft.com/office/drawing/2014/main" id="{DF23A776-4002-4752-A3E8-576375C3AD6F}"/>
              </a:ext>
            </a:extLst>
          </p:cNvPr>
          <p:cNvSpPr>
            <a:spLocks xmlns:a="http://schemas.openxmlformats.org/drawingml/2006/main" noGrp="1"/>
          </p:cNvSpPr>
          <p:nvPr/>
        </p:nvSpPr>
        <p:spPr>
          <a:xfrm xmlns:a="http://schemas.openxmlformats.org/drawingml/2006/main">
            <a:off x="4533900" y="2933700"/>
            <a:ext cx="127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F3EA"/>
                </a:solidFill>
                <a:latin typeface="Segoe UI"/>
                <a:ea typeface="Segoe UI"/>
                <a:cs typeface="Segoe UI"/>
              </a:defRPr>
            </a:defPPr>
          </a:lstStyle>
          <a:p xmlns:a="http://schemas.openxmlformats.org/drawingml/2006/main">
            <a:pPr algn="l">
              <a:buNone/>
              <a:defRPr sz="1875" b="1">
                <a:solidFill>
                  <a:srgbClr val="F2F3EA"/>
                </a:solidFill>
                <a:latin typeface="Segoe UI"/>
                <a:ea typeface="Segoe UI"/>
                <a:cs typeface="Segoe UI"/>
              </a:defRPr>
            </a:pPr>
            <a:r>
              <a:rPr sz="1875" b="1">
                <a:solidFill>
                  <a:srgbClr val="F2F3EA"/>
                </a:solidFill>
                <a:latin typeface="Segoe UI"/>
                <a:ea typeface="Segoe UI"/>
                <a:cs typeface="Segoe UI"/>
              </a:rPr>
              <a:t>Controller</a:t>
            </a:r>
          </a:p>
        </p:txBody>
      </p:sp>
      <p:sp>
        <p:nvSpPr>
          <p:cNvPr id="12" name="Validate&#10;input">
            <a:extLst xmlns:a="http://schemas.openxmlformats.org/drawingml/2006/main">
              <a:ext uri="{FF2B5EF4-FFF2-40B4-BE49-F238E27FC236}">
                <a16:creationId xmlns:a16="http://schemas.microsoft.com/office/drawing/2014/main" id="{F21CF84A-8C71-4FBF-A235-C105EB488AFD}"/>
              </a:ext>
            </a:extLst>
          </p:cNvPr>
          <p:cNvSpPr>
            <a:spLocks xmlns:a="http://schemas.openxmlformats.org/drawingml/2006/main" noGrp="1"/>
          </p:cNvSpPr>
          <p:nvPr/>
        </p:nvSpPr>
        <p:spPr>
          <a:xfrm xmlns:a="http://schemas.openxmlformats.org/drawingml/2006/main">
            <a:off x="4533900" y="3390900"/>
            <a:ext cx="1276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Validate</a:t>
            </a:r>
          </a:p>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input</a:t>
            </a:r>
          </a:p>
        </p:txBody>
      </p:sp>
      <p:sp>
        <p:nvSpPr>
          <p:cNvPr id="13" name="Service">
            <a:extLst xmlns:a="http://schemas.openxmlformats.org/drawingml/2006/main">
              <a:ext uri="{FF2B5EF4-FFF2-40B4-BE49-F238E27FC236}">
                <a16:creationId xmlns:a16="http://schemas.microsoft.com/office/drawing/2014/main" id="{9D54FEEB-E308-44D1-8EBF-DA9079164D74}"/>
              </a:ext>
            </a:extLst>
          </p:cNvPr>
          <p:cNvSpPr>
            <a:spLocks xmlns:a="http://schemas.openxmlformats.org/drawingml/2006/main" noGrp="1"/>
          </p:cNvSpPr>
          <p:nvPr/>
        </p:nvSpPr>
        <p:spPr>
          <a:xfrm xmlns:a="http://schemas.openxmlformats.org/drawingml/2006/main">
            <a:off x="6200775" y="2762250"/>
            <a:ext cx="1619250" cy="15811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14" name="Service">
            <a:extLst xmlns:a="http://schemas.openxmlformats.org/drawingml/2006/main">
              <a:ext uri="{FF2B5EF4-FFF2-40B4-BE49-F238E27FC236}">
                <a16:creationId xmlns:a16="http://schemas.microsoft.com/office/drawing/2014/main" id="{F8A4E5CA-C7FE-432F-92AC-9CC18B056761}"/>
              </a:ext>
            </a:extLst>
          </p:cNvPr>
          <p:cNvSpPr>
            <a:spLocks xmlns:a="http://schemas.openxmlformats.org/drawingml/2006/main" noGrp="1"/>
          </p:cNvSpPr>
          <p:nvPr/>
        </p:nvSpPr>
        <p:spPr>
          <a:xfrm xmlns:a="http://schemas.openxmlformats.org/drawingml/2006/main">
            <a:off x="6372225" y="2933700"/>
            <a:ext cx="127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F3EA"/>
                </a:solidFill>
                <a:latin typeface="Segoe UI"/>
                <a:ea typeface="Segoe UI"/>
                <a:cs typeface="Segoe UI"/>
              </a:defRPr>
            </a:defPPr>
          </a:lstStyle>
          <a:p xmlns:a="http://schemas.openxmlformats.org/drawingml/2006/main">
            <a:pPr algn="l">
              <a:buNone/>
              <a:defRPr sz="1875" b="1">
                <a:solidFill>
                  <a:srgbClr val="F2F3EA"/>
                </a:solidFill>
                <a:latin typeface="Segoe UI"/>
                <a:ea typeface="Segoe UI"/>
                <a:cs typeface="Segoe UI"/>
              </a:defRPr>
            </a:pPr>
            <a:r>
              <a:rPr sz="1875" b="1">
                <a:solidFill>
                  <a:srgbClr val="F2F3EA"/>
                </a:solidFill>
                <a:latin typeface="Segoe UI"/>
                <a:ea typeface="Segoe UI"/>
                <a:cs typeface="Segoe UI"/>
              </a:rPr>
              <a:t>Service</a:t>
            </a:r>
          </a:p>
        </p:txBody>
      </p:sp>
      <p:sp>
        <p:nvSpPr>
          <p:cNvPr id="15" name="Decide the&#10;outcome">
            <a:extLst xmlns:a="http://schemas.openxmlformats.org/drawingml/2006/main">
              <a:ext uri="{FF2B5EF4-FFF2-40B4-BE49-F238E27FC236}">
                <a16:creationId xmlns:a16="http://schemas.microsoft.com/office/drawing/2014/main" id="{5DBD474F-31A7-4D69-9135-2C0443134D80}"/>
              </a:ext>
            </a:extLst>
          </p:cNvPr>
          <p:cNvSpPr>
            <a:spLocks xmlns:a="http://schemas.openxmlformats.org/drawingml/2006/main" noGrp="1"/>
          </p:cNvSpPr>
          <p:nvPr/>
        </p:nvSpPr>
        <p:spPr>
          <a:xfrm xmlns:a="http://schemas.openxmlformats.org/drawingml/2006/main">
            <a:off x="6372225" y="3390900"/>
            <a:ext cx="1276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Decide the</a:t>
            </a:r>
          </a:p>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outcome</a:t>
            </a:r>
          </a:p>
        </p:txBody>
      </p:sp>
      <p:sp>
        <p:nvSpPr>
          <p:cNvPr id="16" name="JPA">
            <a:extLst xmlns:a="http://schemas.openxmlformats.org/drawingml/2006/main">
              <a:ext uri="{FF2B5EF4-FFF2-40B4-BE49-F238E27FC236}">
                <a16:creationId xmlns:a16="http://schemas.microsoft.com/office/drawing/2014/main" id="{6723B185-B7E5-4541-8E03-9A608258C22D}"/>
              </a:ext>
            </a:extLst>
          </p:cNvPr>
          <p:cNvSpPr>
            <a:spLocks xmlns:a="http://schemas.openxmlformats.org/drawingml/2006/main" noGrp="1"/>
          </p:cNvSpPr>
          <p:nvPr/>
        </p:nvSpPr>
        <p:spPr>
          <a:xfrm xmlns:a="http://schemas.openxmlformats.org/drawingml/2006/main">
            <a:off x="8039100" y="2762250"/>
            <a:ext cx="1619250" cy="15811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17" name="JPA">
            <a:extLst xmlns:a="http://schemas.openxmlformats.org/drawingml/2006/main">
              <a:ext uri="{FF2B5EF4-FFF2-40B4-BE49-F238E27FC236}">
                <a16:creationId xmlns:a16="http://schemas.microsoft.com/office/drawing/2014/main" id="{EB469FEC-53A1-47BF-836F-8DEAA0E1A129}"/>
              </a:ext>
            </a:extLst>
          </p:cNvPr>
          <p:cNvSpPr>
            <a:spLocks xmlns:a="http://schemas.openxmlformats.org/drawingml/2006/main" noGrp="1"/>
          </p:cNvSpPr>
          <p:nvPr/>
        </p:nvSpPr>
        <p:spPr>
          <a:xfrm xmlns:a="http://schemas.openxmlformats.org/drawingml/2006/main">
            <a:off x="8210550" y="2933700"/>
            <a:ext cx="127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F3EA"/>
                </a:solidFill>
                <a:latin typeface="Segoe UI"/>
                <a:ea typeface="Segoe UI"/>
                <a:cs typeface="Segoe UI"/>
              </a:defRPr>
            </a:defPPr>
          </a:lstStyle>
          <a:p xmlns:a="http://schemas.openxmlformats.org/drawingml/2006/main">
            <a:pPr algn="l">
              <a:buNone/>
              <a:defRPr sz="1875" b="1">
                <a:solidFill>
                  <a:srgbClr val="F2F3EA"/>
                </a:solidFill>
                <a:latin typeface="Segoe UI"/>
                <a:ea typeface="Segoe UI"/>
                <a:cs typeface="Segoe UI"/>
              </a:defRPr>
            </a:pPr>
            <a:r>
              <a:rPr sz="1875" b="1">
                <a:solidFill>
                  <a:srgbClr val="F2F3EA"/>
                </a:solidFill>
                <a:latin typeface="Segoe UI"/>
                <a:ea typeface="Segoe UI"/>
                <a:cs typeface="Segoe UI"/>
              </a:rPr>
              <a:t>JPA</a:t>
            </a:r>
          </a:p>
        </p:txBody>
      </p:sp>
      <p:sp>
        <p:nvSpPr>
          <p:cNvPr id="18" name="Load and&#10;save">
            <a:extLst xmlns:a="http://schemas.openxmlformats.org/drawingml/2006/main">
              <a:ext uri="{FF2B5EF4-FFF2-40B4-BE49-F238E27FC236}">
                <a16:creationId xmlns:a16="http://schemas.microsoft.com/office/drawing/2014/main" id="{7DBA5BBB-A069-4D9C-9CAD-75C1B2F4AC69}"/>
              </a:ext>
            </a:extLst>
          </p:cNvPr>
          <p:cNvSpPr>
            <a:spLocks xmlns:a="http://schemas.openxmlformats.org/drawingml/2006/main" noGrp="1"/>
          </p:cNvSpPr>
          <p:nvPr/>
        </p:nvSpPr>
        <p:spPr>
          <a:xfrm xmlns:a="http://schemas.openxmlformats.org/drawingml/2006/main">
            <a:off x="8210550" y="3390900"/>
            <a:ext cx="1276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Load and</a:t>
            </a:r>
          </a:p>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save</a:t>
            </a:r>
          </a:p>
        </p:txBody>
      </p:sp>
      <p:sp>
        <p:nvSpPr>
          <p:cNvPr id="19" name="MySQL">
            <a:extLst xmlns:a="http://schemas.openxmlformats.org/drawingml/2006/main">
              <a:ext uri="{FF2B5EF4-FFF2-40B4-BE49-F238E27FC236}">
                <a16:creationId xmlns:a16="http://schemas.microsoft.com/office/drawing/2014/main" id="{14C99B6B-72F8-4099-B4F0-84886D6018A1}"/>
              </a:ext>
            </a:extLst>
          </p:cNvPr>
          <p:cNvSpPr>
            <a:spLocks xmlns:a="http://schemas.openxmlformats.org/drawingml/2006/main" noGrp="1"/>
          </p:cNvSpPr>
          <p:nvPr/>
        </p:nvSpPr>
        <p:spPr>
          <a:xfrm xmlns:a="http://schemas.openxmlformats.org/drawingml/2006/main">
            <a:off x="9877425" y="2762250"/>
            <a:ext cx="1619250" cy="1581150"/>
          </a:xfrm>
          <a:prstGeom xmlns:a="http://schemas.openxmlformats.org/drawingml/2006/main" prst="rect">
            <a:avLst/>
          </a:prstGeom>
          <a:noFill xmlns:a="http://schemas.openxmlformats.org/drawingml/2006/main"/>
          <a:ln xmlns:a="http://schemas.openxmlformats.org/drawingml/2006/main" w="14288">
            <a:solidFill>
              <a:srgbClr val="D6F58B"/>
            </a:solidFill>
          </a:ln>
        </p:spPr>
      </p:sp>
      <p:sp>
        <p:nvSpPr>
          <p:cNvPr id="20" name="MySQL">
            <a:extLst xmlns:a="http://schemas.openxmlformats.org/drawingml/2006/main">
              <a:ext uri="{FF2B5EF4-FFF2-40B4-BE49-F238E27FC236}">
                <a16:creationId xmlns:a16="http://schemas.microsoft.com/office/drawing/2014/main" id="{94A46EF9-46EF-416B-AFFE-B001BC8DD514}"/>
              </a:ext>
            </a:extLst>
          </p:cNvPr>
          <p:cNvSpPr>
            <a:spLocks xmlns:a="http://schemas.openxmlformats.org/drawingml/2006/main" noGrp="1"/>
          </p:cNvSpPr>
          <p:nvPr/>
        </p:nvSpPr>
        <p:spPr>
          <a:xfrm xmlns:a="http://schemas.openxmlformats.org/drawingml/2006/main">
            <a:off x="10048875" y="2933700"/>
            <a:ext cx="1276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F3EA"/>
                </a:solidFill>
                <a:latin typeface="Segoe UI"/>
                <a:ea typeface="Segoe UI"/>
                <a:cs typeface="Segoe UI"/>
              </a:defRPr>
            </a:defPPr>
          </a:lstStyle>
          <a:p xmlns:a="http://schemas.openxmlformats.org/drawingml/2006/main">
            <a:pPr algn="l">
              <a:buNone/>
              <a:defRPr sz="1875" b="1">
                <a:solidFill>
                  <a:srgbClr val="F2F3EA"/>
                </a:solidFill>
                <a:latin typeface="Segoe UI"/>
                <a:ea typeface="Segoe UI"/>
                <a:cs typeface="Segoe UI"/>
              </a:defRPr>
            </a:pPr>
            <a:r>
              <a:rPr sz="1875" b="1">
                <a:solidFill>
                  <a:srgbClr val="F2F3EA"/>
                </a:solidFill>
                <a:latin typeface="Segoe UI"/>
                <a:ea typeface="Segoe UI"/>
                <a:cs typeface="Segoe UI"/>
              </a:rPr>
              <a:t>MySQL</a:t>
            </a:r>
          </a:p>
        </p:txBody>
      </p:sp>
      <p:sp>
        <p:nvSpPr>
          <p:cNvPr id="21" name="Store the&#10;records">
            <a:extLst xmlns:a="http://schemas.openxmlformats.org/drawingml/2006/main">
              <a:ext uri="{FF2B5EF4-FFF2-40B4-BE49-F238E27FC236}">
                <a16:creationId xmlns:a16="http://schemas.microsoft.com/office/drawing/2014/main" id="{31C40A88-F6FB-416B-8894-4AEB816EB82D}"/>
              </a:ext>
            </a:extLst>
          </p:cNvPr>
          <p:cNvSpPr>
            <a:spLocks xmlns:a="http://schemas.openxmlformats.org/drawingml/2006/main" noGrp="1"/>
          </p:cNvSpPr>
          <p:nvPr/>
        </p:nvSpPr>
        <p:spPr>
          <a:xfrm xmlns:a="http://schemas.openxmlformats.org/drawingml/2006/main">
            <a:off x="10048875" y="3390900"/>
            <a:ext cx="1276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Store the</a:t>
            </a:r>
          </a:p>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records</a:t>
            </a:r>
          </a:p>
        </p:txBody>
      </p:sp>
      <p:sp>
        <p:nvSpPr>
          <p:cNvPr id="27" name="One backend. Four tables.">
            <a:extLst xmlns:a="http://schemas.openxmlformats.org/drawingml/2006/main">
              <a:ext uri="{FF2B5EF4-FFF2-40B4-BE49-F238E27FC236}">
                <a16:creationId xmlns:a16="http://schemas.microsoft.com/office/drawing/2014/main" id="{4D5F614F-7722-4574-ADE2-B63497272FB6}"/>
              </a:ext>
            </a:extLst>
          </p:cNvPr>
          <p:cNvSpPr>
            <a:spLocks xmlns:a="http://schemas.openxmlformats.org/drawingml/2006/main" noGrp="1"/>
          </p:cNvSpPr>
          <p:nvPr/>
        </p:nvSpPr>
        <p:spPr>
          <a:xfrm xmlns:a="http://schemas.openxmlformats.org/drawingml/2006/main">
            <a:off x="685800" y="48482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D6F58B"/>
                </a:solidFill>
                <a:latin typeface="Segoe UI"/>
                <a:ea typeface="Segoe UI"/>
                <a:cs typeface="Segoe UI"/>
              </a:defRPr>
            </a:defPPr>
          </a:lstStyle>
          <a:p xmlns:a="http://schemas.openxmlformats.org/drawingml/2006/main">
            <a:pPr algn="l">
              <a:buNone/>
              <a:defRPr sz="2550" b="1">
                <a:solidFill>
                  <a:srgbClr val="D6F58B"/>
                </a:solidFill>
                <a:latin typeface="Segoe UI"/>
                <a:ea typeface="Segoe UI"/>
                <a:cs typeface="Segoe UI"/>
              </a:defRPr>
            </a:pPr>
            <a:r>
              <a:rPr sz="2550" b="1">
                <a:solidFill>
                  <a:srgbClr val="D6F58B"/>
                </a:solidFill>
                <a:latin typeface="Segoe UI"/>
                <a:ea typeface="Segoe UI"/>
                <a:cs typeface="Segoe UI"/>
              </a:rPr>
              <a:t>One backend. Four tables.</a:t>
            </a:r>
          </a:p>
        </p:txBody>
      </p:sp>
      <p:sp>
        <p:nvSpPr>
          <p:cNvPr id="28" name="Each part has a clear job, so I can follow">
            <a:extLst xmlns:a="http://schemas.openxmlformats.org/drawingml/2006/main">
              <a:ext uri="{FF2B5EF4-FFF2-40B4-BE49-F238E27FC236}">
                <a16:creationId xmlns:a16="http://schemas.microsoft.com/office/drawing/2014/main" id="{53C33C15-4324-4C0E-A966-A7932FFF19BD}"/>
              </a:ext>
            </a:extLst>
          </p:cNvPr>
          <p:cNvSpPr>
            <a:spLocks xmlns:a="http://schemas.openxmlformats.org/drawingml/2006/main" noGrp="1"/>
          </p:cNvSpPr>
          <p:nvPr/>
        </p:nvSpPr>
        <p:spPr>
          <a:xfrm xmlns:a="http://schemas.openxmlformats.org/drawingml/2006/main">
            <a:off x="685800" y="54673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CB6AB"/>
                </a:solidFill>
                <a:latin typeface="Segoe UI"/>
                <a:ea typeface="Segoe UI"/>
                <a:cs typeface="Segoe UI"/>
              </a:defRPr>
            </a:defPPr>
          </a:lstStyle>
          <a:p xmlns:a="http://schemas.openxmlformats.org/drawingml/2006/main">
            <a:pPr algn="l">
              <a:buNone/>
              <a:defRPr sz="2100" b="0">
                <a:solidFill>
                  <a:srgbClr val="ACB6AB"/>
                </a:solidFill>
                <a:latin typeface="Segoe UI"/>
                <a:ea typeface="Segoe UI"/>
                <a:cs typeface="Segoe UI"/>
              </a:defRPr>
            </a:pPr>
            <a:r>
              <a:rPr sz="2100" b="0">
                <a:solidFill>
                  <a:srgbClr val="ACB6AB"/>
                </a:solidFill>
                <a:latin typeface="Segoe UI"/>
                <a:ea typeface="Segoe UI"/>
                <a:cs typeface="Segoe UI"/>
              </a:rPr>
              <a:t>Each part has a clear job, so I can follow a purchase through the app.</a:t>
            </a:r>
          </a:p>
        </p:txBody>
      </p:sp>
    </p:spTree>
    <p:extLst>
      <p:ext uri="{BB962C8B-B14F-4D97-AF65-F5344CB8AC3E}">
        <p14:creationId xmlns:p14="http://schemas.microsoft.com/office/powerpoint/2010/main" val="854098593"/>
      </p:ext>
    </p:extLst>
  </p:cSld>
</p:sld>
</file>

<file path=ppt/slides/slide5.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sp>
        <p:nvSpPr>
          <p:cNvPr id="19" name="05">
            <a:extLst xmlns:a="http://schemas.openxmlformats.org/drawingml/2006/main">
              <a:ext uri="{FF2B5EF4-FFF2-40B4-BE49-F238E27FC236}">
                <a16:creationId xmlns:a16="http://schemas.microsoft.com/office/drawing/2014/main" id="{5715DB58-5D3B-4355-8625-5A88ABE90C82}"/>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05</a:t>
            </a:r>
          </a:p>
        </p:txBody>
      </p:sp>
      <p:sp>
        <p:nvSpPr>
          <p:cNvPr id="2" name="INSIDE THE BACKEND">
            <a:extLst xmlns:a="http://schemas.openxmlformats.org/drawingml/2006/main">
              <a:ext uri="{FF2B5EF4-FFF2-40B4-BE49-F238E27FC236}">
                <a16:creationId xmlns:a16="http://schemas.microsoft.com/office/drawing/2014/main" id="{E12CBDF8-CF20-48F5-8840-FFC2EFF7FD1C}"/>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INSIDE THE BACKEND</a:t>
            </a:r>
          </a:p>
        </p:txBody>
      </p:sp>
      <p:sp>
        <p:nvSpPr>
          <p:cNvPr id="3" name="The purchase service">
            <a:extLst xmlns:a="http://schemas.openxmlformats.org/drawingml/2006/main">
              <a:ext uri="{FF2B5EF4-FFF2-40B4-BE49-F238E27FC236}">
                <a16:creationId xmlns:a16="http://schemas.microsoft.com/office/drawing/2014/main" id="{9D06ADE5-5AE8-4FCF-AE23-EC87092E6937}"/>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The purchase service</a:t>
            </a:r>
          </a:p>
        </p:txBody>
      </p:sp>
      <p:sp>
        <p:nvSpPr>
          <p:cNvPr id="4" name="01">
            <a:extLst xmlns:a="http://schemas.openxmlformats.org/drawingml/2006/main">
              <a:ext uri="{FF2B5EF4-FFF2-40B4-BE49-F238E27FC236}">
                <a16:creationId xmlns:a16="http://schemas.microsoft.com/office/drawing/2014/main" id="{C7EEA4F7-2C46-43D8-B56A-7BC7F1ACD07E}"/>
              </a:ext>
            </a:extLst>
          </p:cNvPr>
          <p:cNvSpPr>
            <a:spLocks xmlns:a="http://schemas.openxmlformats.org/drawingml/2006/main" noGrp="1"/>
          </p:cNvSpPr>
          <p:nvPr/>
        </p:nvSpPr>
        <p:spPr>
          <a:xfrm xmlns:a="http://schemas.openxmlformats.org/drawingml/2006/main">
            <a:off x="685800" y="2257425"/>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01</a:t>
            </a:r>
          </a:p>
        </p:txBody>
      </p:sp>
      <p:sp>
        <p:nvSpPr>
          <p:cNvPr id="5" name="Check the customer and lock their account">
            <a:extLst xmlns:a="http://schemas.openxmlformats.org/drawingml/2006/main">
              <a:ext uri="{FF2B5EF4-FFF2-40B4-BE49-F238E27FC236}">
                <a16:creationId xmlns:a16="http://schemas.microsoft.com/office/drawing/2014/main" id="{AEDC0E29-47DA-49D2-BEAB-D13097CFEC81}"/>
              </a:ext>
            </a:extLst>
          </p:cNvPr>
          <p:cNvSpPr>
            <a:spLocks xmlns:a="http://schemas.openxmlformats.org/drawingml/2006/main" noGrp="1"/>
          </p:cNvSpPr>
          <p:nvPr/>
        </p:nvSpPr>
        <p:spPr>
          <a:xfrm xmlns:a="http://schemas.openxmlformats.org/drawingml/2006/main">
            <a:off x="1314450" y="2257425"/>
            <a:ext cx="560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3EA"/>
                </a:solidFill>
                <a:latin typeface="Segoe UI"/>
                <a:ea typeface="Segoe UI"/>
                <a:cs typeface="Segoe UI"/>
              </a:defRPr>
            </a:defPPr>
          </a:lstStyle>
          <a:p xmlns:a="http://schemas.openxmlformats.org/drawingml/2006/main">
            <a:pPr algn="l">
              <a:buNone/>
              <a:defRPr sz="1950" b="0">
                <a:solidFill>
                  <a:srgbClr val="F2F3EA"/>
                </a:solidFill>
                <a:latin typeface="Segoe UI"/>
                <a:ea typeface="Segoe UI"/>
                <a:cs typeface="Segoe UI"/>
              </a:defRPr>
            </a:pPr>
            <a:r>
              <a:rPr sz="1950" b="0">
                <a:solidFill>
                  <a:srgbClr val="F2F3EA"/>
                </a:solidFill>
                <a:latin typeface="Segoe UI"/>
                <a:ea typeface="Segoe UI"/>
                <a:cs typeface="Segoe UI"/>
              </a:rPr>
              <a:t>Check the customer and lock their account</a:t>
            </a:r>
          </a:p>
        </p:txBody>
      </p:sp>
      <p:sp>
        <p:nvSpPr>
          <p:cNvPr id="6" name="02">
            <a:extLst xmlns:a="http://schemas.openxmlformats.org/drawingml/2006/main">
              <a:ext uri="{FF2B5EF4-FFF2-40B4-BE49-F238E27FC236}">
                <a16:creationId xmlns:a16="http://schemas.microsoft.com/office/drawing/2014/main" id="{B186A008-4C26-4FAE-A76D-0A544B4DF2C3}"/>
              </a:ext>
            </a:extLst>
          </p:cNvPr>
          <p:cNvSpPr>
            <a:spLocks xmlns:a="http://schemas.openxmlformats.org/drawingml/2006/main" noGrp="1"/>
          </p:cNvSpPr>
          <p:nvPr/>
        </p:nvSpPr>
        <p:spPr>
          <a:xfrm xmlns:a="http://schemas.openxmlformats.org/drawingml/2006/main">
            <a:off x="685800" y="281940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02</a:t>
            </a:r>
          </a:p>
        </p:txBody>
      </p:sp>
      <p:sp>
        <p:nvSpPr>
          <p:cNvPr id="7" name="Check the assigned card">
            <a:extLst xmlns:a="http://schemas.openxmlformats.org/drawingml/2006/main">
              <a:ext uri="{FF2B5EF4-FFF2-40B4-BE49-F238E27FC236}">
                <a16:creationId xmlns:a16="http://schemas.microsoft.com/office/drawing/2014/main" id="{799D8683-1713-4834-96D5-4F21AC944DF8}"/>
              </a:ext>
            </a:extLst>
          </p:cNvPr>
          <p:cNvSpPr>
            <a:spLocks xmlns:a="http://schemas.openxmlformats.org/drawingml/2006/main" noGrp="1"/>
          </p:cNvSpPr>
          <p:nvPr/>
        </p:nvSpPr>
        <p:spPr>
          <a:xfrm xmlns:a="http://schemas.openxmlformats.org/drawingml/2006/main">
            <a:off x="1314450" y="2819400"/>
            <a:ext cx="560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3EA"/>
                </a:solidFill>
                <a:latin typeface="Segoe UI"/>
                <a:ea typeface="Segoe UI"/>
                <a:cs typeface="Segoe UI"/>
              </a:defRPr>
            </a:defPPr>
          </a:lstStyle>
          <a:p xmlns:a="http://schemas.openxmlformats.org/drawingml/2006/main">
            <a:pPr algn="l">
              <a:buNone/>
              <a:defRPr sz="1950" b="0">
                <a:solidFill>
                  <a:srgbClr val="F2F3EA"/>
                </a:solidFill>
                <a:latin typeface="Segoe UI"/>
                <a:ea typeface="Segoe UI"/>
                <a:cs typeface="Segoe UI"/>
              </a:defRPr>
            </a:pPr>
            <a:r>
              <a:rPr sz="1950" b="0">
                <a:solidFill>
                  <a:srgbClr val="F2F3EA"/>
                </a:solidFill>
                <a:latin typeface="Segoe UI"/>
                <a:ea typeface="Segoe UI"/>
                <a:cs typeface="Segoe UI"/>
              </a:rPr>
              <a:t>Check the assigned card</a:t>
            </a:r>
          </a:p>
        </p:txBody>
      </p:sp>
      <p:sp>
        <p:nvSpPr>
          <p:cNvPr id="8" name="03">
            <a:extLst xmlns:a="http://schemas.openxmlformats.org/drawingml/2006/main">
              <a:ext uri="{FF2B5EF4-FFF2-40B4-BE49-F238E27FC236}">
                <a16:creationId xmlns:a16="http://schemas.microsoft.com/office/drawing/2014/main" id="{234EA501-9454-4A9F-B0B6-817DEE5BC26B}"/>
              </a:ext>
            </a:extLst>
          </p:cNvPr>
          <p:cNvSpPr>
            <a:spLocks xmlns:a="http://schemas.openxmlformats.org/drawingml/2006/main" noGrp="1"/>
          </p:cNvSpPr>
          <p:nvPr/>
        </p:nvSpPr>
        <p:spPr>
          <a:xfrm xmlns:a="http://schemas.openxmlformats.org/drawingml/2006/main">
            <a:off x="685800" y="3381375"/>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03</a:t>
            </a:r>
          </a:p>
        </p:txBody>
      </p:sp>
      <p:sp>
        <p:nvSpPr>
          <p:cNvPr id="9" name="Look for the same request ID">
            <a:extLst xmlns:a="http://schemas.openxmlformats.org/drawingml/2006/main">
              <a:ext uri="{FF2B5EF4-FFF2-40B4-BE49-F238E27FC236}">
                <a16:creationId xmlns:a16="http://schemas.microsoft.com/office/drawing/2014/main" id="{079803A2-F7A0-494D-B3B9-9A879995B8C4}"/>
              </a:ext>
            </a:extLst>
          </p:cNvPr>
          <p:cNvSpPr>
            <a:spLocks xmlns:a="http://schemas.openxmlformats.org/drawingml/2006/main" noGrp="1"/>
          </p:cNvSpPr>
          <p:nvPr/>
        </p:nvSpPr>
        <p:spPr>
          <a:xfrm xmlns:a="http://schemas.openxmlformats.org/drawingml/2006/main">
            <a:off x="1314450" y="3381375"/>
            <a:ext cx="560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3EA"/>
                </a:solidFill>
                <a:latin typeface="Segoe UI"/>
                <a:ea typeface="Segoe UI"/>
                <a:cs typeface="Segoe UI"/>
              </a:defRPr>
            </a:defPPr>
          </a:lstStyle>
          <a:p xmlns:a="http://schemas.openxmlformats.org/drawingml/2006/main">
            <a:pPr algn="l">
              <a:buNone/>
              <a:defRPr sz="1950" b="0">
                <a:solidFill>
                  <a:srgbClr val="F2F3EA"/>
                </a:solidFill>
                <a:latin typeface="Segoe UI"/>
                <a:ea typeface="Segoe UI"/>
                <a:cs typeface="Segoe UI"/>
              </a:defRPr>
            </a:pPr>
            <a:r>
              <a:rPr sz="1950" b="0">
                <a:solidFill>
                  <a:srgbClr val="F2F3EA"/>
                </a:solidFill>
                <a:latin typeface="Segoe UI"/>
                <a:ea typeface="Segoe UI"/>
                <a:cs typeface="Segoe UI"/>
              </a:rPr>
              <a:t>Look for the same request ID</a:t>
            </a:r>
          </a:p>
        </p:txBody>
      </p:sp>
      <p:sp>
        <p:nvSpPr>
          <p:cNvPr id="10" name="04">
            <a:extLst xmlns:a="http://schemas.openxmlformats.org/drawingml/2006/main">
              <a:ext uri="{FF2B5EF4-FFF2-40B4-BE49-F238E27FC236}">
                <a16:creationId xmlns:a16="http://schemas.microsoft.com/office/drawing/2014/main" id="{F92C37EB-E412-4735-A931-1671F4E96CA3}"/>
              </a:ext>
            </a:extLst>
          </p:cNvPr>
          <p:cNvSpPr>
            <a:spLocks xmlns:a="http://schemas.openxmlformats.org/drawingml/2006/main" noGrp="1"/>
          </p:cNvSpPr>
          <p:nvPr/>
        </p:nvSpPr>
        <p:spPr>
          <a:xfrm xmlns:a="http://schemas.openxmlformats.org/drawingml/2006/main">
            <a:off x="685800" y="39433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04</a:t>
            </a:r>
          </a:p>
        </p:txBody>
      </p:sp>
      <p:sp>
        <p:nvSpPr>
          <p:cNvPr id="11" name="Check expiry, account status, and credit">
            <a:extLst xmlns:a="http://schemas.openxmlformats.org/drawingml/2006/main">
              <a:ext uri="{FF2B5EF4-FFF2-40B4-BE49-F238E27FC236}">
                <a16:creationId xmlns:a16="http://schemas.microsoft.com/office/drawing/2014/main" id="{989B829F-48C8-420D-B6A2-DBA9C681E96D}"/>
              </a:ext>
            </a:extLst>
          </p:cNvPr>
          <p:cNvSpPr>
            <a:spLocks xmlns:a="http://schemas.openxmlformats.org/drawingml/2006/main" noGrp="1"/>
          </p:cNvSpPr>
          <p:nvPr/>
        </p:nvSpPr>
        <p:spPr>
          <a:xfrm xmlns:a="http://schemas.openxmlformats.org/drawingml/2006/main">
            <a:off x="1314450" y="3943350"/>
            <a:ext cx="560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3EA"/>
                </a:solidFill>
                <a:latin typeface="Segoe UI"/>
                <a:ea typeface="Segoe UI"/>
                <a:cs typeface="Segoe UI"/>
              </a:defRPr>
            </a:defPPr>
          </a:lstStyle>
          <a:p xmlns:a="http://schemas.openxmlformats.org/drawingml/2006/main">
            <a:pPr algn="l">
              <a:buNone/>
              <a:defRPr sz="1950" b="0">
                <a:solidFill>
                  <a:srgbClr val="F2F3EA"/>
                </a:solidFill>
                <a:latin typeface="Segoe UI"/>
                <a:ea typeface="Segoe UI"/>
                <a:cs typeface="Segoe UI"/>
              </a:defRPr>
            </a:pPr>
            <a:r>
              <a:rPr sz="1950" b="0">
                <a:solidFill>
                  <a:srgbClr val="F2F3EA"/>
                </a:solidFill>
                <a:latin typeface="Segoe UI"/>
                <a:ea typeface="Segoe UI"/>
                <a:cs typeface="Segoe UI"/>
              </a:rPr>
              <a:t>Check expiry, account status, and credit</a:t>
            </a:r>
          </a:p>
        </p:txBody>
      </p:sp>
      <p:sp>
        <p:nvSpPr>
          <p:cNvPr id="12" name="05">
            <a:extLst xmlns:a="http://schemas.openxmlformats.org/drawingml/2006/main">
              <a:ext uri="{FF2B5EF4-FFF2-40B4-BE49-F238E27FC236}">
                <a16:creationId xmlns:a16="http://schemas.microsoft.com/office/drawing/2014/main" id="{33D41F91-200D-4E99-AEED-2C0F3BB721BE}"/>
              </a:ext>
            </a:extLst>
          </p:cNvPr>
          <p:cNvSpPr>
            <a:spLocks xmlns:a="http://schemas.openxmlformats.org/drawingml/2006/main" noGrp="1"/>
          </p:cNvSpPr>
          <p:nvPr/>
        </p:nvSpPr>
        <p:spPr>
          <a:xfrm xmlns:a="http://schemas.openxmlformats.org/drawingml/2006/main">
            <a:off x="685800" y="4505325"/>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05</a:t>
            </a:r>
          </a:p>
        </p:txBody>
      </p:sp>
      <p:sp>
        <p:nvSpPr>
          <p:cNvPr id="13" name="Approve or decline">
            <a:extLst xmlns:a="http://schemas.openxmlformats.org/drawingml/2006/main">
              <a:ext uri="{FF2B5EF4-FFF2-40B4-BE49-F238E27FC236}">
                <a16:creationId xmlns:a16="http://schemas.microsoft.com/office/drawing/2014/main" id="{DABE7C91-CE26-4597-A268-F9BBA1A9EFFA}"/>
              </a:ext>
            </a:extLst>
          </p:cNvPr>
          <p:cNvSpPr>
            <a:spLocks xmlns:a="http://schemas.openxmlformats.org/drawingml/2006/main" noGrp="1"/>
          </p:cNvSpPr>
          <p:nvPr/>
        </p:nvSpPr>
        <p:spPr>
          <a:xfrm xmlns:a="http://schemas.openxmlformats.org/drawingml/2006/main">
            <a:off x="1314450" y="4505325"/>
            <a:ext cx="560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3EA"/>
                </a:solidFill>
                <a:latin typeface="Segoe UI"/>
                <a:ea typeface="Segoe UI"/>
                <a:cs typeface="Segoe UI"/>
              </a:defRPr>
            </a:defPPr>
          </a:lstStyle>
          <a:p xmlns:a="http://schemas.openxmlformats.org/drawingml/2006/main">
            <a:pPr algn="l">
              <a:buNone/>
              <a:defRPr sz="1950" b="0">
                <a:solidFill>
                  <a:srgbClr val="F2F3EA"/>
                </a:solidFill>
                <a:latin typeface="Segoe UI"/>
                <a:ea typeface="Segoe UI"/>
                <a:cs typeface="Segoe UI"/>
              </a:defRPr>
            </a:pPr>
            <a:r>
              <a:rPr sz="1950" b="0">
                <a:solidFill>
                  <a:srgbClr val="F2F3EA"/>
                </a:solidFill>
                <a:latin typeface="Segoe UI"/>
                <a:ea typeface="Segoe UI"/>
                <a:cs typeface="Segoe UI"/>
              </a:rPr>
              <a:t>Approve or decline</a:t>
            </a:r>
          </a:p>
        </p:txBody>
      </p:sp>
      <p:sp>
        <p:nvSpPr>
          <p:cNvPr id="14" name="06">
            <a:extLst xmlns:a="http://schemas.openxmlformats.org/drawingml/2006/main">
              <a:ext uri="{FF2B5EF4-FFF2-40B4-BE49-F238E27FC236}">
                <a16:creationId xmlns:a16="http://schemas.microsoft.com/office/drawing/2014/main" id="{4455AA68-18F4-4F74-B55F-122E425A1164}"/>
              </a:ext>
            </a:extLst>
          </p:cNvPr>
          <p:cNvSpPr>
            <a:spLocks xmlns:a="http://schemas.openxmlformats.org/drawingml/2006/main" noGrp="1"/>
          </p:cNvSpPr>
          <p:nvPr/>
        </p:nvSpPr>
        <p:spPr>
          <a:xfrm xmlns:a="http://schemas.openxmlformats.org/drawingml/2006/main">
            <a:off x="685800" y="506730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06</a:t>
            </a:r>
          </a:p>
        </p:txBody>
      </p:sp>
      <p:sp>
        <p:nvSpPr>
          <p:cNvPr id="15" name="Save the outcome and balance together">
            <a:extLst xmlns:a="http://schemas.openxmlformats.org/drawingml/2006/main">
              <a:ext uri="{FF2B5EF4-FFF2-40B4-BE49-F238E27FC236}">
                <a16:creationId xmlns:a16="http://schemas.microsoft.com/office/drawing/2014/main" id="{4FA0B1F4-E7FD-4B11-AC3F-3FB6BCB10F77}"/>
              </a:ext>
            </a:extLst>
          </p:cNvPr>
          <p:cNvSpPr>
            <a:spLocks xmlns:a="http://schemas.openxmlformats.org/drawingml/2006/main" noGrp="1"/>
          </p:cNvSpPr>
          <p:nvPr/>
        </p:nvSpPr>
        <p:spPr>
          <a:xfrm xmlns:a="http://schemas.openxmlformats.org/drawingml/2006/main">
            <a:off x="1314450" y="5067300"/>
            <a:ext cx="5600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3EA"/>
                </a:solidFill>
                <a:latin typeface="Segoe UI"/>
                <a:ea typeface="Segoe UI"/>
                <a:cs typeface="Segoe UI"/>
              </a:defRPr>
            </a:defPPr>
          </a:lstStyle>
          <a:p xmlns:a="http://schemas.openxmlformats.org/drawingml/2006/main">
            <a:pPr algn="l">
              <a:buNone/>
              <a:defRPr sz="1950" b="0">
                <a:solidFill>
                  <a:srgbClr val="F2F3EA"/>
                </a:solidFill>
                <a:latin typeface="Segoe UI"/>
                <a:ea typeface="Segoe UI"/>
                <a:cs typeface="Segoe UI"/>
              </a:defRPr>
            </a:pPr>
            <a:r>
              <a:rPr sz="1950" b="0">
                <a:solidFill>
                  <a:srgbClr val="F2F3EA"/>
                </a:solidFill>
                <a:latin typeface="Segoe UI"/>
                <a:ea typeface="Segoe UI"/>
                <a:cs typeface="Segoe UI"/>
              </a:rPr>
              <a:t>Save the outcome and balance together</a:t>
            </a:r>
          </a:p>
        </p:txBody>
      </p:sp>
      <p:sp>
        <p:nvSpPr>
          <p:cNvPr id="16" name="TransactionService">
            <a:extLst xmlns:a="http://schemas.openxmlformats.org/drawingml/2006/main">
              <a:ext uri="{FF2B5EF4-FFF2-40B4-BE49-F238E27FC236}">
                <a16:creationId xmlns:a16="http://schemas.microsoft.com/office/drawing/2014/main" id="{9B0F30FC-F302-4206-AA58-E9865A77E6B1}"/>
              </a:ext>
            </a:extLst>
          </p:cNvPr>
          <p:cNvSpPr>
            <a:spLocks xmlns:a="http://schemas.openxmlformats.org/drawingml/2006/main" noGrp="1"/>
          </p:cNvSpPr>
          <p:nvPr/>
        </p:nvSpPr>
        <p:spPr>
          <a:xfrm xmlns:a="http://schemas.openxmlformats.org/drawingml/2006/main">
            <a:off x="7572375" y="2276475"/>
            <a:ext cx="3924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F58B"/>
                </a:solidFill>
                <a:latin typeface="Segoe UI"/>
                <a:ea typeface="Segoe UI"/>
                <a:cs typeface="Segoe UI"/>
              </a:defRPr>
            </a:defPPr>
          </a:lstStyle>
          <a:p xmlns:a="http://schemas.openxmlformats.org/drawingml/2006/main">
            <a:pPr algn="l">
              <a:buNone/>
              <a:defRPr sz="2250" b="1">
                <a:solidFill>
                  <a:srgbClr val="D6F58B"/>
                </a:solidFill>
                <a:latin typeface="Segoe UI"/>
                <a:ea typeface="Segoe UI"/>
                <a:cs typeface="Segoe UI"/>
              </a:defRPr>
            </a:pPr>
            <a:r>
              <a:rPr sz="2250" b="1">
                <a:solidFill>
                  <a:srgbClr val="D6F58B"/>
                </a:solidFill>
                <a:latin typeface="Segoe UI"/>
                <a:ea typeface="Segoe UI"/>
                <a:cs typeface="Segoe UI"/>
              </a:rPr>
              <a:t>TransactionService</a:t>
            </a:r>
          </a:p>
        </p:txBody>
      </p:sp>
      <p:sp>
        <p:nvSpPr>
          <p:cNvPr id="17" name="The service connects each history&#10;record t">
            <a:extLst xmlns:a="http://schemas.openxmlformats.org/drawingml/2006/main">
              <a:ext uri="{FF2B5EF4-FFF2-40B4-BE49-F238E27FC236}">
                <a16:creationId xmlns:a16="http://schemas.microsoft.com/office/drawing/2014/main" id="{73D0E04F-2E3E-44DC-A5CE-A602F4BB0966}"/>
              </a:ext>
            </a:extLst>
          </p:cNvPr>
          <p:cNvSpPr>
            <a:spLocks xmlns:a="http://schemas.openxmlformats.org/drawingml/2006/main" noGrp="1"/>
          </p:cNvSpPr>
          <p:nvPr/>
        </p:nvSpPr>
        <p:spPr>
          <a:xfrm xmlns:a="http://schemas.openxmlformats.org/drawingml/2006/main">
            <a:off x="7572375" y="2924175"/>
            <a:ext cx="39147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CB6AB"/>
                </a:solidFill>
                <a:latin typeface="Segoe UI"/>
                <a:ea typeface="Segoe UI"/>
                <a:cs typeface="Segoe UI"/>
              </a:defRPr>
            </a:defPPr>
          </a:lstStyle>
          <a:p xmlns:a="http://schemas.openxmlformats.org/drawingml/2006/main">
            <a:pPr algn="l">
              <a:buNone/>
              <a:defRPr sz="1950" b="0">
                <a:solidFill>
                  <a:srgbClr val="ACB6AB"/>
                </a:solidFill>
                <a:latin typeface="Segoe UI"/>
                <a:ea typeface="Segoe UI"/>
                <a:cs typeface="Segoe UI"/>
              </a:defRPr>
            </a:pPr>
            <a:r>
              <a:rPr sz="1950" b="0">
                <a:solidFill>
                  <a:srgbClr val="ACB6AB"/>
                </a:solidFill>
                <a:latin typeface="Segoe UI"/>
                <a:ea typeface="Segoe UI"/>
                <a:cs typeface="Segoe UI"/>
              </a:rPr>
              <a:t>The service connects each history</a:t>
            </a:r>
          </a:p>
          <a:p xmlns:a="http://schemas.openxmlformats.org/drawingml/2006/main">
            <a:pPr algn="l">
              <a:buNone/>
              <a:defRPr sz="1950" b="0">
                <a:solidFill>
                  <a:srgbClr val="ACB6AB"/>
                </a:solidFill>
                <a:latin typeface="Segoe UI"/>
                <a:ea typeface="Segoe UI"/>
                <a:cs typeface="Segoe UI"/>
              </a:defRPr>
            </a:pPr>
            <a:r>
              <a:rPr sz="1950" b="0">
                <a:solidFill>
                  <a:srgbClr val="ACB6AB"/>
                </a:solidFill>
                <a:latin typeface="Segoe UI"/>
                <a:ea typeface="Segoe UI"/>
                <a:cs typeface="Segoe UI"/>
              </a:rPr>
              <a:t>record to the checked account</a:t>
            </a:r>
          </a:p>
          <a:p xmlns:a="http://schemas.openxmlformats.org/drawingml/2006/main">
            <a:pPr algn="l">
              <a:buNone/>
              <a:defRPr sz="1950" b="0">
                <a:solidFill>
                  <a:srgbClr val="ACB6AB"/>
                </a:solidFill>
                <a:latin typeface="Segoe UI"/>
                <a:ea typeface="Segoe UI"/>
                <a:cs typeface="Segoe UI"/>
              </a:defRPr>
            </a:pPr>
            <a:r>
              <a:rPr sz="1950" b="0">
                <a:solidFill>
                  <a:srgbClr val="ACB6AB"/>
                </a:solidFill>
                <a:latin typeface="Segoe UI"/>
                <a:ea typeface="Segoe UI"/>
                <a:cs typeface="Segoe UI"/>
              </a:rPr>
              <a:t>and assigned card.</a:t>
            </a:r>
          </a:p>
        </p:txBody>
      </p:sp>
      <p:sp>
        <p:nvSpPr>
          <p:cNvPr id="18" name="transaction.setAccount(&#10;    customerAccoun">
            <a:extLst xmlns:a="http://schemas.openxmlformats.org/drawingml/2006/main">
              <a:ext uri="{FF2B5EF4-FFF2-40B4-BE49-F238E27FC236}">
                <a16:creationId xmlns:a16="http://schemas.microsoft.com/office/drawing/2014/main" id="{EBFC343F-2FA5-4C87-BC95-79A0913E3066}"/>
              </a:ext>
            </a:extLst>
          </p:cNvPr>
          <p:cNvSpPr>
            <a:spLocks xmlns:a="http://schemas.openxmlformats.org/drawingml/2006/main" noGrp="1"/>
          </p:cNvSpPr>
          <p:nvPr/>
        </p:nvSpPr>
        <p:spPr>
          <a:xfrm xmlns:a="http://schemas.openxmlformats.org/drawingml/2006/main">
            <a:off x="7572375" y="4343400"/>
            <a:ext cx="39528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2F3EA"/>
                </a:solidFill>
                <a:latin typeface="Consolas"/>
                <a:ea typeface="Consolas"/>
                <a:cs typeface="Consolas"/>
              </a:defRPr>
            </a:defPPr>
          </a:lstStyle>
          <a:p xmlns:a="http://schemas.openxmlformats.org/drawingml/2006/main">
            <a:pPr algn="l">
              <a:buNone/>
              <a:defRPr sz="1725" b="0">
                <a:solidFill>
                  <a:srgbClr val="F2F3EA"/>
                </a:solidFill>
                <a:latin typeface="Consolas"/>
                <a:ea typeface="Consolas"/>
                <a:cs typeface="Consolas"/>
              </a:defRPr>
            </a:pPr>
            <a:r>
              <a:rPr sz="1725" b="0">
                <a:solidFill>
                  <a:srgbClr val="F2F3EA"/>
                </a:solidFill>
                <a:latin typeface="Consolas"/>
                <a:ea typeface="Consolas"/>
                <a:cs typeface="Consolas"/>
              </a:rPr>
              <a:t>transaction.setAccount(</a:t>
            </a:r>
          </a:p>
          <a:p xmlns:a="http://schemas.openxmlformats.org/drawingml/2006/main">
            <a:pPr algn="l">
              <a:buNone/>
              <a:defRPr sz="1725" b="0">
                <a:solidFill>
                  <a:srgbClr val="F2F3EA"/>
                </a:solidFill>
                <a:latin typeface="Consolas"/>
                <a:ea typeface="Consolas"/>
                <a:cs typeface="Consolas"/>
              </a:defRPr>
            </a:pPr>
            <a:r>
              <a:rPr sz="1725" b="0">
                <a:solidFill>
                  <a:srgbClr val="F2F3EA"/>
                </a:solidFill>
                <a:latin typeface="Consolas"/>
                <a:ea typeface="Consolas"/>
                <a:cs typeface="Consolas"/>
              </a:rPr>
              <a:t>    customerAccount);</a:t>
            </a:r>
          </a:p>
          <a:p xmlns:a="http://schemas.openxmlformats.org/drawingml/2006/main">
            <a:pPr algn="l">
              <a:buNone/>
              <a:defRPr sz="1725" b="0">
                <a:solidFill>
                  <a:srgbClr val="F2F3EA"/>
                </a:solidFill>
                <a:latin typeface="Consolas"/>
                <a:ea typeface="Consolas"/>
                <a:cs typeface="Consolas"/>
              </a:defRPr>
            </a:pPr>
            <a:r>
              <a:rPr sz="1725" b="0">
                <a:solidFill>
                  <a:srgbClr val="F2F3EA"/>
                </a:solidFill>
                <a:latin typeface="Consolas"/>
                <a:ea typeface="Consolas"/>
                <a:cs typeface="Consolas"/>
              </a:rPr>
              <a:t>transaction.setCard(</a:t>
            </a:r>
          </a:p>
          <a:p xmlns:a="http://schemas.openxmlformats.org/drawingml/2006/main">
            <a:pPr algn="l">
              <a:buNone/>
              <a:defRPr sz="1725" b="0">
                <a:solidFill>
                  <a:srgbClr val="F2F3EA"/>
                </a:solidFill>
                <a:latin typeface="Consolas"/>
                <a:ea typeface="Consolas"/>
                <a:cs typeface="Consolas"/>
              </a:defRPr>
            </a:pPr>
            <a:r>
              <a:rPr sz="1725" b="0">
                <a:solidFill>
                  <a:srgbClr val="F2F3EA"/>
                </a:solidFill>
                <a:latin typeface="Consolas"/>
                <a:ea typeface="Consolas"/>
                <a:cs typeface="Consolas"/>
              </a:rPr>
              <a:t>    assignedCard);</a:t>
            </a:r>
          </a:p>
        </p:txBody>
      </p:sp>
    </p:spTree>
    <p:extLst>
      <p:ext uri="{BB962C8B-B14F-4D97-AF65-F5344CB8AC3E}">
        <p14:creationId xmlns:p14="http://schemas.microsoft.com/office/powerpoint/2010/main" val="1957417224"/>
      </p:ext>
    </p:extLst>
  </p:cSld>
</p:sld>
</file>

<file path=ppt/slides/slide6.xml><?xml version="1.0" encoding="utf-8"?>
<p:sld xmlns:p="http://schemas.openxmlformats.org/presentationml/2006/main">
  <p:cSld>
    <p:bg>
      <p:bgPr>
        <a:solidFill xmlns:a="http://schemas.openxmlformats.org/drawingml/2006/main">
          <a:srgbClr val="E7EBD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4140034-4F70-4535-9789-4A15511790CB}"/>
              </a:ext>
            </a:extLst>
          </p:cNvPr>
          <p:cNvCxnSpPr>
            <a:stCxn xmlns:a="http://schemas.openxmlformats.org/drawingml/2006/main" id="10" idx="2"/>
            <a:endCxn xmlns:a="http://schemas.openxmlformats.org/drawingml/2006/main" id="17" idx="3"/>
          </p:cNvCxnSpPr>
          <p:nvPr/>
        </p:nvCxnSpPr>
        <p:spPr>
          <a:xfrm xmlns:a="http://schemas.openxmlformats.org/drawingml/2006/main" flipH="1">
            <a:off x="8039100" y="3771900"/>
            <a:ext cx="2228850" cy="1524000"/>
          </a:xfrm>
          <a:prstGeom xmlns:a="http://schemas.openxmlformats.org/drawingml/2006/main" prst="bentConnector5">
            <a:avLst>
              <a:gd name="adj1" fmla="val 0"/>
              <a:gd name="adj2" fmla="val 15000"/>
              <a:gd name="adj3" fmla="val 74359"/>
            </a:avLst>
          </a:prstGeom>
          <a:ln xmlns:a="http://schemas.openxmlformats.org/drawingml/2006/main" w="19050">
            <a:solidFill>
              <a:srgbClr val="53634B"/>
            </a:solidFill>
            <a:tailEnd type="triangle" w="med" len="med"/>
          </a:ln>
        </p:spPr>
      </p:cxnSp>
      <p:cxnSp>
        <p:nvCxnSpPr>
          <p:cNvPr id="20" name="">
            <a:extLst xmlns:a="http://schemas.openxmlformats.org/drawingml/2006/main">
              <a:ext uri="{FF2B5EF4-FFF2-40B4-BE49-F238E27FC236}">
                <a16:creationId xmlns:a16="http://schemas.microsoft.com/office/drawing/2014/main" id="{884C2226-3EA2-4FD9-92CD-C35E73AC174D}"/>
              </a:ext>
            </a:extLst>
          </p:cNvPr>
          <p:cNvCxnSpPr>
            <a:stCxn xmlns:a="http://schemas.openxmlformats.org/drawingml/2006/main" id="7" idx="2"/>
            <a:endCxn xmlns:a="http://schemas.openxmlformats.org/drawingml/2006/main" id="17" idx="0"/>
          </p:cNvCxnSpPr>
          <p:nvPr/>
        </p:nvCxnSpPr>
        <p:spPr>
          <a:xfrm xmlns:a="http://schemas.openxmlformats.org/drawingml/2006/main">
            <a:off x="6086475" y="3771900"/>
            <a:ext cx="0" cy="885825"/>
          </a:xfrm>
          <a:prstGeom xmlns:a="http://schemas.openxmlformats.org/drawingml/2006/main" prst="straightConnector1">
            <a:avLst/>
          </a:prstGeom>
          <a:ln xmlns:a="http://schemas.openxmlformats.org/drawingml/2006/main" w="19050">
            <a:solidFill>
              <a:srgbClr val="53634B"/>
            </a:solidFill>
            <a:tailEnd type="triangle" w="med" len="med"/>
          </a:ln>
        </p:spPr>
      </p:cxnSp>
      <p:cxnSp>
        <p:nvCxnSpPr>
          <p:cNvPr id="14" name="">
            <a:extLst xmlns:a="http://schemas.openxmlformats.org/drawingml/2006/main">
              <a:ext uri="{FF2B5EF4-FFF2-40B4-BE49-F238E27FC236}">
                <a16:creationId xmlns:a16="http://schemas.microsoft.com/office/drawing/2014/main" id="{841D099F-B470-40A8-9CB4-AF20CF742203}"/>
              </a:ext>
            </a:extLst>
          </p:cNvPr>
          <p:cNvCxnSpPr>
            <a:stCxn xmlns:a="http://schemas.openxmlformats.org/drawingml/2006/main" id="7" idx="3"/>
            <a:endCxn xmlns:a="http://schemas.openxmlformats.org/drawingml/2006/main" id="10" idx="1"/>
          </p:cNvCxnSpPr>
          <p:nvPr/>
        </p:nvCxnSpPr>
        <p:spPr>
          <a:xfrm xmlns:a="http://schemas.openxmlformats.org/drawingml/2006/main">
            <a:off x="7543800" y="3133725"/>
            <a:ext cx="1485900" cy="0"/>
          </a:xfrm>
          <a:prstGeom xmlns:a="http://schemas.openxmlformats.org/drawingml/2006/main" prst="straightConnector1">
            <a:avLst/>
          </a:prstGeom>
          <a:ln xmlns:a="http://schemas.openxmlformats.org/drawingml/2006/main" w="19050">
            <a:solidFill>
              <a:srgbClr val="53634B"/>
            </a:solidFill>
            <a:tailEnd type="triangle" w="med" len="med"/>
          </a:ln>
        </p:spPr>
      </p:cxnSp>
      <p:cxnSp>
        <p:nvCxnSpPr>
          <p:cNvPr id="13" name="">
            <a:extLst xmlns:a="http://schemas.openxmlformats.org/drawingml/2006/main">
              <a:ext uri="{FF2B5EF4-FFF2-40B4-BE49-F238E27FC236}">
                <a16:creationId xmlns:a16="http://schemas.microsoft.com/office/drawing/2014/main" id="{B1056CF4-70FC-4475-B331-E3CA28BC6F91}"/>
              </a:ext>
            </a:extLst>
          </p:cNvPr>
          <p:cNvCxnSpPr>
            <a:stCxn xmlns:a="http://schemas.openxmlformats.org/drawingml/2006/main" id="4" idx="3"/>
            <a:endCxn xmlns:a="http://schemas.openxmlformats.org/drawingml/2006/main" id="7" idx="1"/>
          </p:cNvCxnSpPr>
          <p:nvPr/>
        </p:nvCxnSpPr>
        <p:spPr>
          <a:xfrm xmlns:a="http://schemas.openxmlformats.org/drawingml/2006/main">
            <a:off x="3162300" y="3133725"/>
            <a:ext cx="1466850" cy="0"/>
          </a:xfrm>
          <a:prstGeom xmlns:a="http://schemas.openxmlformats.org/drawingml/2006/main" prst="straightConnector1">
            <a:avLst/>
          </a:prstGeom>
          <a:ln xmlns:a="http://schemas.openxmlformats.org/drawingml/2006/main" w="19050">
            <a:solidFill>
              <a:srgbClr val="53634B"/>
            </a:solidFill>
            <a:tailEnd type="triangle" w="med" len="med"/>
          </a:ln>
        </p:spPr>
      </p:cxnSp>
      <p:sp>
        <p:nvSpPr>
          <p:cNvPr id="26" name="06">
            <a:extLst xmlns:a="http://schemas.openxmlformats.org/drawingml/2006/main">
              <a:ext uri="{FF2B5EF4-FFF2-40B4-BE49-F238E27FC236}">
                <a16:creationId xmlns:a16="http://schemas.microsoft.com/office/drawing/2014/main" id="{C4168037-C12A-4431-A19E-DA3795BF3614}"/>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4B"/>
                </a:solidFill>
                <a:latin typeface="Consolas"/>
                <a:ea typeface="Consolas"/>
                <a:cs typeface="Consolas"/>
              </a:defRPr>
            </a:defPPr>
          </a:lstStyle>
          <a:p xmlns:a="http://schemas.openxmlformats.org/drawingml/2006/main">
            <a:pPr algn="r">
              <a:buNone/>
              <a:defRPr sz="1350" b="0">
                <a:solidFill>
                  <a:srgbClr val="53634B"/>
                </a:solidFill>
                <a:latin typeface="Consolas"/>
                <a:ea typeface="Consolas"/>
                <a:cs typeface="Consolas"/>
              </a:defRPr>
            </a:pPr>
            <a:r>
              <a:rPr sz="1350" b="0">
                <a:solidFill>
                  <a:srgbClr val="53634B"/>
                </a:solidFill>
                <a:latin typeface="Consolas"/>
                <a:ea typeface="Consolas"/>
                <a:cs typeface="Consolas"/>
              </a:rPr>
              <a:t>06</a:t>
            </a:r>
          </a:p>
        </p:txBody>
      </p:sp>
      <p:sp>
        <p:nvSpPr>
          <p:cNvPr id="2" name="DATABASE">
            <a:extLst xmlns:a="http://schemas.openxmlformats.org/drawingml/2006/main">
              <a:ext uri="{FF2B5EF4-FFF2-40B4-BE49-F238E27FC236}">
                <a16:creationId xmlns:a16="http://schemas.microsoft.com/office/drawing/2014/main" id="{E8201F6F-1FC6-428B-B52C-CEC014A5ABA4}"/>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4B"/>
                </a:solidFill>
                <a:latin typeface="Consolas"/>
                <a:ea typeface="Consolas"/>
                <a:cs typeface="Consolas"/>
              </a:defRPr>
            </a:defPPr>
          </a:lstStyle>
          <a:p xmlns:a="http://schemas.openxmlformats.org/drawingml/2006/main">
            <a:pPr algn="l">
              <a:buNone/>
              <a:defRPr sz="1425" b="0">
                <a:solidFill>
                  <a:srgbClr val="53634B"/>
                </a:solidFill>
                <a:latin typeface="Consolas"/>
                <a:ea typeface="Consolas"/>
                <a:cs typeface="Consolas"/>
              </a:defRPr>
            </a:pPr>
            <a:r>
              <a:rPr sz="1425" b="0">
                <a:solidFill>
                  <a:srgbClr val="53634B"/>
                </a:solidFill>
                <a:latin typeface="Consolas"/>
                <a:ea typeface="Consolas"/>
                <a:cs typeface="Consolas"/>
              </a:rPr>
              <a:t>DATABASE</a:t>
            </a:r>
          </a:p>
        </p:txBody>
      </p:sp>
      <p:sp>
        <p:nvSpPr>
          <p:cNvPr id="3" name="The relationships">
            <a:extLst xmlns:a="http://schemas.openxmlformats.org/drawingml/2006/main">
              <a:ext uri="{FF2B5EF4-FFF2-40B4-BE49-F238E27FC236}">
                <a16:creationId xmlns:a16="http://schemas.microsoft.com/office/drawing/2014/main" id="{93595B1E-8142-4631-8740-C03969032887}"/>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51C18"/>
                </a:solidFill>
                <a:latin typeface="Segoe UI"/>
                <a:ea typeface="Segoe UI"/>
                <a:cs typeface="Segoe UI"/>
              </a:defRPr>
            </a:defPPr>
          </a:lstStyle>
          <a:p xmlns:a="http://schemas.openxmlformats.org/drawingml/2006/main">
            <a:pPr algn="l">
              <a:buNone/>
              <a:defRPr sz="3975" b="1">
                <a:solidFill>
                  <a:srgbClr val="151C18"/>
                </a:solidFill>
                <a:latin typeface="Segoe UI"/>
                <a:ea typeface="Segoe UI"/>
                <a:cs typeface="Segoe UI"/>
              </a:defRPr>
            </a:pPr>
            <a:r>
              <a:rPr sz="3975" b="1">
                <a:solidFill>
                  <a:srgbClr val="151C18"/>
                </a:solidFill>
                <a:latin typeface="Segoe UI"/>
                <a:ea typeface="Segoe UI"/>
                <a:cs typeface="Segoe UI"/>
              </a:rPr>
              <a:t>The relationships</a:t>
            </a:r>
          </a:p>
        </p:txBody>
      </p:sp>
      <p:sp>
        <p:nvSpPr>
          <p:cNvPr id="4" name="User">
            <a:extLst xmlns:a="http://schemas.openxmlformats.org/drawingml/2006/main">
              <a:ext uri="{FF2B5EF4-FFF2-40B4-BE49-F238E27FC236}">
                <a16:creationId xmlns:a16="http://schemas.microsoft.com/office/drawing/2014/main" id="{09555C02-D2FB-463C-8E7F-126148A9487E}"/>
              </a:ext>
            </a:extLst>
          </p:cNvPr>
          <p:cNvSpPr>
            <a:spLocks xmlns:a="http://schemas.openxmlformats.org/drawingml/2006/main" noGrp="1"/>
          </p:cNvSpPr>
          <p:nvPr/>
        </p:nvSpPr>
        <p:spPr>
          <a:xfrm xmlns:a="http://schemas.openxmlformats.org/drawingml/2006/main">
            <a:off x="685800" y="2495550"/>
            <a:ext cx="2476500" cy="1276350"/>
          </a:xfrm>
          <a:prstGeom xmlns:a="http://schemas.openxmlformats.org/drawingml/2006/main" prst="rect">
            <a:avLst/>
          </a:prstGeom>
          <a:solidFill xmlns:a="http://schemas.openxmlformats.org/drawingml/2006/main">
            <a:srgbClr val="151C18"/>
          </a:solidFill>
          <a:ln xmlns:a="http://schemas.openxmlformats.org/drawingml/2006/main" w="14288">
            <a:solidFill>
              <a:srgbClr val="151C18"/>
            </a:solidFill>
          </a:ln>
        </p:spPr>
      </p:sp>
      <p:sp>
        <p:nvSpPr>
          <p:cNvPr id="5" name="User">
            <a:extLst xmlns:a="http://schemas.openxmlformats.org/drawingml/2006/main">
              <a:ext uri="{FF2B5EF4-FFF2-40B4-BE49-F238E27FC236}">
                <a16:creationId xmlns:a16="http://schemas.microsoft.com/office/drawing/2014/main" id="{BBCE6315-A19C-4B0F-B576-23551A6FB110}"/>
              </a:ext>
            </a:extLst>
          </p:cNvPr>
          <p:cNvSpPr>
            <a:spLocks xmlns:a="http://schemas.openxmlformats.org/drawingml/2006/main" noGrp="1"/>
          </p:cNvSpPr>
          <p:nvPr/>
        </p:nvSpPr>
        <p:spPr>
          <a:xfrm xmlns:a="http://schemas.openxmlformats.org/drawingml/2006/main">
            <a:off x="857250" y="2667000"/>
            <a:ext cx="2133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User</a:t>
            </a:r>
          </a:p>
        </p:txBody>
      </p:sp>
      <p:sp>
        <p:nvSpPr>
          <p:cNvPr id="6" name="Customer identity">
            <a:extLst xmlns:a="http://schemas.openxmlformats.org/drawingml/2006/main">
              <a:ext uri="{FF2B5EF4-FFF2-40B4-BE49-F238E27FC236}">
                <a16:creationId xmlns:a16="http://schemas.microsoft.com/office/drawing/2014/main" id="{2B8C04A7-A649-4A97-882D-45D9F3E6CAB7}"/>
              </a:ext>
            </a:extLst>
          </p:cNvPr>
          <p:cNvSpPr>
            <a:spLocks xmlns:a="http://schemas.openxmlformats.org/drawingml/2006/main" noGrp="1"/>
          </p:cNvSpPr>
          <p:nvPr/>
        </p:nvSpPr>
        <p:spPr>
          <a:xfrm xmlns:a="http://schemas.openxmlformats.org/drawingml/2006/main">
            <a:off x="857250" y="3124200"/>
            <a:ext cx="213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Customer identity</a:t>
            </a:r>
          </a:p>
        </p:txBody>
      </p:sp>
      <p:sp>
        <p:nvSpPr>
          <p:cNvPr id="7" name="Credit account">
            <a:extLst xmlns:a="http://schemas.openxmlformats.org/drawingml/2006/main">
              <a:ext uri="{FF2B5EF4-FFF2-40B4-BE49-F238E27FC236}">
                <a16:creationId xmlns:a16="http://schemas.microsoft.com/office/drawing/2014/main" id="{26FF774B-B637-48B0-8E87-58E063D5477B}"/>
              </a:ext>
            </a:extLst>
          </p:cNvPr>
          <p:cNvSpPr>
            <a:spLocks xmlns:a="http://schemas.openxmlformats.org/drawingml/2006/main" noGrp="1"/>
          </p:cNvSpPr>
          <p:nvPr/>
        </p:nvSpPr>
        <p:spPr>
          <a:xfrm xmlns:a="http://schemas.openxmlformats.org/drawingml/2006/main">
            <a:off x="4629150" y="2495550"/>
            <a:ext cx="2914650" cy="1276350"/>
          </a:xfrm>
          <a:prstGeom xmlns:a="http://schemas.openxmlformats.org/drawingml/2006/main" prst="rect">
            <a:avLst/>
          </a:prstGeom>
          <a:solidFill xmlns:a="http://schemas.openxmlformats.org/drawingml/2006/main">
            <a:srgbClr val="151C18"/>
          </a:solidFill>
          <a:ln xmlns:a="http://schemas.openxmlformats.org/drawingml/2006/main" w="14288">
            <a:solidFill>
              <a:srgbClr val="151C18"/>
            </a:solidFill>
          </a:ln>
        </p:spPr>
      </p:sp>
      <p:sp>
        <p:nvSpPr>
          <p:cNvPr id="8" name="Credit account">
            <a:extLst xmlns:a="http://schemas.openxmlformats.org/drawingml/2006/main">
              <a:ext uri="{FF2B5EF4-FFF2-40B4-BE49-F238E27FC236}">
                <a16:creationId xmlns:a16="http://schemas.microsoft.com/office/drawing/2014/main" id="{4EA6B746-6D84-4F88-8896-9A95ECD03D57}"/>
              </a:ext>
            </a:extLst>
          </p:cNvPr>
          <p:cNvSpPr>
            <a:spLocks xmlns:a="http://schemas.openxmlformats.org/drawingml/2006/main" noGrp="1"/>
          </p:cNvSpPr>
          <p:nvPr/>
        </p:nvSpPr>
        <p:spPr>
          <a:xfrm xmlns:a="http://schemas.openxmlformats.org/drawingml/2006/main">
            <a:off x="4800600" y="266700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Credit account</a:t>
            </a:r>
          </a:p>
        </p:txBody>
      </p:sp>
      <p:sp>
        <p:nvSpPr>
          <p:cNvPr id="9" name="Limit, balance, status">
            <a:extLst xmlns:a="http://schemas.openxmlformats.org/drawingml/2006/main">
              <a:ext uri="{FF2B5EF4-FFF2-40B4-BE49-F238E27FC236}">
                <a16:creationId xmlns:a16="http://schemas.microsoft.com/office/drawing/2014/main" id="{44D56A94-4CFC-4AEB-8ECC-6BD07E5AD217}"/>
              </a:ext>
            </a:extLst>
          </p:cNvPr>
          <p:cNvSpPr>
            <a:spLocks xmlns:a="http://schemas.openxmlformats.org/drawingml/2006/main" noGrp="1"/>
          </p:cNvSpPr>
          <p:nvPr/>
        </p:nvSpPr>
        <p:spPr>
          <a:xfrm xmlns:a="http://schemas.openxmlformats.org/drawingml/2006/main">
            <a:off x="4800600" y="31242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Limit, balance, status</a:t>
            </a:r>
          </a:p>
        </p:txBody>
      </p:sp>
      <p:sp>
        <p:nvSpPr>
          <p:cNvPr id="10" name="Fictional card">
            <a:extLst xmlns:a="http://schemas.openxmlformats.org/drawingml/2006/main">
              <a:ext uri="{FF2B5EF4-FFF2-40B4-BE49-F238E27FC236}">
                <a16:creationId xmlns:a16="http://schemas.microsoft.com/office/drawing/2014/main" id="{92DB95A9-0053-47CE-9984-6CE651CBB743}"/>
              </a:ext>
            </a:extLst>
          </p:cNvPr>
          <p:cNvSpPr>
            <a:spLocks xmlns:a="http://schemas.openxmlformats.org/drawingml/2006/main" noGrp="1"/>
          </p:cNvSpPr>
          <p:nvPr/>
        </p:nvSpPr>
        <p:spPr>
          <a:xfrm xmlns:a="http://schemas.openxmlformats.org/drawingml/2006/main">
            <a:off x="9029700" y="2495550"/>
            <a:ext cx="2476500" cy="1276350"/>
          </a:xfrm>
          <a:prstGeom xmlns:a="http://schemas.openxmlformats.org/drawingml/2006/main" prst="rect">
            <a:avLst/>
          </a:prstGeom>
          <a:solidFill xmlns:a="http://schemas.openxmlformats.org/drawingml/2006/main">
            <a:srgbClr val="151C18"/>
          </a:solidFill>
          <a:ln xmlns:a="http://schemas.openxmlformats.org/drawingml/2006/main" w="14288">
            <a:solidFill>
              <a:srgbClr val="151C18"/>
            </a:solidFill>
          </a:ln>
        </p:spPr>
      </p:sp>
      <p:sp>
        <p:nvSpPr>
          <p:cNvPr id="11" name="Fictional card">
            <a:extLst xmlns:a="http://schemas.openxmlformats.org/drawingml/2006/main">
              <a:ext uri="{FF2B5EF4-FFF2-40B4-BE49-F238E27FC236}">
                <a16:creationId xmlns:a16="http://schemas.microsoft.com/office/drawing/2014/main" id="{05E4349B-7C26-4B99-A96F-1C389AE44DD6}"/>
              </a:ext>
            </a:extLst>
          </p:cNvPr>
          <p:cNvSpPr>
            <a:spLocks xmlns:a="http://schemas.openxmlformats.org/drawingml/2006/main" noGrp="1"/>
          </p:cNvSpPr>
          <p:nvPr/>
        </p:nvSpPr>
        <p:spPr>
          <a:xfrm xmlns:a="http://schemas.openxmlformats.org/drawingml/2006/main">
            <a:off x="9201150" y="2667000"/>
            <a:ext cx="2133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Fictional card</a:t>
            </a:r>
          </a:p>
        </p:txBody>
      </p:sp>
      <p:sp>
        <p:nvSpPr>
          <p:cNvPr id="12" name="Assigned to the account">
            <a:extLst xmlns:a="http://schemas.openxmlformats.org/drawingml/2006/main">
              <a:ext uri="{FF2B5EF4-FFF2-40B4-BE49-F238E27FC236}">
                <a16:creationId xmlns:a16="http://schemas.microsoft.com/office/drawing/2014/main" id="{FA499F05-8E29-4375-A3C8-4CBFCD0A33F7}"/>
              </a:ext>
            </a:extLst>
          </p:cNvPr>
          <p:cNvSpPr>
            <a:spLocks xmlns:a="http://schemas.openxmlformats.org/drawingml/2006/main" noGrp="1"/>
          </p:cNvSpPr>
          <p:nvPr/>
        </p:nvSpPr>
        <p:spPr>
          <a:xfrm xmlns:a="http://schemas.openxmlformats.org/drawingml/2006/main">
            <a:off x="9201150" y="3124200"/>
            <a:ext cx="213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Assigned to the account</a:t>
            </a:r>
          </a:p>
        </p:txBody>
      </p:sp>
      <p:sp>
        <p:nvSpPr>
          <p:cNvPr id="15" name="1 customer / 1 account">
            <a:extLst xmlns:a="http://schemas.openxmlformats.org/drawingml/2006/main">
              <a:ext uri="{FF2B5EF4-FFF2-40B4-BE49-F238E27FC236}">
                <a16:creationId xmlns:a16="http://schemas.microsoft.com/office/drawing/2014/main" id="{435CCEFB-7DD8-4909-B439-42DA79F502DA}"/>
              </a:ext>
            </a:extLst>
          </p:cNvPr>
          <p:cNvSpPr>
            <a:spLocks xmlns:a="http://schemas.openxmlformats.org/drawingml/2006/main" noGrp="1"/>
          </p:cNvSpPr>
          <p:nvPr/>
        </p:nvSpPr>
        <p:spPr>
          <a:xfrm xmlns:a="http://schemas.openxmlformats.org/drawingml/2006/main">
            <a:off x="3181350" y="22098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4B"/>
                </a:solidFill>
                <a:latin typeface="Segoe UI"/>
                <a:ea typeface="Segoe UI"/>
                <a:cs typeface="Segoe UI"/>
              </a:defRPr>
            </a:defPPr>
          </a:lstStyle>
          <a:p xmlns:a="http://schemas.openxmlformats.org/drawingml/2006/main">
            <a:pPr algn="l">
              <a:buNone/>
              <a:defRPr sz="1425" b="0">
                <a:solidFill>
                  <a:srgbClr val="53634B"/>
                </a:solidFill>
                <a:latin typeface="Segoe UI"/>
                <a:ea typeface="Segoe UI"/>
                <a:cs typeface="Segoe UI"/>
              </a:defRPr>
            </a:pPr>
            <a:r>
              <a:rPr sz="1425" b="0">
                <a:solidFill>
                  <a:srgbClr val="53634B"/>
                </a:solidFill>
                <a:latin typeface="Segoe UI"/>
                <a:ea typeface="Segoe UI"/>
                <a:cs typeface="Segoe UI"/>
              </a:rPr>
              <a:t>1 customer / 1 account</a:t>
            </a:r>
          </a:p>
        </p:txBody>
      </p:sp>
      <p:sp>
        <p:nvSpPr>
          <p:cNvPr id="16" name="1 account / 1 card">
            <a:extLst xmlns:a="http://schemas.openxmlformats.org/drawingml/2006/main">
              <a:ext uri="{FF2B5EF4-FFF2-40B4-BE49-F238E27FC236}">
                <a16:creationId xmlns:a16="http://schemas.microsoft.com/office/drawing/2014/main" id="{87F7E0F3-6579-407C-A76A-6181F5681AA1}"/>
              </a:ext>
            </a:extLst>
          </p:cNvPr>
          <p:cNvSpPr>
            <a:spLocks xmlns:a="http://schemas.openxmlformats.org/drawingml/2006/main" noGrp="1"/>
          </p:cNvSpPr>
          <p:nvPr/>
        </p:nvSpPr>
        <p:spPr>
          <a:xfrm xmlns:a="http://schemas.openxmlformats.org/drawingml/2006/main">
            <a:off x="7715250" y="22098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4B"/>
                </a:solidFill>
                <a:latin typeface="Segoe UI"/>
                <a:ea typeface="Segoe UI"/>
                <a:cs typeface="Segoe UI"/>
              </a:defRPr>
            </a:defPPr>
          </a:lstStyle>
          <a:p xmlns:a="http://schemas.openxmlformats.org/drawingml/2006/main">
            <a:pPr algn="l">
              <a:buNone/>
              <a:defRPr sz="1425" b="0">
                <a:solidFill>
                  <a:srgbClr val="53634B"/>
                </a:solidFill>
                <a:latin typeface="Segoe UI"/>
                <a:ea typeface="Segoe UI"/>
                <a:cs typeface="Segoe UI"/>
              </a:defRPr>
            </a:pPr>
            <a:r>
              <a:rPr sz="1425" b="0">
                <a:solidFill>
                  <a:srgbClr val="53634B"/>
                </a:solidFill>
                <a:latin typeface="Segoe UI"/>
                <a:ea typeface="Segoe UI"/>
                <a:cs typeface="Segoe UI"/>
              </a:rPr>
              <a:t>1 account / 1 card</a:t>
            </a:r>
          </a:p>
        </p:txBody>
      </p:sp>
      <p:sp>
        <p:nvSpPr>
          <p:cNvPr id="17" name="Transaction">
            <a:extLst xmlns:a="http://schemas.openxmlformats.org/drawingml/2006/main">
              <a:ext uri="{FF2B5EF4-FFF2-40B4-BE49-F238E27FC236}">
                <a16:creationId xmlns:a16="http://schemas.microsoft.com/office/drawing/2014/main" id="{28560D3C-1609-4C47-A9B6-7AE2B045A800}"/>
              </a:ext>
            </a:extLst>
          </p:cNvPr>
          <p:cNvSpPr>
            <a:spLocks xmlns:a="http://schemas.openxmlformats.org/drawingml/2006/main" noGrp="1"/>
          </p:cNvSpPr>
          <p:nvPr/>
        </p:nvSpPr>
        <p:spPr>
          <a:xfrm xmlns:a="http://schemas.openxmlformats.org/drawingml/2006/main">
            <a:off x="4133850" y="4657725"/>
            <a:ext cx="3905250" cy="1276350"/>
          </a:xfrm>
          <a:prstGeom xmlns:a="http://schemas.openxmlformats.org/drawingml/2006/main" prst="rect">
            <a:avLst/>
          </a:prstGeom>
          <a:solidFill xmlns:a="http://schemas.openxmlformats.org/drawingml/2006/main">
            <a:srgbClr val="151C18"/>
          </a:solidFill>
          <a:ln xmlns:a="http://schemas.openxmlformats.org/drawingml/2006/main" w="14288">
            <a:solidFill>
              <a:srgbClr val="151C18"/>
            </a:solidFill>
          </a:ln>
        </p:spPr>
      </p:sp>
      <p:sp>
        <p:nvSpPr>
          <p:cNvPr id="18" name="Transaction">
            <a:extLst xmlns:a="http://schemas.openxmlformats.org/drawingml/2006/main">
              <a:ext uri="{FF2B5EF4-FFF2-40B4-BE49-F238E27FC236}">
                <a16:creationId xmlns:a16="http://schemas.microsoft.com/office/drawing/2014/main" id="{31A30CB9-BC43-46BC-A879-6F84D44CDEB9}"/>
              </a:ext>
            </a:extLst>
          </p:cNvPr>
          <p:cNvSpPr>
            <a:spLocks xmlns:a="http://schemas.openxmlformats.org/drawingml/2006/main" noGrp="1"/>
          </p:cNvSpPr>
          <p:nvPr/>
        </p:nvSpPr>
        <p:spPr>
          <a:xfrm xmlns:a="http://schemas.openxmlformats.org/drawingml/2006/main">
            <a:off x="4305300" y="4829175"/>
            <a:ext cx="3562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F3EA"/>
                </a:solidFill>
                <a:latin typeface="Segoe UI"/>
                <a:ea typeface="Segoe UI"/>
                <a:cs typeface="Segoe UI"/>
              </a:defRPr>
            </a:defPPr>
          </a:lstStyle>
          <a:p xmlns:a="http://schemas.openxmlformats.org/drawingml/2006/main">
            <a:pPr algn="l">
              <a:buNone/>
              <a:defRPr sz="1950" b="1">
                <a:solidFill>
                  <a:srgbClr val="F2F3EA"/>
                </a:solidFill>
                <a:latin typeface="Segoe UI"/>
                <a:ea typeface="Segoe UI"/>
                <a:cs typeface="Segoe UI"/>
              </a:defRPr>
            </a:pPr>
            <a:r>
              <a:rPr sz="1950" b="1">
                <a:solidFill>
                  <a:srgbClr val="F2F3EA"/>
                </a:solidFill>
                <a:latin typeface="Segoe UI"/>
                <a:ea typeface="Segoe UI"/>
                <a:cs typeface="Segoe UI"/>
              </a:rPr>
              <a:t>Transaction</a:t>
            </a:r>
          </a:p>
        </p:txBody>
      </p:sp>
      <p:sp>
        <p:nvSpPr>
          <p:cNvPr id="19" name="Purchase or refund history">
            <a:extLst xmlns:a="http://schemas.openxmlformats.org/drawingml/2006/main">
              <a:ext uri="{FF2B5EF4-FFF2-40B4-BE49-F238E27FC236}">
                <a16:creationId xmlns:a16="http://schemas.microsoft.com/office/drawing/2014/main" id="{7D3B1A95-76DB-47EA-858C-C39CE0C44141}"/>
              </a:ext>
            </a:extLst>
          </p:cNvPr>
          <p:cNvSpPr>
            <a:spLocks xmlns:a="http://schemas.openxmlformats.org/drawingml/2006/main" noGrp="1"/>
          </p:cNvSpPr>
          <p:nvPr/>
        </p:nvSpPr>
        <p:spPr>
          <a:xfrm xmlns:a="http://schemas.openxmlformats.org/drawingml/2006/main">
            <a:off x="4305300" y="5286375"/>
            <a:ext cx="3562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CB6AB"/>
                </a:solidFill>
                <a:latin typeface="Segoe UI"/>
                <a:ea typeface="Segoe UI"/>
                <a:cs typeface="Segoe UI"/>
              </a:defRPr>
            </a:defPPr>
          </a:lstStyle>
          <a:p xmlns:a="http://schemas.openxmlformats.org/drawingml/2006/main">
            <a:pPr algn="l">
              <a:buNone/>
              <a:defRPr sz="1650" b="0">
                <a:solidFill>
                  <a:srgbClr val="ACB6AB"/>
                </a:solidFill>
                <a:latin typeface="Segoe UI"/>
                <a:ea typeface="Segoe UI"/>
                <a:cs typeface="Segoe UI"/>
              </a:defRPr>
            </a:pPr>
            <a:r>
              <a:rPr sz="1650" b="0">
                <a:solidFill>
                  <a:srgbClr val="ACB6AB"/>
                </a:solidFill>
                <a:latin typeface="Segoe UI"/>
                <a:ea typeface="Segoe UI"/>
                <a:cs typeface="Segoe UI"/>
              </a:rPr>
              <a:t>Purchase or refund history</a:t>
            </a:r>
          </a:p>
        </p:txBody>
      </p:sp>
      <p:sp>
        <p:nvSpPr>
          <p:cNvPr id="22" name="Many transactions">
            <a:extLst xmlns:a="http://schemas.openxmlformats.org/drawingml/2006/main">
              <a:ext uri="{FF2B5EF4-FFF2-40B4-BE49-F238E27FC236}">
                <a16:creationId xmlns:a16="http://schemas.microsoft.com/office/drawing/2014/main" id="{934C5FAE-A55F-4ED3-A718-5D086587DA0A}"/>
              </a:ext>
            </a:extLst>
          </p:cNvPr>
          <p:cNvSpPr>
            <a:spLocks xmlns:a="http://schemas.openxmlformats.org/drawingml/2006/main" noGrp="1"/>
          </p:cNvSpPr>
          <p:nvPr/>
        </p:nvSpPr>
        <p:spPr>
          <a:xfrm xmlns:a="http://schemas.openxmlformats.org/drawingml/2006/main">
            <a:off x="685800" y="4848225"/>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1C18"/>
                </a:solidFill>
                <a:latin typeface="Segoe UI"/>
                <a:ea typeface="Segoe UI"/>
                <a:cs typeface="Segoe UI"/>
              </a:defRPr>
            </a:defPPr>
          </a:lstStyle>
          <a:p xmlns:a="http://schemas.openxmlformats.org/drawingml/2006/main">
            <a:pPr algn="l">
              <a:buNone/>
              <a:defRPr sz="2175" b="1">
                <a:solidFill>
                  <a:srgbClr val="151C18"/>
                </a:solidFill>
                <a:latin typeface="Segoe UI"/>
                <a:ea typeface="Segoe UI"/>
                <a:cs typeface="Segoe UI"/>
              </a:defRPr>
            </a:pPr>
            <a:r>
              <a:rPr sz="2175" b="1">
                <a:solidFill>
                  <a:srgbClr val="151C18"/>
                </a:solidFill>
                <a:latin typeface="Segoe UI"/>
                <a:ea typeface="Segoe UI"/>
                <a:cs typeface="Segoe UI"/>
              </a:rPr>
              <a:t>Many transactions</a:t>
            </a:r>
          </a:p>
        </p:txBody>
      </p:sp>
      <p:sp>
        <p:nvSpPr>
          <p:cNvPr id="23" name="Each refund links back&#10;to its original pur">
            <a:extLst xmlns:a="http://schemas.openxmlformats.org/drawingml/2006/main">
              <a:ext uri="{FF2B5EF4-FFF2-40B4-BE49-F238E27FC236}">
                <a16:creationId xmlns:a16="http://schemas.microsoft.com/office/drawing/2014/main" id="{CBDD6F43-79D5-4000-A447-E3F2DDD49556}"/>
              </a:ext>
            </a:extLst>
          </p:cNvPr>
          <p:cNvSpPr>
            <a:spLocks xmlns:a="http://schemas.openxmlformats.org/drawingml/2006/main" noGrp="1"/>
          </p:cNvSpPr>
          <p:nvPr/>
        </p:nvSpPr>
        <p:spPr>
          <a:xfrm xmlns:a="http://schemas.openxmlformats.org/drawingml/2006/main">
            <a:off x="685800" y="5362575"/>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4B"/>
                </a:solidFill>
                <a:latin typeface="Segoe UI"/>
                <a:ea typeface="Segoe UI"/>
                <a:cs typeface="Segoe UI"/>
              </a:defRPr>
            </a:defPPr>
          </a:lstStyle>
          <a:p xmlns:a="http://schemas.openxmlformats.org/drawingml/2006/main">
            <a:pPr algn="l">
              <a:buNone/>
              <a:defRPr sz="1875" b="0">
                <a:solidFill>
                  <a:srgbClr val="53634B"/>
                </a:solidFill>
                <a:latin typeface="Segoe UI"/>
                <a:ea typeface="Segoe UI"/>
                <a:cs typeface="Segoe UI"/>
              </a:defRPr>
            </a:pPr>
            <a:r>
              <a:rPr sz="1875" b="0">
                <a:solidFill>
                  <a:srgbClr val="53634B"/>
                </a:solidFill>
                <a:latin typeface="Segoe UI"/>
                <a:ea typeface="Segoe UI"/>
                <a:cs typeface="Segoe UI"/>
              </a:rPr>
              <a:t>Each refund links back</a:t>
            </a:r>
          </a:p>
          <a:p xmlns:a="http://schemas.openxmlformats.org/drawingml/2006/main">
            <a:pPr algn="l">
              <a:buNone/>
              <a:defRPr sz="1875" b="0">
                <a:solidFill>
                  <a:srgbClr val="53634B"/>
                </a:solidFill>
                <a:latin typeface="Segoe UI"/>
                <a:ea typeface="Segoe UI"/>
                <a:cs typeface="Segoe UI"/>
              </a:defRPr>
            </a:pPr>
            <a:r>
              <a:rPr sz="1875" b="0">
                <a:solidFill>
                  <a:srgbClr val="53634B"/>
                </a:solidFill>
                <a:latin typeface="Segoe UI"/>
                <a:ea typeface="Segoe UI"/>
                <a:cs typeface="Segoe UI"/>
              </a:rPr>
              <a:t>to its original purchase.</a:t>
            </a:r>
          </a:p>
        </p:txBody>
      </p:sp>
      <p:sp>
        <p:nvSpPr>
          <p:cNvPr id="24" name="account_id">
            <a:extLst xmlns:a="http://schemas.openxmlformats.org/drawingml/2006/main">
              <a:ext uri="{FF2B5EF4-FFF2-40B4-BE49-F238E27FC236}">
                <a16:creationId xmlns:a16="http://schemas.microsoft.com/office/drawing/2014/main" id="{1EA3E56B-FD6C-455C-AF44-EE5DC03F0DEC}"/>
              </a:ext>
            </a:extLst>
          </p:cNvPr>
          <p:cNvSpPr>
            <a:spLocks xmlns:a="http://schemas.openxmlformats.org/drawingml/2006/main" noGrp="1"/>
          </p:cNvSpPr>
          <p:nvPr/>
        </p:nvSpPr>
        <p:spPr>
          <a:xfrm xmlns:a="http://schemas.openxmlformats.org/drawingml/2006/main">
            <a:off x="6305550" y="40957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34B"/>
                </a:solidFill>
                <a:latin typeface="Consolas"/>
                <a:ea typeface="Consolas"/>
                <a:cs typeface="Consolas"/>
              </a:defRPr>
            </a:defPPr>
          </a:lstStyle>
          <a:p xmlns:a="http://schemas.openxmlformats.org/drawingml/2006/main">
            <a:pPr algn="l">
              <a:buNone/>
              <a:defRPr sz="1575" b="0">
                <a:solidFill>
                  <a:srgbClr val="53634B"/>
                </a:solidFill>
                <a:latin typeface="Consolas"/>
                <a:ea typeface="Consolas"/>
                <a:cs typeface="Consolas"/>
              </a:defRPr>
            </a:pPr>
            <a:r>
              <a:rPr sz="1575" b="0">
                <a:solidFill>
                  <a:srgbClr val="53634B"/>
                </a:solidFill>
                <a:latin typeface="Consolas"/>
                <a:ea typeface="Consolas"/>
                <a:cs typeface="Consolas"/>
              </a:rPr>
              <a:t>account_id</a:t>
            </a:r>
          </a:p>
        </p:txBody>
      </p:sp>
      <p:sp>
        <p:nvSpPr>
          <p:cNvPr id="25" name="card_id">
            <a:extLst xmlns:a="http://schemas.openxmlformats.org/drawingml/2006/main">
              <a:ext uri="{FF2B5EF4-FFF2-40B4-BE49-F238E27FC236}">
                <a16:creationId xmlns:a16="http://schemas.microsoft.com/office/drawing/2014/main" id="{2FD11CA5-D7ED-48E5-A82A-05A7AC384C54}"/>
              </a:ext>
            </a:extLst>
          </p:cNvPr>
          <p:cNvSpPr>
            <a:spLocks xmlns:a="http://schemas.openxmlformats.org/drawingml/2006/main" noGrp="1"/>
          </p:cNvSpPr>
          <p:nvPr/>
        </p:nvSpPr>
        <p:spPr>
          <a:xfrm xmlns:a="http://schemas.openxmlformats.org/drawingml/2006/main">
            <a:off x="9715500" y="4495800"/>
            <a:ext cx="179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34B"/>
                </a:solidFill>
                <a:latin typeface="Consolas"/>
                <a:ea typeface="Consolas"/>
                <a:cs typeface="Consolas"/>
              </a:defRPr>
            </a:defPPr>
          </a:lstStyle>
          <a:p xmlns:a="http://schemas.openxmlformats.org/drawingml/2006/main">
            <a:pPr algn="l">
              <a:buNone/>
              <a:defRPr sz="1575" b="0">
                <a:solidFill>
                  <a:srgbClr val="53634B"/>
                </a:solidFill>
                <a:latin typeface="Consolas"/>
                <a:ea typeface="Consolas"/>
                <a:cs typeface="Consolas"/>
              </a:defRPr>
            </a:pPr>
            <a:r>
              <a:rPr sz="1575" b="0">
                <a:solidFill>
                  <a:srgbClr val="53634B"/>
                </a:solidFill>
                <a:latin typeface="Consolas"/>
                <a:ea typeface="Consolas"/>
                <a:cs typeface="Consolas"/>
              </a:rPr>
              <a:t>card_id</a:t>
            </a:r>
          </a:p>
        </p:txBody>
      </p:sp>
    </p:spTree>
    <p:extLst>
      <p:ext uri="{BB962C8B-B14F-4D97-AF65-F5344CB8AC3E}">
        <p14:creationId xmlns:p14="http://schemas.microsoft.com/office/powerpoint/2010/main" val="717186265"/>
      </p:ext>
    </p:extLst>
  </p:cSld>
</p:sld>
</file>

<file path=ppt/slides/slide7.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sp>
        <p:nvSpPr>
          <p:cNvPr id="13" name="07">
            <a:extLst xmlns:a="http://schemas.openxmlformats.org/drawingml/2006/main">
              <a:ext uri="{FF2B5EF4-FFF2-40B4-BE49-F238E27FC236}">
                <a16:creationId xmlns:a16="http://schemas.microsoft.com/office/drawing/2014/main" id="{CDEB4AEF-1CA8-4FD1-9FAB-2F52128553CC}"/>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07</a:t>
            </a:r>
          </a:p>
        </p:txBody>
      </p:sp>
      <p:sp>
        <p:nvSpPr>
          <p:cNvPr id="2" name="API">
            <a:extLst xmlns:a="http://schemas.openxmlformats.org/drawingml/2006/main">
              <a:ext uri="{FF2B5EF4-FFF2-40B4-BE49-F238E27FC236}">
                <a16:creationId xmlns:a16="http://schemas.microsoft.com/office/drawing/2014/main" id="{72B0F8CA-30A1-40D7-8EBE-74D914D15BB0}"/>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API</a:t>
            </a:r>
          </a:p>
        </p:txBody>
      </p:sp>
      <p:sp>
        <p:nvSpPr>
          <p:cNvPr id="3" name="The request and result">
            <a:extLst xmlns:a="http://schemas.openxmlformats.org/drawingml/2006/main">
              <a:ext uri="{FF2B5EF4-FFF2-40B4-BE49-F238E27FC236}">
                <a16:creationId xmlns:a16="http://schemas.microsoft.com/office/drawing/2014/main" id="{162E9FBA-09B3-450C-98E5-63F18F59AEA6}"/>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The request and result</a:t>
            </a:r>
          </a:p>
        </p:txBody>
      </p:sp>
      <p:sp>
        <p:nvSpPr>
          <p:cNvPr id="4" name="One submitted form">
            <a:extLst xmlns:a="http://schemas.openxmlformats.org/drawingml/2006/main">
              <a:ext uri="{FF2B5EF4-FFF2-40B4-BE49-F238E27FC236}">
                <a16:creationId xmlns:a16="http://schemas.microsoft.com/office/drawing/2014/main" id="{DEB28BA0-7E10-4BCF-BD71-9366587E772F}"/>
              </a:ext>
            </a:extLst>
          </p:cNvPr>
          <p:cNvSpPr>
            <a:spLocks xmlns:a="http://schemas.openxmlformats.org/drawingml/2006/main" noGrp="1"/>
          </p:cNvSpPr>
          <p:nvPr/>
        </p:nvSpPr>
        <p:spPr>
          <a:xfrm xmlns:a="http://schemas.openxmlformats.org/drawingml/2006/main">
            <a:off x="685800" y="232410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D6F58B"/>
                </a:solidFill>
                <a:latin typeface="Segoe UI"/>
                <a:ea typeface="Segoe UI"/>
                <a:cs typeface="Segoe UI"/>
              </a:defRPr>
            </a:defPPr>
          </a:lstStyle>
          <a:p xmlns:a="http://schemas.openxmlformats.org/drawingml/2006/main">
            <a:pPr algn="l">
              <a:buNone/>
              <a:defRPr sz="2625" b="1">
                <a:solidFill>
                  <a:srgbClr val="D6F58B"/>
                </a:solidFill>
                <a:latin typeface="Segoe UI"/>
                <a:ea typeface="Segoe UI"/>
                <a:cs typeface="Segoe UI"/>
              </a:defRPr>
            </a:pPr>
            <a:r>
              <a:rPr sz="2625" b="1">
                <a:solidFill>
                  <a:srgbClr val="D6F58B"/>
                </a:solidFill>
                <a:latin typeface="Segoe UI"/>
                <a:ea typeface="Segoe UI"/>
                <a:cs typeface="Segoe UI"/>
              </a:rPr>
              <a:t>One submitted form</a:t>
            </a:r>
          </a:p>
        </p:txBody>
      </p:sp>
      <p:sp>
        <p:nvSpPr>
          <p:cNvPr id="5" name="Amount and merchant&#10;Assigned card details&#10;">
            <a:extLst xmlns:a="http://schemas.openxmlformats.org/drawingml/2006/main">
              <a:ext uri="{FF2B5EF4-FFF2-40B4-BE49-F238E27FC236}">
                <a16:creationId xmlns:a16="http://schemas.microsoft.com/office/drawing/2014/main" id="{5656D874-26CE-4549-9F90-0446CE2AE999}"/>
              </a:ext>
            </a:extLst>
          </p:cNvPr>
          <p:cNvSpPr>
            <a:spLocks xmlns:a="http://schemas.openxmlformats.org/drawingml/2006/main" noGrp="1"/>
          </p:cNvSpPr>
          <p:nvPr/>
        </p:nvSpPr>
        <p:spPr>
          <a:xfrm xmlns:a="http://schemas.openxmlformats.org/drawingml/2006/main">
            <a:off x="685800" y="3057525"/>
            <a:ext cx="4572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2F3EA"/>
                </a:solidFill>
                <a:latin typeface="Segoe UI"/>
                <a:ea typeface="Segoe UI"/>
                <a:cs typeface="Segoe UI"/>
              </a:defRPr>
            </a:defPPr>
          </a:lstStyle>
          <a:p xmlns:a="http://schemas.openxmlformats.org/drawingml/2006/main">
            <a:pPr algn="l">
              <a:buNone/>
              <a:defRPr sz="2325" b="0">
                <a:solidFill>
                  <a:srgbClr val="F2F3EA"/>
                </a:solidFill>
                <a:latin typeface="Segoe UI"/>
                <a:ea typeface="Segoe UI"/>
                <a:cs typeface="Segoe UI"/>
              </a:defRPr>
            </a:pPr>
            <a:r>
              <a:rPr sz="2325" b="0">
                <a:solidFill>
                  <a:srgbClr val="F2F3EA"/>
                </a:solidFill>
                <a:latin typeface="Segoe UI"/>
                <a:ea typeface="Segoe UI"/>
                <a:cs typeface="Segoe UI"/>
              </a:rPr>
              <a:t>Amount and merchant</a:t>
            </a:r>
          </a:p>
          <a:p xmlns:a="http://schemas.openxmlformats.org/drawingml/2006/main">
            <a:pPr algn="l">
              <a:buNone/>
              <a:defRPr sz="2325" b="0">
                <a:solidFill>
                  <a:srgbClr val="F2F3EA"/>
                </a:solidFill>
                <a:latin typeface="Segoe UI"/>
                <a:ea typeface="Segoe UI"/>
                <a:cs typeface="Segoe UI"/>
              </a:defRPr>
            </a:pPr>
            <a:r>
              <a:rPr sz="2325" b="0">
                <a:solidFill>
                  <a:srgbClr val="F2F3EA"/>
                </a:solidFill>
                <a:latin typeface="Segoe UI"/>
                <a:ea typeface="Segoe UI"/>
                <a:cs typeface="Segoe UI"/>
              </a:rPr>
              <a:t>Assigned card details</a:t>
            </a:r>
          </a:p>
          <a:p xmlns:a="http://schemas.openxmlformats.org/drawingml/2006/main">
            <a:pPr algn="l">
              <a:buNone/>
              <a:defRPr sz="2325" b="0">
                <a:solidFill>
                  <a:srgbClr val="F2F3EA"/>
                </a:solidFill>
                <a:latin typeface="Segoe UI"/>
                <a:ea typeface="Segoe UI"/>
                <a:cs typeface="Segoe UI"/>
              </a:defRPr>
            </a:pPr>
            <a:r>
              <a:rPr sz="2325" b="0">
                <a:solidFill>
                  <a:srgbClr val="F2F3EA"/>
                </a:solidFill>
                <a:latin typeface="Segoe UI"/>
                <a:ea typeface="Segoe UI"/>
                <a:cs typeface="Segoe UI"/>
              </a:rPr>
              <a:t>Request ID</a:t>
            </a:r>
          </a:p>
        </p:txBody>
      </p:sp>
      <p:sp>
        <p:nvSpPr>
          <p:cNvPr id="6" name="One returned response">
            <a:extLst xmlns:a="http://schemas.openxmlformats.org/drawingml/2006/main">
              <a:ext uri="{FF2B5EF4-FFF2-40B4-BE49-F238E27FC236}">
                <a16:creationId xmlns:a16="http://schemas.microsoft.com/office/drawing/2014/main" id="{5DD2372E-DFFF-4180-AFF8-E2372452A15E}"/>
              </a:ext>
            </a:extLst>
          </p:cNvPr>
          <p:cNvSpPr>
            <a:spLocks xmlns:a="http://schemas.openxmlformats.org/drawingml/2006/main" noGrp="1"/>
          </p:cNvSpPr>
          <p:nvPr/>
        </p:nvSpPr>
        <p:spPr>
          <a:xfrm xmlns:a="http://schemas.openxmlformats.org/drawingml/2006/main">
            <a:off x="6705600" y="2324100"/>
            <a:ext cx="4781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D6F58B"/>
                </a:solidFill>
                <a:latin typeface="Segoe UI"/>
                <a:ea typeface="Segoe UI"/>
                <a:cs typeface="Segoe UI"/>
              </a:defRPr>
            </a:defPPr>
          </a:lstStyle>
          <a:p xmlns:a="http://schemas.openxmlformats.org/drawingml/2006/main">
            <a:pPr algn="l">
              <a:buNone/>
              <a:defRPr sz="2625" b="1">
                <a:solidFill>
                  <a:srgbClr val="D6F58B"/>
                </a:solidFill>
                <a:latin typeface="Segoe UI"/>
                <a:ea typeface="Segoe UI"/>
                <a:cs typeface="Segoe UI"/>
              </a:defRPr>
            </a:pPr>
            <a:r>
              <a:rPr sz="2625" b="1">
                <a:solidFill>
                  <a:srgbClr val="D6F58B"/>
                </a:solidFill>
                <a:latin typeface="Segoe UI"/>
                <a:ea typeface="Segoe UI"/>
                <a:cs typeface="Segoe UI"/>
              </a:rPr>
              <a:t>One returned response</a:t>
            </a:r>
          </a:p>
        </p:txBody>
      </p:sp>
      <p:sp>
        <p:nvSpPr>
          <p:cNvPr id="7" name="Transaction outcome&#10;Current account balanc">
            <a:extLst xmlns:a="http://schemas.openxmlformats.org/drawingml/2006/main">
              <a:ext uri="{FF2B5EF4-FFF2-40B4-BE49-F238E27FC236}">
                <a16:creationId xmlns:a16="http://schemas.microsoft.com/office/drawing/2014/main" id="{7E235056-96EF-47E6-B633-C1A08B81C6CA}"/>
              </a:ext>
            </a:extLst>
          </p:cNvPr>
          <p:cNvSpPr>
            <a:spLocks xmlns:a="http://schemas.openxmlformats.org/drawingml/2006/main" noGrp="1"/>
          </p:cNvSpPr>
          <p:nvPr/>
        </p:nvSpPr>
        <p:spPr>
          <a:xfrm xmlns:a="http://schemas.openxmlformats.org/drawingml/2006/main">
            <a:off x="6705600" y="3057525"/>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2F3EA"/>
                </a:solidFill>
                <a:latin typeface="Segoe UI"/>
                <a:ea typeface="Segoe UI"/>
                <a:cs typeface="Segoe UI"/>
              </a:defRPr>
            </a:defPPr>
          </a:lstStyle>
          <a:p xmlns:a="http://schemas.openxmlformats.org/drawingml/2006/main">
            <a:pPr algn="l">
              <a:buNone/>
              <a:defRPr sz="2325" b="0">
                <a:solidFill>
                  <a:srgbClr val="F2F3EA"/>
                </a:solidFill>
                <a:latin typeface="Segoe UI"/>
                <a:ea typeface="Segoe UI"/>
                <a:cs typeface="Segoe UI"/>
              </a:defRPr>
            </a:pPr>
            <a:r>
              <a:rPr sz="2325" b="0">
                <a:solidFill>
                  <a:srgbClr val="F2F3EA"/>
                </a:solidFill>
                <a:latin typeface="Segoe UI"/>
                <a:ea typeface="Segoe UI"/>
                <a:cs typeface="Segoe UI"/>
              </a:rPr>
              <a:t>Transaction outcome</a:t>
            </a:r>
          </a:p>
          <a:p xmlns:a="http://schemas.openxmlformats.org/drawingml/2006/main">
            <a:pPr algn="l">
              <a:buNone/>
              <a:defRPr sz="2325" b="0">
                <a:solidFill>
                  <a:srgbClr val="F2F3EA"/>
                </a:solidFill>
                <a:latin typeface="Segoe UI"/>
                <a:ea typeface="Segoe UI"/>
                <a:cs typeface="Segoe UI"/>
              </a:defRPr>
            </a:pPr>
            <a:r>
              <a:rPr sz="2325" b="0">
                <a:solidFill>
                  <a:srgbClr val="F2F3EA"/>
                </a:solidFill>
                <a:latin typeface="Segoe UI"/>
                <a:ea typeface="Segoe UI"/>
                <a:cs typeface="Segoe UI"/>
              </a:rPr>
              <a:t>Current account balance</a:t>
            </a:r>
          </a:p>
        </p:txBody>
      </p:sp>
      <p:sp>
        <p:nvSpPr>
          <p:cNvPr id="8" name="">
            <a:extLst xmlns:a="http://schemas.openxmlformats.org/drawingml/2006/main">
              <a:ext uri="{FF2B5EF4-FFF2-40B4-BE49-F238E27FC236}">
                <a16:creationId xmlns:a16="http://schemas.microsoft.com/office/drawing/2014/main" id="{1929F521-F20F-42F3-AEC1-34E57885BB3C}"/>
              </a:ext>
            </a:extLst>
          </p:cNvPr>
          <p:cNvSpPr>
            <a:spLocks xmlns:a="http://schemas.openxmlformats.org/drawingml/2006/main" noGrp="1"/>
          </p:cNvSpPr>
          <p:nvPr/>
        </p:nvSpPr>
        <p:spPr>
          <a:xfrm xmlns:a="http://schemas.openxmlformats.org/drawingml/2006/main">
            <a:off x="685800" y="4819650"/>
            <a:ext cx="10820400" cy="0"/>
          </a:xfrm>
          <a:prstGeom xmlns:a="http://schemas.openxmlformats.org/drawingml/2006/main" prst="line">
            <a:avLst/>
          </a:prstGeom>
          <a:ln xmlns:a="http://schemas.openxmlformats.org/drawingml/2006/main" w="14288">
            <a:solidFill>
              <a:srgbClr val="354238"/>
            </a:solidFill>
          </a:ln>
        </p:spPr>
      </p:sp>
      <p:sp>
        <p:nvSpPr>
          <p:cNvPr id="9" name="201">
            <a:extLst xmlns:a="http://schemas.openxmlformats.org/drawingml/2006/main">
              <a:ext uri="{FF2B5EF4-FFF2-40B4-BE49-F238E27FC236}">
                <a16:creationId xmlns:a16="http://schemas.microsoft.com/office/drawing/2014/main" id="{C8A8E9BA-5EE3-4E33-A719-2D94A8E790BE}"/>
              </a:ext>
            </a:extLst>
          </p:cNvPr>
          <p:cNvSpPr>
            <a:spLocks xmlns:a="http://schemas.openxmlformats.org/drawingml/2006/main" noGrp="1"/>
          </p:cNvSpPr>
          <p:nvPr/>
        </p:nvSpPr>
        <p:spPr>
          <a:xfrm xmlns:a="http://schemas.openxmlformats.org/drawingml/2006/main">
            <a:off x="685800" y="5219700"/>
            <a:ext cx="1000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2F3EA"/>
                </a:solidFill>
                <a:latin typeface="Consolas"/>
                <a:ea typeface="Consolas"/>
                <a:cs typeface="Consolas"/>
              </a:defRPr>
            </a:defPPr>
          </a:lstStyle>
          <a:p xmlns:a="http://schemas.openxmlformats.org/drawingml/2006/main">
            <a:pPr algn="l">
              <a:buNone/>
              <a:defRPr sz="3000" b="1">
                <a:solidFill>
                  <a:srgbClr val="F2F3EA"/>
                </a:solidFill>
                <a:latin typeface="Consolas"/>
                <a:ea typeface="Consolas"/>
                <a:cs typeface="Consolas"/>
              </a:defRPr>
            </a:pPr>
            <a:r>
              <a:rPr sz="3000" b="1">
                <a:solidFill>
                  <a:srgbClr val="F2F3EA"/>
                </a:solidFill>
                <a:latin typeface="Consolas"/>
                <a:ea typeface="Consolas"/>
                <a:cs typeface="Consolas"/>
              </a:rPr>
              <a:t>201</a:t>
            </a:r>
          </a:p>
        </p:txBody>
      </p:sp>
      <p:sp>
        <p:nvSpPr>
          <p:cNvPr id="10" name="New outcome, including a decline">
            <a:extLst xmlns:a="http://schemas.openxmlformats.org/drawingml/2006/main">
              <a:ext uri="{FF2B5EF4-FFF2-40B4-BE49-F238E27FC236}">
                <a16:creationId xmlns:a16="http://schemas.microsoft.com/office/drawing/2014/main" id="{2CD81628-5813-4F3D-B8CB-F48E2822EE74}"/>
              </a:ext>
            </a:extLst>
          </p:cNvPr>
          <p:cNvSpPr>
            <a:spLocks xmlns:a="http://schemas.openxmlformats.org/drawingml/2006/main" noGrp="1"/>
          </p:cNvSpPr>
          <p:nvPr/>
        </p:nvSpPr>
        <p:spPr>
          <a:xfrm xmlns:a="http://schemas.openxmlformats.org/drawingml/2006/main">
            <a:off x="1809750" y="5286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CB6AB"/>
                </a:solidFill>
                <a:latin typeface="Segoe UI"/>
                <a:ea typeface="Segoe UI"/>
                <a:cs typeface="Segoe UI"/>
              </a:defRPr>
            </a:defPPr>
          </a:lstStyle>
          <a:p xmlns:a="http://schemas.openxmlformats.org/drawingml/2006/main">
            <a:pPr algn="l">
              <a:buNone/>
              <a:defRPr sz="2025" b="0">
                <a:solidFill>
                  <a:srgbClr val="ACB6AB"/>
                </a:solidFill>
                <a:latin typeface="Segoe UI"/>
                <a:ea typeface="Segoe UI"/>
                <a:cs typeface="Segoe UI"/>
              </a:defRPr>
            </a:pPr>
            <a:r>
              <a:rPr sz="2025" b="0">
                <a:solidFill>
                  <a:srgbClr val="ACB6AB"/>
                </a:solidFill>
                <a:latin typeface="Segoe UI"/>
                <a:ea typeface="Segoe UI"/>
                <a:cs typeface="Segoe UI"/>
              </a:rPr>
              <a:t>New outcome, including a decline</a:t>
            </a:r>
          </a:p>
        </p:txBody>
      </p:sp>
      <p:sp>
        <p:nvSpPr>
          <p:cNvPr id="11" name="200">
            <a:extLst xmlns:a="http://schemas.openxmlformats.org/drawingml/2006/main">
              <a:ext uri="{FF2B5EF4-FFF2-40B4-BE49-F238E27FC236}">
                <a16:creationId xmlns:a16="http://schemas.microsoft.com/office/drawing/2014/main" id="{AEFDD989-F217-49F4-BE43-B7939B5A4827}"/>
              </a:ext>
            </a:extLst>
          </p:cNvPr>
          <p:cNvSpPr>
            <a:spLocks xmlns:a="http://schemas.openxmlformats.org/drawingml/2006/main" noGrp="1"/>
          </p:cNvSpPr>
          <p:nvPr/>
        </p:nvSpPr>
        <p:spPr>
          <a:xfrm xmlns:a="http://schemas.openxmlformats.org/drawingml/2006/main">
            <a:off x="7296150" y="5219700"/>
            <a:ext cx="1028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2F3EA"/>
                </a:solidFill>
                <a:latin typeface="Consolas"/>
                <a:ea typeface="Consolas"/>
                <a:cs typeface="Consolas"/>
              </a:defRPr>
            </a:defPPr>
          </a:lstStyle>
          <a:p xmlns:a="http://schemas.openxmlformats.org/drawingml/2006/main">
            <a:pPr algn="l">
              <a:buNone/>
              <a:defRPr sz="3000" b="1">
                <a:solidFill>
                  <a:srgbClr val="F2F3EA"/>
                </a:solidFill>
                <a:latin typeface="Consolas"/>
                <a:ea typeface="Consolas"/>
                <a:cs typeface="Consolas"/>
              </a:defRPr>
            </a:pPr>
            <a:r>
              <a:rPr sz="3000" b="1">
                <a:solidFill>
                  <a:srgbClr val="F2F3EA"/>
                </a:solidFill>
                <a:latin typeface="Consolas"/>
                <a:ea typeface="Consolas"/>
                <a:cs typeface="Consolas"/>
              </a:rPr>
              <a:t>200</a:t>
            </a:r>
          </a:p>
        </p:txBody>
      </p:sp>
      <p:sp>
        <p:nvSpPr>
          <p:cNvPr id="12" name="Identical retry">
            <a:extLst xmlns:a="http://schemas.openxmlformats.org/drawingml/2006/main">
              <a:ext uri="{FF2B5EF4-FFF2-40B4-BE49-F238E27FC236}">
                <a16:creationId xmlns:a16="http://schemas.microsoft.com/office/drawing/2014/main" id="{3DDEB67A-7B2F-4ABB-BC1C-854F36FFF343}"/>
              </a:ext>
            </a:extLst>
          </p:cNvPr>
          <p:cNvSpPr>
            <a:spLocks xmlns:a="http://schemas.openxmlformats.org/drawingml/2006/main" noGrp="1"/>
          </p:cNvSpPr>
          <p:nvPr/>
        </p:nvSpPr>
        <p:spPr>
          <a:xfrm xmlns:a="http://schemas.openxmlformats.org/drawingml/2006/main">
            <a:off x="8572500" y="5286375"/>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CB6AB"/>
                </a:solidFill>
                <a:latin typeface="Segoe UI"/>
                <a:ea typeface="Segoe UI"/>
                <a:cs typeface="Segoe UI"/>
              </a:defRPr>
            </a:defPPr>
          </a:lstStyle>
          <a:p xmlns:a="http://schemas.openxmlformats.org/drawingml/2006/main">
            <a:pPr algn="l">
              <a:buNone/>
              <a:defRPr sz="2025" b="0">
                <a:solidFill>
                  <a:srgbClr val="ACB6AB"/>
                </a:solidFill>
                <a:latin typeface="Segoe UI"/>
                <a:ea typeface="Segoe UI"/>
                <a:cs typeface="Segoe UI"/>
              </a:defRPr>
            </a:pPr>
            <a:r>
              <a:rPr sz="2025" b="0">
                <a:solidFill>
                  <a:srgbClr val="ACB6AB"/>
                </a:solidFill>
                <a:latin typeface="Segoe UI"/>
                <a:ea typeface="Segoe UI"/>
                <a:cs typeface="Segoe UI"/>
              </a:rPr>
              <a:t>Identical retry</a:t>
            </a:r>
          </a:p>
        </p:txBody>
      </p:sp>
    </p:spTree>
    <p:extLst>
      <p:ext uri="{BB962C8B-B14F-4D97-AF65-F5344CB8AC3E}">
        <p14:creationId xmlns:p14="http://schemas.microsoft.com/office/powerpoint/2010/main" val="997117386"/>
      </p:ext>
    </p:extLst>
  </p:cSld>
</p:sld>
</file>

<file path=ppt/slides/slide8.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sp>
        <p:nvSpPr>
          <p:cNvPr id="15" name="08">
            <a:extLst xmlns:a="http://schemas.openxmlformats.org/drawingml/2006/main">
              <a:ext uri="{FF2B5EF4-FFF2-40B4-BE49-F238E27FC236}">
                <a16:creationId xmlns:a16="http://schemas.microsoft.com/office/drawing/2014/main" id="{79697812-A8B5-41D3-ABFB-B0DEB17B7DE6}"/>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08</a:t>
            </a:r>
          </a:p>
        </p:txBody>
      </p:sp>
      <p:sp>
        <p:nvSpPr>
          <p:cNvPr id="2" name="FAILURE PATHS">
            <a:extLst xmlns:a="http://schemas.openxmlformats.org/drawingml/2006/main">
              <a:ext uri="{FF2B5EF4-FFF2-40B4-BE49-F238E27FC236}">
                <a16:creationId xmlns:a16="http://schemas.microsoft.com/office/drawing/2014/main" id="{8BC74E8B-A451-430D-BA69-D458A5F994FC}"/>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FAILURE PATHS</a:t>
            </a:r>
          </a:p>
        </p:txBody>
      </p:sp>
      <p:sp>
        <p:nvSpPr>
          <p:cNvPr id="3" name="When something goes wrong">
            <a:extLst xmlns:a="http://schemas.openxmlformats.org/drawingml/2006/main">
              <a:ext uri="{FF2B5EF4-FFF2-40B4-BE49-F238E27FC236}">
                <a16:creationId xmlns:a16="http://schemas.microsoft.com/office/drawing/2014/main" id="{67B47DD2-20EA-4600-888B-44C92FDDE230}"/>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When something goes wrong</a:t>
            </a:r>
          </a:p>
        </p:txBody>
      </p:sp>
      <p:sp>
        <p:nvSpPr>
          <p:cNvPr id="4" name="Declined purchase">
            <a:extLst xmlns:a="http://schemas.openxmlformats.org/drawingml/2006/main">
              <a:ext uri="{FF2B5EF4-FFF2-40B4-BE49-F238E27FC236}">
                <a16:creationId xmlns:a16="http://schemas.microsoft.com/office/drawing/2014/main" id="{BB34C0B6-DB9E-45E4-863A-0CFA060E41CF}"/>
              </a:ext>
            </a:extLst>
          </p:cNvPr>
          <p:cNvSpPr>
            <a:spLocks xmlns:a="http://schemas.openxmlformats.org/drawingml/2006/main" noGrp="1"/>
          </p:cNvSpPr>
          <p:nvPr/>
        </p:nvSpPr>
        <p:spPr>
          <a:xfrm xmlns:a="http://schemas.openxmlformats.org/drawingml/2006/main">
            <a:off x="685800" y="2352675"/>
            <a:ext cx="4905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D6F58B"/>
                </a:solidFill>
                <a:latin typeface="Segoe UI"/>
                <a:ea typeface="Segoe UI"/>
                <a:cs typeface="Segoe UI"/>
              </a:defRPr>
            </a:defPPr>
          </a:lstStyle>
          <a:p xmlns:a="http://schemas.openxmlformats.org/drawingml/2006/main">
            <a:pPr algn="l">
              <a:buNone/>
              <a:defRPr sz="2100" b="1">
                <a:solidFill>
                  <a:srgbClr val="D6F58B"/>
                </a:solidFill>
                <a:latin typeface="Segoe UI"/>
                <a:ea typeface="Segoe UI"/>
                <a:cs typeface="Segoe UI"/>
              </a:defRPr>
            </a:pPr>
            <a:r>
              <a:rPr sz="2100" b="1">
                <a:solidFill>
                  <a:srgbClr val="D6F58B"/>
                </a:solidFill>
                <a:latin typeface="Segoe UI"/>
                <a:ea typeface="Segoe UI"/>
                <a:cs typeface="Segoe UI"/>
              </a:rPr>
              <a:t>Declined purchase</a:t>
            </a:r>
          </a:p>
        </p:txBody>
      </p:sp>
      <p:sp>
        <p:nvSpPr>
          <p:cNvPr id="5" name="Save the reason. Leave the balance unchang">
            <a:extLst xmlns:a="http://schemas.openxmlformats.org/drawingml/2006/main">
              <a:ext uri="{FF2B5EF4-FFF2-40B4-BE49-F238E27FC236}">
                <a16:creationId xmlns:a16="http://schemas.microsoft.com/office/drawing/2014/main" id="{B115C222-2CAD-4EE9-8D51-DA29870107F4}"/>
              </a:ext>
            </a:extLst>
          </p:cNvPr>
          <p:cNvSpPr>
            <a:spLocks xmlns:a="http://schemas.openxmlformats.org/drawingml/2006/main" noGrp="1"/>
          </p:cNvSpPr>
          <p:nvPr/>
        </p:nvSpPr>
        <p:spPr>
          <a:xfrm xmlns:a="http://schemas.openxmlformats.org/drawingml/2006/main">
            <a:off x="5915025" y="2352675"/>
            <a:ext cx="5572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Save the reason. Leave the balance unchanged.</a:t>
            </a:r>
          </a:p>
        </p:txBody>
      </p:sp>
      <p:sp>
        <p:nvSpPr>
          <p:cNvPr id="6" name="">
            <a:extLst xmlns:a="http://schemas.openxmlformats.org/drawingml/2006/main">
              <a:ext uri="{FF2B5EF4-FFF2-40B4-BE49-F238E27FC236}">
                <a16:creationId xmlns:a16="http://schemas.microsoft.com/office/drawing/2014/main" id="{D7C059C2-56BE-4AE9-9EA4-5D4ADD4AA307}"/>
              </a:ext>
            </a:extLst>
          </p:cNvPr>
          <p:cNvSpPr>
            <a:spLocks xmlns:a="http://schemas.openxmlformats.org/drawingml/2006/main" noGrp="1"/>
          </p:cNvSpPr>
          <p:nvPr/>
        </p:nvSpPr>
        <p:spPr>
          <a:xfrm xmlns:a="http://schemas.openxmlformats.org/drawingml/2006/main">
            <a:off x="685800" y="3067050"/>
            <a:ext cx="10820400" cy="0"/>
          </a:xfrm>
          <a:prstGeom xmlns:a="http://schemas.openxmlformats.org/drawingml/2006/main" prst="line">
            <a:avLst/>
          </a:prstGeom>
          <a:ln xmlns:a="http://schemas.openxmlformats.org/drawingml/2006/main" w="14288">
            <a:solidFill>
              <a:srgbClr val="354238"/>
            </a:solidFill>
          </a:ln>
        </p:spPr>
      </p:sp>
      <p:sp>
        <p:nvSpPr>
          <p:cNvPr id="7" name="Same request again">
            <a:extLst xmlns:a="http://schemas.openxmlformats.org/drawingml/2006/main">
              <a:ext uri="{FF2B5EF4-FFF2-40B4-BE49-F238E27FC236}">
                <a16:creationId xmlns:a16="http://schemas.microsoft.com/office/drawing/2014/main" id="{241C69FB-3B79-49BA-969E-CD119B1F7C65}"/>
              </a:ext>
            </a:extLst>
          </p:cNvPr>
          <p:cNvSpPr>
            <a:spLocks xmlns:a="http://schemas.openxmlformats.org/drawingml/2006/main" noGrp="1"/>
          </p:cNvSpPr>
          <p:nvPr/>
        </p:nvSpPr>
        <p:spPr>
          <a:xfrm xmlns:a="http://schemas.openxmlformats.org/drawingml/2006/main">
            <a:off x="685800" y="3238500"/>
            <a:ext cx="4905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D6F58B"/>
                </a:solidFill>
                <a:latin typeface="Segoe UI"/>
                <a:ea typeface="Segoe UI"/>
                <a:cs typeface="Segoe UI"/>
              </a:defRPr>
            </a:defPPr>
          </a:lstStyle>
          <a:p xmlns:a="http://schemas.openxmlformats.org/drawingml/2006/main">
            <a:pPr algn="l">
              <a:buNone/>
              <a:defRPr sz="2100" b="1">
                <a:solidFill>
                  <a:srgbClr val="D6F58B"/>
                </a:solidFill>
                <a:latin typeface="Segoe UI"/>
                <a:ea typeface="Segoe UI"/>
                <a:cs typeface="Segoe UI"/>
              </a:defRPr>
            </a:pPr>
            <a:r>
              <a:rPr sz="2100" b="1">
                <a:solidFill>
                  <a:srgbClr val="D6F58B"/>
                </a:solidFill>
                <a:latin typeface="Segoe UI"/>
                <a:ea typeface="Segoe UI"/>
                <a:cs typeface="Segoe UI"/>
              </a:rPr>
              <a:t>Same request again</a:t>
            </a:r>
          </a:p>
        </p:txBody>
      </p:sp>
      <p:sp>
        <p:nvSpPr>
          <p:cNvPr id="8" name="Return the existing transaction.">
            <a:extLst xmlns:a="http://schemas.openxmlformats.org/drawingml/2006/main">
              <a:ext uri="{FF2B5EF4-FFF2-40B4-BE49-F238E27FC236}">
                <a16:creationId xmlns:a16="http://schemas.microsoft.com/office/drawing/2014/main" id="{919A872B-9791-49DC-97A9-9797C99404E2}"/>
              </a:ext>
            </a:extLst>
          </p:cNvPr>
          <p:cNvSpPr>
            <a:spLocks xmlns:a="http://schemas.openxmlformats.org/drawingml/2006/main" noGrp="1"/>
          </p:cNvSpPr>
          <p:nvPr/>
        </p:nvSpPr>
        <p:spPr>
          <a:xfrm xmlns:a="http://schemas.openxmlformats.org/drawingml/2006/main">
            <a:off x="5915025" y="3238500"/>
            <a:ext cx="5572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Return the existing transaction.</a:t>
            </a:r>
          </a:p>
        </p:txBody>
      </p:sp>
      <p:sp>
        <p:nvSpPr>
          <p:cNvPr id="9" name="">
            <a:extLst xmlns:a="http://schemas.openxmlformats.org/drawingml/2006/main">
              <a:ext uri="{FF2B5EF4-FFF2-40B4-BE49-F238E27FC236}">
                <a16:creationId xmlns:a16="http://schemas.microsoft.com/office/drawing/2014/main" id="{F8941673-614F-454E-8EB8-8641A9F80744}"/>
              </a:ext>
            </a:extLst>
          </p:cNvPr>
          <p:cNvSpPr>
            <a:spLocks xmlns:a="http://schemas.openxmlformats.org/drawingml/2006/main" noGrp="1"/>
          </p:cNvSpPr>
          <p:nvPr/>
        </p:nvSpPr>
        <p:spPr>
          <a:xfrm xmlns:a="http://schemas.openxmlformats.org/drawingml/2006/main">
            <a:off x="685800" y="3952875"/>
            <a:ext cx="10820400" cy="0"/>
          </a:xfrm>
          <a:prstGeom xmlns:a="http://schemas.openxmlformats.org/drawingml/2006/main" prst="line">
            <a:avLst/>
          </a:prstGeom>
          <a:ln xmlns:a="http://schemas.openxmlformats.org/drawingml/2006/main" w="14288">
            <a:solidFill>
              <a:srgbClr val="354238"/>
            </a:solidFill>
          </a:ln>
        </p:spPr>
      </p:sp>
      <p:sp>
        <p:nvSpPr>
          <p:cNvPr id="10" name="Same ID, changed details">
            <a:extLst xmlns:a="http://schemas.openxmlformats.org/drawingml/2006/main">
              <a:ext uri="{FF2B5EF4-FFF2-40B4-BE49-F238E27FC236}">
                <a16:creationId xmlns:a16="http://schemas.microsoft.com/office/drawing/2014/main" id="{93CFF111-B9E1-4463-81BE-E91DBC644582}"/>
              </a:ext>
            </a:extLst>
          </p:cNvPr>
          <p:cNvSpPr>
            <a:spLocks xmlns:a="http://schemas.openxmlformats.org/drawingml/2006/main" noGrp="1"/>
          </p:cNvSpPr>
          <p:nvPr/>
        </p:nvSpPr>
        <p:spPr>
          <a:xfrm xmlns:a="http://schemas.openxmlformats.org/drawingml/2006/main">
            <a:off x="685800" y="4124325"/>
            <a:ext cx="4905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D6F58B"/>
                </a:solidFill>
                <a:latin typeface="Segoe UI"/>
                <a:ea typeface="Segoe UI"/>
                <a:cs typeface="Segoe UI"/>
              </a:defRPr>
            </a:defPPr>
          </a:lstStyle>
          <a:p xmlns:a="http://schemas.openxmlformats.org/drawingml/2006/main">
            <a:pPr algn="l">
              <a:buNone/>
              <a:defRPr sz="2100" b="1">
                <a:solidFill>
                  <a:srgbClr val="D6F58B"/>
                </a:solidFill>
                <a:latin typeface="Segoe UI"/>
                <a:ea typeface="Segoe UI"/>
                <a:cs typeface="Segoe UI"/>
              </a:defRPr>
            </a:pPr>
            <a:r>
              <a:rPr sz="2100" b="1">
                <a:solidFill>
                  <a:srgbClr val="D6F58B"/>
                </a:solidFill>
                <a:latin typeface="Segoe UI"/>
                <a:ea typeface="Segoe UI"/>
                <a:cs typeface="Segoe UI"/>
              </a:rPr>
              <a:t>Same ID, changed details</a:t>
            </a:r>
          </a:p>
        </p:txBody>
      </p:sp>
      <p:sp>
        <p:nvSpPr>
          <p:cNvPr id="11" name="Reject the conflicting request.">
            <a:extLst xmlns:a="http://schemas.openxmlformats.org/drawingml/2006/main">
              <a:ext uri="{FF2B5EF4-FFF2-40B4-BE49-F238E27FC236}">
                <a16:creationId xmlns:a16="http://schemas.microsoft.com/office/drawing/2014/main" id="{7293B850-7646-49A9-9F47-414965F8C75E}"/>
              </a:ext>
            </a:extLst>
          </p:cNvPr>
          <p:cNvSpPr>
            <a:spLocks xmlns:a="http://schemas.openxmlformats.org/drawingml/2006/main" noGrp="1"/>
          </p:cNvSpPr>
          <p:nvPr/>
        </p:nvSpPr>
        <p:spPr>
          <a:xfrm xmlns:a="http://schemas.openxmlformats.org/drawingml/2006/main">
            <a:off x="5915025" y="4124325"/>
            <a:ext cx="5572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Reject the conflicting request.</a:t>
            </a:r>
          </a:p>
        </p:txBody>
      </p:sp>
      <p:sp>
        <p:nvSpPr>
          <p:cNvPr id="12" name="">
            <a:extLst xmlns:a="http://schemas.openxmlformats.org/drawingml/2006/main">
              <a:ext uri="{FF2B5EF4-FFF2-40B4-BE49-F238E27FC236}">
                <a16:creationId xmlns:a16="http://schemas.microsoft.com/office/drawing/2014/main" id="{FEF51601-4930-4B52-9854-48A7313BDD5B}"/>
              </a:ext>
            </a:extLst>
          </p:cNvPr>
          <p:cNvSpPr>
            <a:spLocks xmlns:a="http://schemas.openxmlformats.org/drawingml/2006/main" noGrp="1"/>
          </p:cNvSpPr>
          <p:nvPr/>
        </p:nvSpPr>
        <p:spPr>
          <a:xfrm xmlns:a="http://schemas.openxmlformats.org/drawingml/2006/main">
            <a:off x="685800" y="4838700"/>
            <a:ext cx="10820400" cy="0"/>
          </a:xfrm>
          <a:prstGeom xmlns:a="http://schemas.openxmlformats.org/drawingml/2006/main" prst="line">
            <a:avLst/>
          </a:prstGeom>
          <a:ln xmlns:a="http://schemas.openxmlformats.org/drawingml/2006/main" w="14288">
            <a:solidFill>
              <a:srgbClr val="354238"/>
            </a:solidFill>
          </a:ln>
        </p:spPr>
      </p:sp>
      <p:sp>
        <p:nvSpPr>
          <p:cNvPr id="13" name="Concurrent spending or failed write">
            <a:extLst xmlns:a="http://schemas.openxmlformats.org/drawingml/2006/main">
              <a:ext uri="{FF2B5EF4-FFF2-40B4-BE49-F238E27FC236}">
                <a16:creationId xmlns:a16="http://schemas.microsoft.com/office/drawing/2014/main" id="{0DECC51A-414D-49B9-B357-8B898E985D77}"/>
              </a:ext>
            </a:extLst>
          </p:cNvPr>
          <p:cNvSpPr>
            <a:spLocks xmlns:a="http://schemas.openxmlformats.org/drawingml/2006/main" noGrp="1"/>
          </p:cNvSpPr>
          <p:nvPr/>
        </p:nvSpPr>
        <p:spPr>
          <a:xfrm xmlns:a="http://schemas.openxmlformats.org/drawingml/2006/main">
            <a:off x="685800" y="5010150"/>
            <a:ext cx="4905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D6F58B"/>
                </a:solidFill>
                <a:latin typeface="Segoe UI"/>
                <a:ea typeface="Segoe UI"/>
                <a:cs typeface="Segoe UI"/>
              </a:defRPr>
            </a:defPPr>
          </a:lstStyle>
          <a:p xmlns:a="http://schemas.openxmlformats.org/drawingml/2006/main">
            <a:pPr algn="l">
              <a:buNone/>
              <a:defRPr sz="2100" b="1">
                <a:solidFill>
                  <a:srgbClr val="D6F58B"/>
                </a:solidFill>
                <a:latin typeface="Segoe UI"/>
                <a:ea typeface="Segoe UI"/>
                <a:cs typeface="Segoe UI"/>
              </a:defRPr>
            </a:pPr>
            <a:r>
              <a:rPr sz="2100" b="1">
                <a:solidFill>
                  <a:srgbClr val="D6F58B"/>
                </a:solidFill>
                <a:latin typeface="Segoe UI"/>
                <a:ea typeface="Segoe UI"/>
                <a:cs typeface="Segoe UI"/>
              </a:rPr>
              <a:t>Concurrent spending or failed write</a:t>
            </a:r>
          </a:p>
        </p:txBody>
      </p:sp>
      <p:sp>
        <p:nvSpPr>
          <p:cNvPr id="14" name="Lock the account. Commit or roll back toge">
            <a:extLst xmlns:a="http://schemas.openxmlformats.org/drawingml/2006/main">
              <a:ext uri="{FF2B5EF4-FFF2-40B4-BE49-F238E27FC236}">
                <a16:creationId xmlns:a16="http://schemas.microsoft.com/office/drawing/2014/main" id="{363B5FF0-B4CC-41D3-B32F-2D109BEE03AA}"/>
              </a:ext>
            </a:extLst>
          </p:cNvPr>
          <p:cNvSpPr>
            <a:spLocks xmlns:a="http://schemas.openxmlformats.org/drawingml/2006/main" noGrp="1"/>
          </p:cNvSpPr>
          <p:nvPr/>
        </p:nvSpPr>
        <p:spPr>
          <a:xfrm xmlns:a="http://schemas.openxmlformats.org/drawingml/2006/main">
            <a:off x="5915025" y="5010150"/>
            <a:ext cx="5572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Lock the account. Commit or roll back together.</a:t>
            </a:r>
          </a:p>
        </p:txBody>
      </p:sp>
    </p:spTree>
    <p:extLst>
      <p:ext uri="{BB962C8B-B14F-4D97-AF65-F5344CB8AC3E}">
        <p14:creationId xmlns:p14="http://schemas.microsoft.com/office/powerpoint/2010/main" val="1015793242"/>
      </p:ext>
    </p:extLst>
  </p:cSld>
</p:sld>
</file>

<file path=ppt/slides/slide9.xml><?xml version="1.0" encoding="utf-8"?>
<p:sld xmlns:p="http://schemas.openxmlformats.org/presentationml/2006/main">
  <p:cSld>
    <p:bg>
      <p:bgPr>
        <a:solidFill xmlns:a="http://schemas.openxmlformats.org/drawingml/2006/main">
          <a:srgbClr val="E7EBDF"/>
        </a:solidFill>
      </p:bgPr>
    </p:bg>
    <p:spTree>
      <p:nvGrpSpPr>
        <p:cNvPr id="1" name=""/>
        <p:cNvGrpSpPr/>
        <p:nvPr/>
      </p:nvGrpSpPr>
      <p:grpSpPr>
        <a:xfrm xmlns:a="http://schemas.openxmlformats.org/drawingml/2006/main"/>
      </p:grpSpPr>
      <p:sp>
        <p:nvSpPr>
          <p:cNvPr id="15" name="09">
            <a:extLst xmlns:a="http://schemas.openxmlformats.org/drawingml/2006/main">
              <a:ext uri="{FF2B5EF4-FFF2-40B4-BE49-F238E27FC236}">
                <a16:creationId xmlns:a16="http://schemas.microsoft.com/office/drawing/2014/main" id="{A007A49A-2DA1-4B29-AA77-80F71C0135F4}"/>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4B"/>
                </a:solidFill>
                <a:latin typeface="Consolas"/>
                <a:ea typeface="Consolas"/>
                <a:cs typeface="Consolas"/>
              </a:defRPr>
            </a:defPPr>
          </a:lstStyle>
          <a:p xmlns:a="http://schemas.openxmlformats.org/drawingml/2006/main">
            <a:pPr algn="r">
              <a:buNone/>
              <a:defRPr sz="1350" b="0">
                <a:solidFill>
                  <a:srgbClr val="53634B"/>
                </a:solidFill>
                <a:latin typeface="Consolas"/>
                <a:ea typeface="Consolas"/>
                <a:cs typeface="Consolas"/>
              </a:defRPr>
            </a:pPr>
            <a:r>
              <a:rPr sz="1350" b="0">
                <a:solidFill>
                  <a:srgbClr val="53634B"/>
                </a:solidFill>
                <a:latin typeface="Consolas"/>
                <a:ea typeface="Consolas"/>
                <a:cs typeface="Consolas"/>
              </a:rPr>
              <a:t>09</a:t>
            </a:r>
          </a:p>
        </p:txBody>
      </p:sp>
      <p:sp>
        <p:nvSpPr>
          <p:cNvPr id="2" name="VERIFICATION">
            <a:extLst xmlns:a="http://schemas.openxmlformats.org/drawingml/2006/main">
              <a:ext uri="{FF2B5EF4-FFF2-40B4-BE49-F238E27FC236}">
                <a16:creationId xmlns:a16="http://schemas.microsoft.com/office/drawing/2014/main" id="{26E846F3-BA77-449D-8625-1A05D8C0BFCC}"/>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4B"/>
                </a:solidFill>
                <a:latin typeface="Consolas"/>
                <a:ea typeface="Consolas"/>
                <a:cs typeface="Consolas"/>
              </a:defRPr>
            </a:defPPr>
          </a:lstStyle>
          <a:p xmlns:a="http://schemas.openxmlformats.org/drawingml/2006/main">
            <a:pPr algn="l">
              <a:buNone/>
              <a:defRPr sz="1425" b="0">
                <a:solidFill>
                  <a:srgbClr val="53634B"/>
                </a:solidFill>
                <a:latin typeface="Consolas"/>
                <a:ea typeface="Consolas"/>
                <a:cs typeface="Consolas"/>
              </a:defRPr>
            </a:pPr>
            <a:r>
              <a:rPr sz="1425" b="0">
                <a:solidFill>
                  <a:srgbClr val="53634B"/>
                </a:solidFill>
                <a:latin typeface="Consolas"/>
                <a:ea typeface="Consolas"/>
                <a:cs typeface="Consolas"/>
              </a:rPr>
              <a:t>VERIFICATION</a:t>
            </a:r>
          </a:p>
        </p:txBody>
      </p:sp>
      <p:sp>
        <p:nvSpPr>
          <p:cNvPr id="3" name="Security and testing">
            <a:extLst xmlns:a="http://schemas.openxmlformats.org/drawingml/2006/main">
              <a:ext uri="{FF2B5EF4-FFF2-40B4-BE49-F238E27FC236}">
                <a16:creationId xmlns:a16="http://schemas.microsoft.com/office/drawing/2014/main" id="{FC1FFE67-FEE4-4C65-9548-4E93D506E646}"/>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51C18"/>
                </a:solidFill>
                <a:latin typeface="Segoe UI"/>
                <a:ea typeface="Segoe UI"/>
                <a:cs typeface="Segoe UI"/>
              </a:defRPr>
            </a:defPPr>
          </a:lstStyle>
          <a:p xmlns:a="http://schemas.openxmlformats.org/drawingml/2006/main">
            <a:pPr algn="l">
              <a:buNone/>
              <a:defRPr sz="3975" b="1">
                <a:solidFill>
                  <a:srgbClr val="151C18"/>
                </a:solidFill>
                <a:latin typeface="Segoe UI"/>
                <a:ea typeface="Segoe UI"/>
                <a:cs typeface="Segoe UI"/>
              </a:defRPr>
            </a:pPr>
            <a:r>
              <a:rPr sz="3975" b="1">
                <a:solidFill>
                  <a:srgbClr val="151C18"/>
                </a:solidFill>
                <a:latin typeface="Segoe UI"/>
                <a:ea typeface="Segoe UI"/>
                <a:cs typeface="Segoe UI"/>
              </a:rPr>
              <a:t>Security and testing</a:t>
            </a:r>
          </a:p>
        </p:txBody>
      </p:sp>
      <p:sp>
        <p:nvSpPr>
          <p:cNvPr id="4" name="95.56%">
            <a:extLst xmlns:a="http://schemas.openxmlformats.org/drawingml/2006/main">
              <a:ext uri="{FF2B5EF4-FFF2-40B4-BE49-F238E27FC236}">
                <a16:creationId xmlns:a16="http://schemas.microsoft.com/office/drawing/2014/main" id="{FAFD79CD-C9DD-420B-A200-E24ABAC82A72}"/>
              </a:ext>
            </a:extLst>
          </p:cNvPr>
          <p:cNvSpPr>
            <a:spLocks xmlns:a="http://schemas.openxmlformats.org/drawingml/2006/main" noGrp="1"/>
          </p:cNvSpPr>
          <p:nvPr/>
        </p:nvSpPr>
        <p:spPr>
          <a:xfrm xmlns:a="http://schemas.openxmlformats.org/drawingml/2006/main">
            <a:off x="685800" y="2381250"/>
            <a:ext cx="6048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400" b="1">
                <a:solidFill>
                  <a:srgbClr val="151C18"/>
                </a:solidFill>
                <a:latin typeface="Segoe UI"/>
                <a:ea typeface="Segoe UI"/>
                <a:cs typeface="Segoe UI"/>
              </a:defRPr>
            </a:defPPr>
          </a:lstStyle>
          <a:p xmlns:a="http://schemas.openxmlformats.org/drawingml/2006/main">
            <a:pPr algn="l">
              <a:buNone/>
              <a:defRPr sz="8400" b="1">
                <a:solidFill>
                  <a:srgbClr val="151C18"/>
                </a:solidFill>
                <a:latin typeface="Segoe UI"/>
                <a:ea typeface="Segoe UI"/>
                <a:cs typeface="Segoe UI"/>
              </a:defRPr>
            </a:pPr>
            <a:r>
              <a:rPr sz="8400" b="1">
                <a:solidFill>
                  <a:srgbClr val="151C18"/>
                </a:solidFill>
                <a:latin typeface="Segoe UI"/>
                <a:ea typeface="Segoe UI"/>
                <a:cs typeface="Segoe UI"/>
              </a:rPr>
              <a:t>95.56%</a:t>
            </a:r>
          </a:p>
        </p:txBody>
      </p:sp>
      <p:sp>
        <p:nvSpPr>
          <p:cNvPr id="5" name="Java line coverage">
            <a:extLst xmlns:a="http://schemas.openxmlformats.org/drawingml/2006/main">
              <a:ext uri="{FF2B5EF4-FFF2-40B4-BE49-F238E27FC236}">
                <a16:creationId xmlns:a16="http://schemas.microsoft.com/office/drawing/2014/main" id="{65465911-9446-47D2-A63E-08F53A4D8E75}"/>
              </a:ext>
            </a:extLst>
          </p:cNvPr>
          <p:cNvSpPr>
            <a:spLocks xmlns:a="http://schemas.openxmlformats.org/drawingml/2006/main" noGrp="1"/>
          </p:cNvSpPr>
          <p:nvPr/>
        </p:nvSpPr>
        <p:spPr>
          <a:xfrm xmlns:a="http://schemas.openxmlformats.org/drawingml/2006/main">
            <a:off x="752475" y="3838575"/>
            <a:ext cx="5086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3634B"/>
                </a:solidFill>
                <a:latin typeface="Segoe UI"/>
                <a:ea typeface="Segoe UI"/>
                <a:cs typeface="Segoe UI"/>
              </a:defRPr>
            </a:defPPr>
          </a:lstStyle>
          <a:p xmlns:a="http://schemas.openxmlformats.org/drawingml/2006/main">
            <a:pPr algn="l">
              <a:buNone/>
              <a:defRPr sz="2475" b="0">
                <a:solidFill>
                  <a:srgbClr val="53634B"/>
                </a:solidFill>
                <a:latin typeface="Segoe UI"/>
                <a:ea typeface="Segoe UI"/>
                <a:cs typeface="Segoe UI"/>
              </a:defRPr>
            </a:pPr>
            <a:r>
              <a:rPr sz="2475" b="0">
                <a:solidFill>
                  <a:srgbClr val="53634B"/>
                </a:solidFill>
                <a:latin typeface="Segoe UI"/>
                <a:ea typeface="Segoe UI"/>
                <a:cs typeface="Segoe UI"/>
              </a:rPr>
              <a:t>Java line coverage</a:t>
            </a:r>
          </a:p>
        </p:txBody>
      </p:sp>
      <p:sp>
        <p:nvSpPr>
          <p:cNvPr id="6" name="47 Java tests">
            <a:extLst xmlns:a="http://schemas.openxmlformats.org/drawingml/2006/main">
              <a:ext uri="{FF2B5EF4-FFF2-40B4-BE49-F238E27FC236}">
                <a16:creationId xmlns:a16="http://schemas.microsoft.com/office/drawing/2014/main" id="{562BE68B-66F7-46D4-8618-E9DC0491DAE7}"/>
              </a:ext>
            </a:extLst>
          </p:cNvPr>
          <p:cNvSpPr>
            <a:spLocks xmlns:a="http://schemas.openxmlformats.org/drawingml/2006/main" noGrp="1"/>
          </p:cNvSpPr>
          <p:nvPr/>
        </p:nvSpPr>
        <p:spPr>
          <a:xfrm xmlns:a="http://schemas.openxmlformats.org/drawingml/2006/main">
            <a:off x="752475" y="46101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18"/>
                </a:solidFill>
                <a:latin typeface="Segoe UI"/>
                <a:ea typeface="Segoe UI"/>
                <a:cs typeface="Segoe UI"/>
              </a:defRPr>
            </a:defPPr>
          </a:lstStyle>
          <a:p xmlns:a="http://schemas.openxmlformats.org/drawingml/2006/main">
            <a:pPr algn="l">
              <a:buNone/>
              <a:defRPr sz="3225" b="1">
                <a:solidFill>
                  <a:srgbClr val="151C18"/>
                </a:solidFill>
                <a:latin typeface="Segoe UI"/>
                <a:ea typeface="Segoe UI"/>
                <a:cs typeface="Segoe UI"/>
              </a:defRPr>
            </a:pPr>
            <a:r>
              <a:rPr sz="3225" b="1">
                <a:solidFill>
                  <a:srgbClr val="151C18"/>
                </a:solidFill>
                <a:latin typeface="Segoe UI"/>
                <a:ea typeface="Segoe UI"/>
                <a:cs typeface="Segoe UI"/>
              </a:rPr>
              <a:t>47 Java tests</a:t>
            </a:r>
          </a:p>
        </p:txBody>
      </p:sp>
      <p:sp>
        <p:nvSpPr>
          <p:cNvPr id="7" name="Including 13 real MySQL integration tests">
            <a:extLst xmlns:a="http://schemas.openxmlformats.org/drawingml/2006/main">
              <a:ext uri="{FF2B5EF4-FFF2-40B4-BE49-F238E27FC236}">
                <a16:creationId xmlns:a16="http://schemas.microsoft.com/office/drawing/2014/main" id="{0764E796-67A2-43C5-9B54-AF03454DDA43}"/>
              </a:ext>
            </a:extLst>
          </p:cNvPr>
          <p:cNvSpPr>
            <a:spLocks xmlns:a="http://schemas.openxmlformats.org/drawingml/2006/main" noGrp="1"/>
          </p:cNvSpPr>
          <p:nvPr/>
        </p:nvSpPr>
        <p:spPr>
          <a:xfrm xmlns:a="http://schemas.openxmlformats.org/drawingml/2006/main">
            <a:off x="752475" y="5248275"/>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4B"/>
                </a:solidFill>
                <a:latin typeface="Segoe UI"/>
                <a:ea typeface="Segoe UI"/>
                <a:cs typeface="Segoe UI"/>
              </a:defRPr>
            </a:defPPr>
          </a:lstStyle>
          <a:p xmlns:a="http://schemas.openxmlformats.org/drawingml/2006/main">
            <a:pPr algn="l">
              <a:buNone/>
              <a:defRPr sz="1800" b="0">
                <a:solidFill>
                  <a:srgbClr val="53634B"/>
                </a:solidFill>
                <a:latin typeface="Segoe UI"/>
                <a:ea typeface="Segoe UI"/>
                <a:cs typeface="Segoe UI"/>
              </a:defRPr>
            </a:pPr>
            <a:r>
              <a:rPr sz="1800" b="0">
                <a:solidFill>
                  <a:srgbClr val="53634B"/>
                </a:solidFill>
                <a:latin typeface="Segoe UI"/>
                <a:ea typeface="Segoe UI"/>
                <a:cs typeface="Segoe UI"/>
              </a:rPr>
              <a:t>Including 13 real MySQL integration tests</a:t>
            </a:r>
          </a:p>
        </p:txBody>
      </p:sp>
      <p:sp>
        <p:nvSpPr>
          <p:cNvPr id="8" name="BCrypt passwords">
            <a:extLst xmlns:a="http://schemas.openxmlformats.org/drawingml/2006/main">
              <a:ext uri="{FF2B5EF4-FFF2-40B4-BE49-F238E27FC236}">
                <a16:creationId xmlns:a16="http://schemas.microsoft.com/office/drawing/2014/main" id="{6E29AA15-4AF3-4715-9B72-3969A4046B22}"/>
              </a:ext>
            </a:extLst>
          </p:cNvPr>
          <p:cNvSpPr>
            <a:spLocks xmlns:a="http://schemas.openxmlformats.org/drawingml/2006/main" noGrp="1"/>
          </p:cNvSpPr>
          <p:nvPr/>
        </p:nvSpPr>
        <p:spPr>
          <a:xfrm xmlns:a="http://schemas.openxmlformats.org/drawingml/2006/main">
            <a:off x="7467600" y="2400300"/>
            <a:ext cx="4048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18"/>
                </a:solidFill>
                <a:latin typeface="Segoe UI"/>
                <a:ea typeface="Segoe UI"/>
                <a:cs typeface="Segoe UI"/>
              </a:defRPr>
            </a:defPPr>
          </a:lstStyle>
          <a:p xmlns:a="http://schemas.openxmlformats.org/drawingml/2006/main">
            <a:pPr algn="l">
              <a:buNone/>
              <a:defRPr sz="2325" b="1">
                <a:solidFill>
                  <a:srgbClr val="151C18"/>
                </a:solidFill>
                <a:latin typeface="Segoe UI"/>
                <a:ea typeface="Segoe UI"/>
                <a:cs typeface="Segoe UI"/>
              </a:defRPr>
            </a:pPr>
            <a:r>
              <a:rPr sz="2325" b="1">
                <a:solidFill>
                  <a:srgbClr val="151C18"/>
                </a:solidFill>
                <a:latin typeface="Segoe UI"/>
                <a:ea typeface="Segoe UI"/>
                <a:cs typeface="Segoe UI"/>
              </a:rPr>
              <a:t>BCrypt passwords</a:t>
            </a:r>
          </a:p>
        </p:txBody>
      </p:sp>
      <p:sp>
        <p:nvSpPr>
          <p:cNvPr id="9" name="Signed JWTs in React memory&#10;Role and owner">
            <a:extLst xmlns:a="http://schemas.openxmlformats.org/drawingml/2006/main">
              <a:ext uri="{FF2B5EF4-FFF2-40B4-BE49-F238E27FC236}">
                <a16:creationId xmlns:a16="http://schemas.microsoft.com/office/drawing/2014/main" id="{C2E68D68-1AAE-4BFF-A43F-3667F54332C1}"/>
              </a:ext>
            </a:extLst>
          </p:cNvPr>
          <p:cNvSpPr>
            <a:spLocks xmlns:a="http://schemas.openxmlformats.org/drawingml/2006/main" noGrp="1"/>
          </p:cNvSpPr>
          <p:nvPr/>
        </p:nvSpPr>
        <p:spPr>
          <a:xfrm xmlns:a="http://schemas.openxmlformats.org/drawingml/2006/main">
            <a:off x="7467600" y="2962275"/>
            <a:ext cx="4048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34B"/>
                </a:solidFill>
                <a:latin typeface="Segoe UI"/>
                <a:ea typeface="Segoe UI"/>
                <a:cs typeface="Segoe UI"/>
              </a:defRPr>
            </a:defPPr>
          </a:lstStyle>
          <a:p xmlns:a="http://schemas.openxmlformats.org/drawingml/2006/main">
            <a:pPr algn="l">
              <a:buNone/>
              <a:defRPr sz="2025" b="0">
                <a:solidFill>
                  <a:srgbClr val="53634B"/>
                </a:solidFill>
                <a:latin typeface="Segoe UI"/>
                <a:ea typeface="Segoe UI"/>
                <a:cs typeface="Segoe UI"/>
              </a:defRPr>
            </a:pPr>
            <a:r>
              <a:rPr sz="2025" b="0">
                <a:solidFill>
                  <a:srgbClr val="53634B"/>
                </a:solidFill>
                <a:latin typeface="Segoe UI"/>
                <a:ea typeface="Segoe UI"/>
                <a:cs typeface="Segoe UI"/>
              </a:rPr>
              <a:t>Signed JWTs in React memory</a:t>
            </a:r>
          </a:p>
          <a:p xmlns:a="http://schemas.openxmlformats.org/drawingml/2006/main">
            <a:pPr algn="l">
              <a:buNone/>
              <a:defRPr sz="2025" b="0">
                <a:solidFill>
                  <a:srgbClr val="53634B"/>
                </a:solidFill>
                <a:latin typeface="Segoe UI"/>
                <a:ea typeface="Segoe UI"/>
                <a:cs typeface="Segoe UI"/>
              </a:defRPr>
            </a:pPr>
            <a:r>
              <a:rPr sz="2025" b="0">
                <a:solidFill>
                  <a:srgbClr val="53634B"/>
                </a:solidFill>
                <a:latin typeface="Segoe UI"/>
                <a:ea typeface="Segoe UI"/>
                <a:cs typeface="Segoe UI"/>
              </a:rPr>
              <a:t>Role and ownership checks</a:t>
            </a:r>
          </a:p>
        </p:txBody>
      </p:sp>
      <p:sp>
        <p:nvSpPr>
          <p:cNvPr id="10" name="">
            <a:extLst xmlns:a="http://schemas.openxmlformats.org/drawingml/2006/main">
              <a:ext uri="{FF2B5EF4-FFF2-40B4-BE49-F238E27FC236}">
                <a16:creationId xmlns:a16="http://schemas.microsoft.com/office/drawing/2014/main" id="{F6C2B529-80C2-4AC6-9C20-462F969BA10F}"/>
              </a:ext>
            </a:extLst>
          </p:cNvPr>
          <p:cNvSpPr>
            <a:spLocks xmlns:a="http://schemas.openxmlformats.org/drawingml/2006/main" noGrp="1"/>
          </p:cNvSpPr>
          <p:nvPr/>
        </p:nvSpPr>
        <p:spPr>
          <a:xfrm xmlns:a="http://schemas.openxmlformats.org/drawingml/2006/main">
            <a:off x="7467600" y="4133850"/>
            <a:ext cx="4038600" cy="0"/>
          </a:xfrm>
          <a:prstGeom xmlns:a="http://schemas.openxmlformats.org/drawingml/2006/main" prst="line">
            <a:avLst/>
          </a:prstGeom>
          <a:ln xmlns:a="http://schemas.openxmlformats.org/drawingml/2006/main" w="14288">
            <a:solidFill>
              <a:srgbClr val="BAC5B1"/>
            </a:solidFill>
          </a:ln>
        </p:spPr>
      </p:sp>
      <p:sp>
        <p:nvSpPr>
          <p:cNvPr id="11" name="Postman">
            <a:extLst xmlns:a="http://schemas.openxmlformats.org/drawingml/2006/main">
              <a:ext uri="{FF2B5EF4-FFF2-40B4-BE49-F238E27FC236}">
                <a16:creationId xmlns:a16="http://schemas.microsoft.com/office/drawing/2014/main" id="{7B60B5D7-D651-4139-804E-815D7D2D839B}"/>
              </a:ext>
            </a:extLst>
          </p:cNvPr>
          <p:cNvSpPr>
            <a:spLocks xmlns:a="http://schemas.openxmlformats.org/drawingml/2006/main" noGrp="1"/>
          </p:cNvSpPr>
          <p:nvPr/>
        </p:nvSpPr>
        <p:spPr>
          <a:xfrm xmlns:a="http://schemas.openxmlformats.org/drawingml/2006/main">
            <a:off x="7467600" y="44481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18"/>
                </a:solidFill>
                <a:latin typeface="Segoe UI"/>
                <a:ea typeface="Segoe UI"/>
                <a:cs typeface="Segoe UI"/>
              </a:defRPr>
            </a:defPPr>
          </a:lstStyle>
          <a:p xmlns:a="http://schemas.openxmlformats.org/drawingml/2006/main">
            <a:pPr algn="l">
              <a:buNone/>
              <a:defRPr sz="2250" b="1">
                <a:solidFill>
                  <a:srgbClr val="151C18"/>
                </a:solidFill>
                <a:latin typeface="Segoe UI"/>
                <a:ea typeface="Segoe UI"/>
                <a:cs typeface="Segoe UI"/>
              </a:defRPr>
            </a:pPr>
            <a:r>
              <a:rPr sz="2250" b="1">
                <a:solidFill>
                  <a:srgbClr val="151C18"/>
                </a:solidFill>
                <a:latin typeface="Segoe UI"/>
                <a:ea typeface="Segoe UI"/>
                <a:cs typeface="Segoe UI"/>
              </a:rPr>
              <a:t>Postman</a:t>
            </a:r>
          </a:p>
        </p:txBody>
      </p:sp>
      <p:sp>
        <p:nvSpPr>
          <p:cNvPr id="12" name="56 requests / 83 assertions passed">
            <a:extLst xmlns:a="http://schemas.openxmlformats.org/drawingml/2006/main">
              <a:ext uri="{FF2B5EF4-FFF2-40B4-BE49-F238E27FC236}">
                <a16:creationId xmlns:a16="http://schemas.microsoft.com/office/drawing/2014/main" id="{7FBCA02D-2DB5-48B2-B901-EBB797F6E889}"/>
              </a:ext>
            </a:extLst>
          </p:cNvPr>
          <p:cNvSpPr>
            <a:spLocks xmlns:a="http://schemas.openxmlformats.org/drawingml/2006/main" noGrp="1"/>
          </p:cNvSpPr>
          <p:nvPr/>
        </p:nvSpPr>
        <p:spPr>
          <a:xfrm xmlns:a="http://schemas.openxmlformats.org/drawingml/2006/main">
            <a:off x="7467600" y="4886325"/>
            <a:ext cx="4038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34B"/>
                </a:solidFill>
                <a:latin typeface="Segoe UI"/>
                <a:ea typeface="Segoe UI"/>
                <a:cs typeface="Segoe UI"/>
              </a:defRPr>
            </a:defPPr>
          </a:lstStyle>
          <a:p xmlns:a="http://schemas.openxmlformats.org/drawingml/2006/main">
            <a:pPr algn="l">
              <a:buNone/>
              <a:defRPr sz="1950" b="0">
                <a:solidFill>
                  <a:srgbClr val="53634B"/>
                </a:solidFill>
                <a:latin typeface="Segoe UI"/>
                <a:ea typeface="Segoe UI"/>
                <a:cs typeface="Segoe UI"/>
              </a:defRPr>
            </a:pPr>
            <a:r>
              <a:rPr sz="1950" b="0">
                <a:solidFill>
                  <a:srgbClr val="53634B"/>
                </a:solidFill>
                <a:latin typeface="Segoe UI"/>
                <a:ea typeface="Segoe UI"/>
                <a:cs typeface="Segoe UI"/>
              </a:rPr>
              <a:t>56 requests / 83 assertions passed</a:t>
            </a:r>
          </a:p>
        </p:txBody>
      </p:sp>
      <p:sp>
        <p:nvSpPr>
          <p:cNvPr id="13" name="SonarQube quality gate passed">
            <a:extLst xmlns:a="http://schemas.openxmlformats.org/drawingml/2006/main">
              <a:ext uri="{FF2B5EF4-FFF2-40B4-BE49-F238E27FC236}">
                <a16:creationId xmlns:a16="http://schemas.microsoft.com/office/drawing/2014/main" id="{89F6D01A-B5F9-4DC0-8655-BBE1B419E5AA}"/>
              </a:ext>
            </a:extLst>
          </p:cNvPr>
          <p:cNvSpPr>
            <a:spLocks xmlns:a="http://schemas.openxmlformats.org/drawingml/2006/main" noGrp="1"/>
          </p:cNvSpPr>
          <p:nvPr/>
        </p:nvSpPr>
        <p:spPr>
          <a:xfrm xmlns:a="http://schemas.openxmlformats.org/drawingml/2006/main">
            <a:off x="7467600" y="5648325"/>
            <a:ext cx="403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18"/>
                </a:solidFill>
                <a:latin typeface="Segoe UI"/>
                <a:ea typeface="Segoe UI"/>
                <a:cs typeface="Segoe UI"/>
              </a:defRPr>
            </a:defPPr>
          </a:lstStyle>
          <a:p xmlns:a="http://schemas.openxmlformats.org/drawingml/2006/main">
            <a:pPr algn="l">
              <a:buNone/>
              <a:defRPr sz="1950" b="1">
                <a:solidFill>
                  <a:srgbClr val="151C18"/>
                </a:solidFill>
                <a:latin typeface="Segoe UI"/>
                <a:ea typeface="Segoe UI"/>
                <a:cs typeface="Segoe UI"/>
              </a:defRPr>
            </a:pPr>
            <a:r>
              <a:rPr sz="1950" b="1">
                <a:solidFill>
                  <a:srgbClr val="151C18"/>
                </a:solidFill>
                <a:latin typeface="Segoe UI"/>
                <a:ea typeface="Segoe UI"/>
                <a:cs typeface="Segoe UI"/>
              </a:rPr>
              <a:t>SonarQube quality gate passed</a:t>
            </a:r>
          </a:p>
        </p:txBody>
      </p:sp>
      <p:sp>
        <p:nvSpPr>
          <p:cNvPr id="14" name="Recorded runs: October 9, 2026">
            <a:extLst xmlns:a="http://schemas.openxmlformats.org/drawingml/2006/main">
              <a:ext uri="{FF2B5EF4-FFF2-40B4-BE49-F238E27FC236}">
                <a16:creationId xmlns:a16="http://schemas.microsoft.com/office/drawing/2014/main" id="{6D7A2799-DFB0-440E-910F-A62634B6A07D}"/>
              </a:ext>
            </a:extLst>
          </p:cNvPr>
          <p:cNvSpPr>
            <a:spLocks xmlns:a="http://schemas.openxmlformats.org/drawingml/2006/main" noGrp="1"/>
          </p:cNvSpPr>
          <p:nvPr/>
        </p:nvSpPr>
        <p:spPr>
          <a:xfrm xmlns:a="http://schemas.openxmlformats.org/drawingml/2006/main">
            <a:off x="752475" y="61341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34B"/>
                </a:solidFill>
                <a:latin typeface="Segoe UI"/>
                <a:ea typeface="Segoe UI"/>
                <a:cs typeface="Segoe UI"/>
              </a:defRPr>
            </a:defPPr>
          </a:lstStyle>
          <a:p xmlns:a="http://schemas.openxmlformats.org/drawingml/2006/main">
            <a:pPr algn="l">
              <a:buNone/>
              <a:defRPr sz="1350" b="0">
                <a:solidFill>
                  <a:srgbClr val="53634B"/>
                </a:solidFill>
                <a:latin typeface="Segoe UI"/>
                <a:ea typeface="Segoe UI"/>
                <a:cs typeface="Segoe UI"/>
              </a:defRPr>
            </a:pPr>
            <a:r>
              <a:rPr sz="1350" b="0">
                <a:solidFill>
                  <a:srgbClr val="53634B"/>
                </a:solidFill>
                <a:latin typeface="Segoe UI"/>
                <a:ea typeface="Segoe UI"/>
                <a:cs typeface="Segoe UI"/>
              </a:rPr>
              <a:t>Recorded runs: October 9, 2026</a:t>
            </a:r>
          </a:p>
        </p:txBody>
      </p:sp>
    </p:spTree>
    <p:extLst>
      <p:ext uri="{BB962C8B-B14F-4D97-AF65-F5344CB8AC3E}">
        <p14:creationId xmlns:p14="http://schemas.microsoft.com/office/powerpoint/2010/main" val="842103659"/>
      </p:ext>
    </p:extLst>
  </p:cSld>
</p:sld>
</file>

<file path=ppt/slides/slide10.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sp>
        <p:nvSpPr>
          <p:cNvPr id="17" name="10">
            <a:extLst xmlns:a="http://schemas.openxmlformats.org/drawingml/2006/main">
              <a:ext uri="{FF2B5EF4-FFF2-40B4-BE49-F238E27FC236}">
                <a16:creationId xmlns:a16="http://schemas.microsoft.com/office/drawing/2014/main" id="{47E33722-196E-4CE8-BBFE-2C138E3A5C94}"/>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10</a:t>
            </a:r>
          </a:p>
        </p:txBody>
      </p:sp>
      <p:sp>
        <p:nvSpPr>
          <p:cNvPr id="2" name="LIVE DEMO">
            <a:extLst xmlns:a="http://schemas.openxmlformats.org/drawingml/2006/main">
              <a:ext uri="{FF2B5EF4-FFF2-40B4-BE49-F238E27FC236}">
                <a16:creationId xmlns:a16="http://schemas.microsoft.com/office/drawing/2014/main" id="{1818EDE6-24AF-4222-BE10-14EAD36CAA3A}"/>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RECORDED DEMO</a:t>
            </a:r>
          </a:p>
        </p:txBody>
      </p:sp>
      <p:sp>
        <p:nvSpPr>
          <p:cNvPr id="3" name="A purchase in Credit Circuit">
            <a:extLst xmlns:a="http://schemas.openxmlformats.org/drawingml/2006/main">
              <a:ext uri="{FF2B5EF4-FFF2-40B4-BE49-F238E27FC236}">
                <a16:creationId xmlns:a16="http://schemas.microsoft.com/office/drawing/2014/main" id="{5904BA89-2464-4E5B-9C36-37B4BA5011FB}"/>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A purchase in Credit Circuit</a:t>
            </a:r>
          </a:p>
        </p:txBody>
      </p:sp>
      <p:sp>
        <p:nvSpPr>
          <p:cNvPr id="4" name="Credit at a glance">
            <a:extLst xmlns:a="http://schemas.openxmlformats.org/drawingml/2006/main">
              <a:ext uri="{FF2B5EF4-FFF2-40B4-BE49-F238E27FC236}">
                <a16:creationId xmlns:a16="http://schemas.microsoft.com/office/drawing/2014/main" id="{E603A83D-1A43-43F3-BA4A-569235005A39}"/>
              </a:ext>
            </a:extLst>
          </p:cNvPr>
          <p:cNvSpPr>
            <a:spLocks xmlns:a="http://schemas.openxmlformats.org/drawingml/2006/main" noGrp="1"/>
          </p:cNvSpPr>
          <p:nvPr/>
        </p:nvSpPr>
        <p:spPr>
          <a:xfrm xmlns:a="http://schemas.openxmlformats.org/drawingml/2006/main">
            <a:off x="685800" y="2447925"/>
            <a:ext cx="6191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6F58B"/>
                </a:solidFill>
                <a:latin typeface="Segoe UI"/>
                <a:ea typeface="Segoe UI"/>
                <a:cs typeface="Segoe UI"/>
              </a:defRPr>
            </a:defPPr>
          </a:lstStyle>
          <a:p xmlns:a="http://schemas.openxmlformats.org/drawingml/2006/main">
            <a:pPr algn="l">
              <a:buNone/>
              <a:defRPr sz="2400" b="1">
                <a:solidFill>
                  <a:srgbClr val="D6F58B"/>
                </a:solidFill>
                <a:latin typeface="Segoe UI"/>
                <a:ea typeface="Segoe UI"/>
                <a:cs typeface="Segoe UI"/>
              </a:defRPr>
            </a:pPr>
            <a:r>
              <a:rPr sz="2400" b="1">
                <a:solidFill>
                  <a:srgbClr val="D6F58B"/>
                </a:solidFill>
                <a:latin typeface="Segoe UI"/>
                <a:ea typeface="Segoe UI"/>
                <a:cs typeface="Segoe UI"/>
              </a:rPr>
              <a:t>Credit at a glance</a:t>
            </a:r>
          </a:p>
        </p:txBody>
      </p:sp>
      <p:pic>
        <p:nvPicPr>
          <p:cNvPr id="5" name="">
            <a:extLst xmlns:a="http://schemas.openxmlformats.org/drawingml/2006/main">
              <a:ext uri="{FF2B5EF4-FFF2-40B4-BE49-F238E27FC236}">
                <a16:creationId xmlns:a16="http://schemas.microsoft.com/office/drawing/2014/main" id="{B850A6E5-DD0C-463B-877B-FAB4A3BB3975}"/>
              </a:ext>
            </a:extLst>
          </p:cNvPr>
          <p:cNvPicPr>
            <a:picLocks xmlns:a="http://schemas.openxmlformats.org/drawingml/2006/main" noChangeAspect="1"/>
          </p:cNvPicPr>
          <p:nvPr/>
        </p:nvPicPr>
        <p:blipFill>
          <a:blip xmlns:r="http://schemas.openxmlformats.org/officeDocument/2006/relationships" xmlns:a="http://schemas.openxmlformats.org/drawingml/2006/main" r:embed="Rd1c338fd21a2472c"/>
          <a:srcRect xmlns:a="http://schemas.openxmlformats.org/drawingml/2006/main" l="4000" t="26000" r="4000" b="55300"/>
          <a:stretch xmlns:a="http://schemas.openxmlformats.org/drawingml/2006/main"/>
        </p:blipFill>
        <p:spPr>
          <a:xfrm xmlns:a="http://schemas.openxmlformats.org/drawingml/2006/main">
            <a:off x="685800" y="3333750"/>
            <a:ext cx="6572250" cy="1514475"/>
          </a:xfrm>
          <a:prstGeom xmlns:a="http://schemas.openxmlformats.org/drawingml/2006/main" prst="rect">
            <a:avLst/>
          </a:prstGeom>
        </p:spPr>
      </p:pic>
      <p:sp>
        <p:nvSpPr>
          <p:cNvPr id="6" name="Fictional cards and balances">
            <a:extLst xmlns:a="http://schemas.openxmlformats.org/drawingml/2006/main">
              <a:ext uri="{FF2B5EF4-FFF2-40B4-BE49-F238E27FC236}">
                <a16:creationId xmlns:a16="http://schemas.microsoft.com/office/drawing/2014/main" id="{C88930A4-145D-48EA-8368-1C33D2D5D3B4}"/>
              </a:ext>
            </a:extLst>
          </p:cNvPr>
          <p:cNvSpPr>
            <a:spLocks xmlns:a="http://schemas.openxmlformats.org/drawingml/2006/main" noGrp="1"/>
          </p:cNvSpPr>
          <p:nvPr/>
        </p:nvSpPr>
        <p:spPr>
          <a:xfrm xmlns:a="http://schemas.openxmlformats.org/drawingml/2006/main">
            <a:off x="685800" y="54864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CB6AB"/>
                </a:solidFill>
                <a:latin typeface="Segoe UI"/>
                <a:ea typeface="Segoe UI"/>
                <a:cs typeface="Segoe UI"/>
              </a:defRPr>
            </a:defPPr>
          </a:lstStyle>
          <a:p xmlns:a="http://schemas.openxmlformats.org/drawingml/2006/main">
            <a:pPr algn="l">
              <a:buNone/>
              <a:defRPr sz="2025" b="0">
                <a:solidFill>
                  <a:srgbClr val="ACB6AB"/>
                </a:solidFill>
                <a:latin typeface="Segoe UI"/>
                <a:ea typeface="Segoe UI"/>
                <a:cs typeface="Segoe UI"/>
              </a:defRPr>
            </a:pPr>
            <a:r>
              <a:rPr sz="2025" b="0">
                <a:solidFill>
                  <a:srgbClr val="ACB6AB"/>
                </a:solidFill>
                <a:latin typeface="Segoe UI"/>
                <a:ea typeface="Segoe UI"/>
                <a:cs typeface="Segoe UI"/>
              </a:rPr>
              <a:t>Fictional cards and balances</a:t>
            </a:r>
          </a:p>
        </p:txBody>
      </p:sp>
      <p:sp>
        <p:nvSpPr>
          <p:cNvPr id="7" name="01">
            <a:extLst xmlns:a="http://schemas.openxmlformats.org/drawingml/2006/main">
              <a:ext uri="{FF2B5EF4-FFF2-40B4-BE49-F238E27FC236}">
                <a16:creationId xmlns:a16="http://schemas.microsoft.com/office/drawing/2014/main" id="{BCE9065F-0D51-4CFE-BBEC-75CC19D1AD22}"/>
              </a:ext>
            </a:extLst>
          </p:cNvPr>
          <p:cNvSpPr>
            <a:spLocks xmlns:a="http://schemas.openxmlformats.org/drawingml/2006/main" noGrp="1"/>
          </p:cNvSpPr>
          <p:nvPr/>
        </p:nvSpPr>
        <p:spPr>
          <a:xfrm xmlns:a="http://schemas.openxmlformats.org/drawingml/2006/main">
            <a:off x="7905750" y="2381250"/>
            <a:ext cx="41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01</a:t>
            </a:r>
          </a:p>
        </p:txBody>
      </p:sp>
      <p:sp>
        <p:nvSpPr>
          <p:cNvPr id="8" name="Dashboard and flippable card">
            <a:extLst xmlns:a="http://schemas.openxmlformats.org/drawingml/2006/main">
              <a:ext uri="{FF2B5EF4-FFF2-40B4-BE49-F238E27FC236}">
                <a16:creationId xmlns:a16="http://schemas.microsoft.com/office/drawing/2014/main" id="{4A174E65-A746-48CD-96D3-79DDBCF29527}"/>
              </a:ext>
            </a:extLst>
          </p:cNvPr>
          <p:cNvSpPr>
            <a:spLocks xmlns:a="http://schemas.openxmlformats.org/drawingml/2006/main" noGrp="1"/>
          </p:cNvSpPr>
          <p:nvPr/>
        </p:nvSpPr>
        <p:spPr>
          <a:xfrm xmlns:a="http://schemas.openxmlformats.org/drawingml/2006/main">
            <a:off x="8477250" y="2362200"/>
            <a:ext cx="302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Dashboard and flippable card</a:t>
            </a:r>
          </a:p>
        </p:txBody>
      </p:sp>
      <p:sp>
        <p:nvSpPr>
          <p:cNvPr id="9" name="02">
            <a:extLst xmlns:a="http://schemas.openxmlformats.org/drawingml/2006/main">
              <a:ext uri="{FF2B5EF4-FFF2-40B4-BE49-F238E27FC236}">
                <a16:creationId xmlns:a16="http://schemas.microsoft.com/office/drawing/2014/main" id="{3CCE8189-8398-4057-AC9E-C2E7EAFDCED7}"/>
              </a:ext>
            </a:extLst>
          </p:cNvPr>
          <p:cNvSpPr>
            <a:spLocks xmlns:a="http://schemas.openxmlformats.org/drawingml/2006/main" noGrp="1"/>
          </p:cNvSpPr>
          <p:nvPr/>
        </p:nvSpPr>
        <p:spPr>
          <a:xfrm xmlns:a="http://schemas.openxmlformats.org/drawingml/2006/main">
            <a:off x="7905750" y="3057525"/>
            <a:ext cx="41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02</a:t>
            </a:r>
          </a:p>
        </p:txBody>
      </p:sp>
      <p:sp>
        <p:nvSpPr>
          <p:cNvPr id="10" name="$50 approved purchase">
            <a:extLst xmlns:a="http://schemas.openxmlformats.org/drawingml/2006/main">
              <a:ext uri="{FF2B5EF4-FFF2-40B4-BE49-F238E27FC236}">
                <a16:creationId xmlns:a16="http://schemas.microsoft.com/office/drawing/2014/main" id="{EF6EA513-3F41-4D4B-B6C5-B471C78FFD1E}"/>
              </a:ext>
            </a:extLst>
          </p:cNvPr>
          <p:cNvSpPr>
            <a:spLocks xmlns:a="http://schemas.openxmlformats.org/drawingml/2006/main" noGrp="1"/>
          </p:cNvSpPr>
          <p:nvPr/>
        </p:nvSpPr>
        <p:spPr>
          <a:xfrm xmlns:a="http://schemas.openxmlformats.org/drawingml/2006/main">
            <a:off x="8477250" y="3038475"/>
            <a:ext cx="302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$50 approved purchase</a:t>
            </a:r>
          </a:p>
        </p:txBody>
      </p:sp>
      <p:sp>
        <p:nvSpPr>
          <p:cNvPr id="11" name="03">
            <a:extLst xmlns:a="http://schemas.openxmlformats.org/drawingml/2006/main">
              <a:ext uri="{FF2B5EF4-FFF2-40B4-BE49-F238E27FC236}">
                <a16:creationId xmlns:a16="http://schemas.microsoft.com/office/drawing/2014/main" id="{225E3693-3092-42C8-9B13-0C278A0A11C8}"/>
              </a:ext>
            </a:extLst>
          </p:cNvPr>
          <p:cNvSpPr>
            <a:spLocks xmlns:a="http://schemas.openxmlformats.org/drawingml/2006/main" noGrp="1"/>
          </p:cNvSpPr>
          <p:nvPr/>
        </p:nvSpPr>
        <p:spPr>
          <a:xfrm xmlns:a="http://schemas.openxmlformats.org/drawingml/2006/main">
            <a:off x="7905750" y="3733800"/>
            <a:ext cx="41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03</a:t>
            </a:r>
          </a:p>
        </p:txBody>
      </p:sp>
      <p:sp>
        <p:nvSpPr>
          <p:cNvPr id="12" name="Decline above available credit">
            <a:extLst xmlns:a="http://schemas.openxmlformats.org/drawingml/2006/main">
              <a:ext uri="{FF2B5EF4-FFF2-40B4-BE49-F238E27FC236}">
                <a16:creationId xmlns:a16="http://schemas.microsoft.com/office/drawing/2014/main" id="{473CA8FB-E886-4DB0-80E1-AC9282BA1023}"/>
              </a:ext>
            </a:extLst>
          </p:cNvPr>
          <p:cNvSpPr>
            <a:spLocks xmlns:a="http://schemas.openxmlformats.org/drawingml/2006/main" noGrp="1"/>
          </p:cNvSpPr>
          <p:nvPr/>
        </p:nvSpPr>
        <p:spPr>
          <a:xfrm xmlns:a="http://schemas.openxmlformats.org/drawingml/2006/main">
            <a:off x="8477250" y="3714750"/>
            <a:ext cx="302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Decline above available credit</a:t>
            </a:r>
          </a:p>
        </p:txBody>
      </p:sp>
      <p:sp>
        <p:nvSpPr>
          <p:cNvPr id="13" name="04">
            <a:extLst xmlns:a="http://schemas.openxmlformats.org/drawingml/2006/main">
              <a:ext uri="{FF2B5EF4-FFF2-40B4-BE49-F238E27FC236}">
                <a16:creationId xmlns:a16="http://schemas.microsoft.com/office/drawing/2014/main" id="{4A05A33D-93F4-4CEF-8DD4-5872ADC2B38B}"/>
              </a:ext>
            </a:extLst>
          </p:cNvPr>
          <p:cNvSpPr>
            <a:spLocks xmlns:a="http://schemas.openxmlformats.org/drawingml/2006/main" noGrp="1"/>
          </p:cNvSpPr>
          <p:nvPr/>
        </p:nvSpPr>
        <p:spPr>
          <a:xfrm xmlns:a="http://schemas.openxmlformats.org/drawingml/2006/main">
            <a:off x="7905750" y="4410075"/>
            <a:ext cx="41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04</a:t>
            </a:r>
          </a:p>
        </p:txBody>
      </p:sp>
      <p:sp>
        <p:nvSpPr>
          <p:cNvPr id="14" name="History and full refund">
            <a:extLst xmlns:a="http://schemas.openxmlformats.org/drawingml/2006/main">
              <a:ext uri="{FF2B5EF4-FFF2-40B4-BE49-F238E27FC236}">
                <a16:creationId xmlns:a16="http://schemas.microsoft.com/office/drawing/2014/main" id="{5CE5538B-C958-4539-9B94-1C1DCB038499}"/>
              </a:ext>
            </a:extLst>
          </p:cNvPr>
          <p:cNvSpPr>
            <a:spLocks xmlns:a="http://schemas.openxmlformats.org/drawingml/2006/main" noGrp="1"/>
          </p:cNvSpPr>
          <p:nvPr/>
        </p:nvSpPr>
        <p:spPr>
          <a:xfrm xmlns:a="http://schemas.openxmlformats.org/drawingml/2006/main">
            <a:off x="8477250" y="4391025"/>
            <a:ext cx="302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History and full refund</a:t>
            </a:r>
          </a:p>
        </p:txBody>
      </p:sp>
      <p:sp>
        <p:nvSpPr>
          <p:cNvPr id="15" name="05">
            <a:extLst xmlns:a="http://schemas.openxmlformats.org/drawingml/2006/main">
              <a:ext uri="{FF2B5EF4-FFF2-40B4-BE49-F238E27FC236}">
                <a16:creationId xmlns:a16="http://schemas.microsoft.com/office/drawing/2014/main" id="{470C71FC-6F8D-4C77-B580-E78AC7A60429}"/>
              </a:ext>
            </a:extLst>
          </p:cNvPr>
          <p:cNvSpPr>
            <a:spLocks xmlns:a="http://schemas.openxmlformats.org/drawingml/2006/main" noGrp="1"/>
          </p:cNvSpPr>
          <p:nvPr/>
        </p:nvSpPr>
        <p:spPr>
          <a:xfrm xmlns:a="http://schemas.openxmlformats.org/drawingml/2006/main">
            <a:off x="7905750" y="5086350"/>
            <a:ext cx="41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F58B"/>
                </a:solidFill>
                <a:latin typeface="Consolas"/>
                <a:ea typeface="Consolas"/>
                <a:cs typeface="Consolas"/>
              </a:defRPr>
            </a:defPPr>
          </a:lstStyle>
          <a:p xmlns:a="http://schemas.openxmlformats.org/drawingml/2006/main">
            <a:pPr algn="l">
              <a:buNone/>
              <a:defRPr sz="1725" b="0">
                <a:solidFill>
                  <a:srgbClr val="D6F58B"/>
                </a:solidFill>
                <a:latin typeface="Consolas"/>
                <a:ea typeface="Consolas"/>
                <a:cs typeface="Consolas"/>
              </a:defRPr>
            </a:pPr>
            <a:r>
              <a:rPr sz="1725" b="0">
                <a:solidFill>
                  <a:srgbClr val="D6F58B"/>
                </a:solidFill>
                <a:latin typeface="Consolas"/>
                <a:ea typeface="Consolas"/>
                <a:cs typeface="Consolas"/>
              </a:rPr>
              <a:t>05</a:t>
            </a:r>
          </a:p>
        </p:txBody>
      </p:sp>
      <p:sp>
        <p:nvSpPr>
          <p:cNvPr id="16" name="Admin account freeze">
            <a:extLst xmlns:a="http://schemas.openxmlformats.org/drawingml/2006/main">
              <a:ext uri="{FF2B5EF4-FFF2-40B4-BE49-F238E27FC236}">
                <a16:creationId xmlns:a16="http://schemas.microsoft.com/office/drawing/2014/main" id="{7D1D4FED-CDAF-4CF4-94E1-1E937D026237}"/>
              </a:ext>
            </a:extLst>
          </p:cNvPr>
          <p:cNvSpPr>
            <a:spLocks xmlns:a="http://schemas.openxmlformats.org/drawingml/2006/main" noGrp="1"/>
          </p:cNvSpPr>
          <p:nvPr/>
        </p:nvSpPr>
        <p:spPr>
          <a:xfrm xmlns:a="http://schemas.openxmlformats.org/drawingml/2006/main">
            <a:off x="8477250" y="5067300"/>
            <a:ext cx="302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3EA"/>
                </a:solidFill>
                <a:latin typeface="Segoe UI"/>
                <a:ea typeface="Segoe UI"/>
                <a:cs typeface="Segoe UI"/>
              </a:defRPr>
            </a:defPPr>
          </a:lstStyle>
          <a:p xmlns:a="http://schemas.openxmlformats.org/drawingml/2006/main">
            <a:pPr algn="l">
              <a:buNone/>
              <a:defRPr sz="2025" b="0">
                <a:solidFill>
                  <a:srgbClr val="F2F3EA"/>
                </a:solidFill>
                <a:latin typeface="Segoe UI"/>
                <a:ea typeface="Segoe UI"/>
                <a:cs typeface="Segoe UI"/>
              </a:defRPr>
            </a:pPr>
            <a:r>
              <a:rPr sz="2025" b="0">
                <a:solidFill>
                  <a:srgbClr val="F2F3EA"/>
                </a:solidFill>
                <a:latin typeface="Segoe UI"/>
                <a:ea typeface="Segoe UI"/>
                <a:cs typeface="Segoe UI"/>
              </a:rPr>
              <a:t>Admin account freeze</a:t>
            </a:r>
          </a:p>
        </p:txBody>
      </p:sp>
    </p:spTree>
    <p:extLst>
      <p:ext uri="{BB962C8B-B14F-4D97-AF65-F5344CB8AC3E}">
        <p14:creationId xmlns:p14="http://schemas.microsoft.com/office/powerpoint/2010/main" val="1160829334"/>
      </p:ext>
    </p:extLst>
  </p:cSld>
</p:sld>
</file>

<file path=ppt/slides/slide11.xml><?xml version="1.0" encoding="utf-8"?>
<p:sld xmlns:p="http://schemas.openxmlformats.org/presentationml/2006/main">
  <p:cSld>
    <p:bg>
      <p:bgPr>
        <a:solidFill xmlns:a="http://schemas.openxmlformats.org/drawingml/2006/main">
          <a:srgbClr val="151C18"/>
        </a:solidFill>
      </p:bgPr>
    </p:bg>
    <p:spTree>
      <p:nvGrpSpPr>
        <p:cNvPr id="1" name=""/>
        <p:cNvGrpSpPr/>
        <p:nvPr/>
      </p:nvGrpSpPr>
      <p:grpSpPr>
        <a:xfrm xmlns:a="http://schemas.openxmlformats.org/drawingml/2006/main"/>
      </p:grpSpPr>
      <p:sp>
        <p:nvSpPr>
          <p:cNvPr id="9" name="11">
            <a:extLst xmlns:a="http://schemas.openxmlformats.org/drawingml/2006/main">
              <a:ext uri="{FF2B5EF4-FFF2-40B4-BE49-F238E27FC236}">
                <a16:creationId xmlns:a16="http://schemas.microsoft.com/office/drawing/2014/main" id="{6304F5F1-B969-4E84-B4F7-0BF1619D7E3C}"/>
              </a:ext>
            </a:extLst>
          </p:cNvPr>
          <p:cNvSpPr>
            <a:spLocks xmlns:a="http://schemas.openxmlformats.org/drawingml/2006/main" noGrp="1"/>
          </p:cNvSpPr>
          <p:nvPr/>
        </p:nvSpPr>
        <p:spPr>
          <a:xfrm xmlns:a="http://schemas.openxmlformats.org/drawingml/2006/main">
            <a:off x="11049000" y="63246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CB6AB"/>
                </a:solidFill>
                <a:latin typeface="Consolas"/>
                <a:ea typeface="Consolas"/>
                <a:cs typeface="Consolas"/>
              </a:defRPr>
            </a:defPPr>
          </a:lstStyle>
          <a:p xmlns:a="http://schemas.openxmlformats.org/drawingml/2006/main">
            <a:pPr algn="r">
              <a:buNone/>
              <a:defRPr sz="1350" b="0">
                <a:solidFill>
                  <a:srgbClr val="ACB6AB"/>
                </a:solidFill>
                <a:latin typeface="Consolas"/>
                <a:ea typeface="Consolas"/>
                <a:cs typeface="Consolas"/>
              </a:defRPr>
            </a:pPr>
            <a:r>
              <a:rPr sz="1350" b="0">
                <a:solidFill>
                  <a:srgbClr val="ACB6AB"/>
                </a:solidFill>
                <a:latin typeface="Consolas"/>
                <a:ea typeface="Consolas"/>
                <a:cs typeface="Consolas"/>
              </a:rPr>
              <a:t>11</a:t>
            </a:r>
          </a:p>
        </p:txBody>
      </p:sp>
      <p:sp>
        <p:nvSpPr>
          <p:cNvPr id="2" name="LESSONS LEARNED">
            <a:extLst xmlns:a="http://schemas.openxmlformats.org/drawingml/2006/main">
              <a:ext uri="{FF2B5EF4-FFF2-40B4-BE49-F238E27FC236}">
                <a16:creationId xmlns:a16="http://schemas.microsoft.com/office/drawing/2014/main" id="{9324C911-E014-476C-9756-679F5E31D3C1}"/>
              </a:ext>
            </a:extLst>
          </p:cNvPr>
          <p:cNvSpPr>
            <a:spLocks xmlns:a="http://schemas.openxmlformats.org/drawingml/2006/main" noGrp="1"/>
          </p:cNvSpPr>
          <p:nvPr/>
        </p:nvSpPr>
        <p:spPr>
          <a:xfrm xmlns:a="http://schemas.openxmlformats.org/drawingml/2006/main">
            <a:off x="685800"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6F58B"/>
                </a:solidFill>
                <a:latin typeface="Consolas"/>
                <a:ea typeface="Consolas"/>
                <a:cs typeface="Consolas"/>
              </a:defRPr>
            </a:defPPr>
          </a:lstStyle>
          <a:p xmlns:a="http://schemas.openxmlformats.org/drawingml/2006/main">
            <a:pPr algn="l">
              <a:buNone/>
              <a:defRPr sz="1425" b="0">
                <a:solidFill>
                  <a:srgbClr val="D6F58B"/>
                </a:solidFill>
                <a:latin typeface="Consolas"/>
                <a:ea typeface="Consolas"/>
                <a:cs typeface="Consolas"/>
              </a:defRPr>
            </a:pPr>
            <a:r>
              <a:rPr sz="1425" b="0">
                <a:solidFill>
                  <a:srgbClr val="D6F58B"/>
                </a:solidFill>
                <a:latin typeface="Consolas"/>
                <a:ea typeface="Consolas"/>
                <a:cs typeface="Consolas"/>
              </a:rPr>
              <a:t>LESSONS LEARNED</a:t>
            </a:r>
          </a:p>
        </p:txBody>
      </p:sp>
      <p:sp>
        <p:nvSpPr>
          <p:cNvPr id="3" name="What this project taught me">
            <a:extLst xmlns:a="http://schemas.openxmlformats.org/drawingml/2006/main">
              <a:ext uri="{FF2B5EF4-FFF2-40B4-BE49-F238E27FC236}">
                <a16:creationId xmlns:a16="http://schemas.microsoft.com/office/drawing/2014/main" id="{65C9A63C-0910-4AE4-AC0F-12B9758D5118}"/>
              </a:ext>
            </a:extLst>
          </p:cNvPr>
          <p:cNvSpPr>
            <a:spLocks xmlns:a="http://schemas.openxmlformats.org/drawingml/2006/main" noGrp="1"/>
          </p:cNvSpPr>
          <p:nvPr/>
        </p:nvSpPr>
        <p:spPr>
          <a:xfrm xmlns:a="http://schemas.openxmlformats.org/drawingml/2006/main">
            <a:off x="685800" y="10001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2F3EA"/>
                </a:solidFill>
                <a:latin typeface="Segoe UI"/>
                <a:ea typeface="Segoe UI"/>
                <a:cs typeface="Segoe UI"/>
              </a:defRPr>
            </a:defPPr>
          </a:lstStyle>
          <a:p xmlns:a="http://schemas.openxmlformats.org/drawingml/2006/main">
            <a:pPr algn="l">
              <a:buNone/>
              <a:defRPr sz="3975" b="1">
                <a:solidFill>
                  <a:srgbClr val="F2F3EA"/>
                </a:solidFill>
                <a:latin typeface="Segoe UI"/>
                <a:ea typeface="Segoe UI"/>
                <a:cs typeface="Segoe UI"/>
              </a:defRPr>
            </a:pPr>
            <a:r>
              <a:rPr sz="3975" b="1">
                <a:solidFill>
                  <a:srgbClr val="F2F3EA"/>
                </a:solidFill>
                <a:latin typeface="Segoe UI"/>
                <a:ea typeface="Segoe UI"/>
                <a:cs typeface="Segoe UI"/>
              </a:rPr>
              <a:t>What this project taught me</a:t>
            </a:r>
          </a:p>
        </p:txBody>
      </p:sp>
      <p:sp>
        <p:nvSpPr>
          <p:cNvPr id="4" name="Consistency starts with the design">
            <a:extLst xmlns:a="http://schemas.openxmlformats.org/drawingml/2006/main">
              <a:ext uri="{FF2B5EF4-FFF2-40B4-BE49-F238E27FC236}">
                <a16:creationId xmlns:a16="http://schemas.microsoft.com/office/drawing/2014/main" id="{0002B86A-F17D-4598-8FD2-E54033F44742}"/>
              </a:ext>
            </a:extLst>
          </p:cNvPr>
          <p:cNvSpPr>
            <a:spLocks xmlns:a="http://schemas.openxmlformats.org/drawingml/2006/main" noGrp="1"/>
          </p:cNvSpPr>
          <p:nvPr/>
        </p:nvSpPr>
        <p:spPr>
          <a:xfrm xmlns:a="http://schemas.openxmlformats.org/drawingml/2006/main">
            <a:off x="685800" y="24288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D6F58B"/>
                </a:solidFill>
                <a:latin typeface="Segoe UI"/>
                <a:ea typeface="Segoe UI"/>
                <a:cs typeface="Segoe UI"/>
              </a:defRPr>
            </a:defPPr>
          </a:lstStyle>
          <a:p xmlns:a="http://schemas.openxmlformats.org/drawingml/2006/main">
            <a:pPr algn="l">
              <a:buNone/>
              <a:defRPr sz="3000" b="1">
                <a:solidFill>
                  <a:srgbClr val="D6F58B"/>
                </a:solidFill>
                <a:latin typeface="Segoe UI"/>
                <a:ea typeface="Segoe UI"/>
                <a:cs typeface="Segoe UI"/>
              </a:defRPr>
            </a:pPr>
            <a:r>
              <a:rPr sz="3000" b="1">
                <a:solidFill>
                  <a:srgbClr val="D6F58B"/>
                </a:solidFill>
                <a:latin typeface="Segoe UI"/>
                <a:ea typeface="Segoe UI"/>
                <a:cs typeface="Segoe UI"/>
              </a:rPr>
              <a:t>Consistency starts with the design</a:t>
            </a:r>
          </a:p>
        </p:txBody>
      </p:sp>
      <p:sp>
        <p:nvSpPr>
          <p:cNvPr id="5" name="The balance and history commit together.&#10;E">
            <a:extLst xmlns:a="http://schemas.openxmlformats.org/drawingml/2006/main">
              <a:ext uri="{FF2B5EF4-FFF2-40B4-BE49-F238E27FC236}">
                <a16:creationId xmlns:a16="http://schemas.microsoft.com/office/drawing/2014/main" id="{B1B8F032-3AB0-481B-8686-99BA0A4ACC2E}"/>
              </a:ext>
            </a:extLst>
          </p:cNvPr>
          <p:cNvSpPr>
            <a:spLocks xmlns:a="http://schemas.openxmlformats.org/drawingml/2006/main" noGrp="1"/>
          </p:cNvSpPr>
          <p:nvPr/>
        </p:nvSpPr>
        <p:spPr>
          <a:xfrm xmlns:a="http://schemas.openxmlformats.org/drawingml/2006/main">
            <a:off x="685800" y="3181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2F3EA"/>
                </a:solidFill>
                <a:latin typeface="Segoe UI"/>
                <a:ea typeface="Segoe UI"/>
                <a:cs typeface="Segoe UI"/>
              </a:defRPr>
            </a:defPPr>
          </a:lstStyle>
          <a:p xmlns:a="http://schemas.openxmlformats.org/drawingml/2006/main">
            <a:pPr algn="l">
              <a:buNone/>
              <a:defRPr sz="2175" b="0">
                <a:solidFill>
                  <a:srgbClr val="F2F3EA"/>
                </a:solidFill>
                <a:latin typeface="Segoe UI"/>
                <a:ea typeface="Segoe UI"/>
                <a:cs typeface="Segoe UI"/>
              </a:defRPr>
            </a:pPr>
            <a:r>
              <a:rPr sz="2175" b="0">
                <a:solidFill>
                  <a:srgbClr val="F2F3EA"/>
                </a:solidFill>
                <a:latin typeface="Segoe UI"/>
                <a:ea typeface="Segoe UI"/>
                <a:cs typeface="Segoe UI"/>
              </a:rPr>
              <a:t>The balance and history commit together.</a:t>
            </a:r>
          </a:p>
          <a:p xmlns:a="http://schemas.openxmlformats.org/drawingml/2006/main">
            <a:pPr algn="l">
              <a:buNone/>
              <a:defRPr sz="2175" b="0">
                <a:solidFill>
                  <a:srgbClr val="F2F3EA"/>
                </a:solidFill>
                <a:latin typeface="Segoe UI"/>
                <a:ea typeface="Segoe UI"/>
                <a:cs typeface="Segoe UI"/>
              </a:defRPr>
            </a:pPr>
            <a:r>
              <a:rPr sz="2175" b="0">
                <a:solidFill>
                  <a:srgbClr val="F2F3EA"/>
                </a:solidFill>
                <a:latin typeface="Segoe UI"/>
                <a:ea typeface="Segoe UI"/>
                <a:cs typeface="Segoe UI"/>
              </a:rPr>
              <a:t>Every refund points to its original purchase.</a:t>
            </a:r>
          </a:p>
        </p:txBody>
      </p:sp>
      <p:sp>
        <p:nvSpPr>
          <p:cNvPr id="6" name="Failure paths deserve their own tests">
            <a:extLst xmlns:a="http://schemas.openxmlformats.org/drawingml/2006/main">
              <a:ext uri="{FF2B5EF4-FFF2-40B4-BE49-F238E27FC236}">
                <a16:creationId xmlns:a16="http://schemas.microsoft.com/office/drawing/2014/main" id="{FA0BCC32-A7A1-4779-91BF-E470D1B4D1D5}"/>
              </a:ext>
            </a:extLst>
          </p:cNvPr>
          <p:cNvSpPr>
            <a:spLocks xmlns:a="http://schemas.openxmlformats.org/drawingml/2006/main" noGrp="1"/>
          </p:cNvSpPr>
          <p:nvPr/>
        </p:nvSpPr>
        <p:spPr>
          <a:xfrm xmlns:a="http://schemas.openxmlformats.org/drawingml/2006/main">
            <a:off x="685800" y="43053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D6F58B"/>
                </a:solidFill>
                <a:latin typeface="Segoe UI"/>
                <a:ea typeface="Segoe UI"/>
                <a:cs typeface="Segoe UI"/>
              </a:defRPr>
            </a:defPPr>
          </a:lstStyle>
          <a:p xmlns:a="http://schemas.openxmlformats.org/drawingml/2006/main">
            <a:pPr algn="l">
              <a:buNone/>
              <a:defRPr sz="2625" b="1">
                <a:solidFill>
                  <a:srgbClr val="D6F58B"/>
                </a:solidFill>
                <a:latin typeface="Segoe UI"/>
                <a:ea typeface="Segoe UI"/>
                <a:cs typeface="Segoe UI"/>
              </a:defRPr>
            </a:pPr>
            <a:r>
              <a:rPr sz="2625" b="1">
                <a:solidFill>
                  <a:srgbClr val="D6F58B"/>
                </a:solidFill>
                <a:latin typeface="Segoe UI"/>
                <a:ea typeface="Segoe UI"/>
                <a:cs typeface="Segoe UI"/>
              </a:rPr>
              <a:t>Failure paths deserve their own tests</a:t>
            </a:r>
          </a:p>
        </p:txBody>
      </p:sp>
      <p:sp>
        <p:nvSpPr>
          <p:cNvPr id="7" name="Retries, concurrent spending, and failed w">
            <a:extLst xmlns:a="http://schemas.openxmlformats.org/drawingml/2006/main">
              <a:ext uri="{FF2B5EF4-FFF2-40B4-BE49-F238E27FC236}">
                <a16:creationId xmlns:a16="http://schemas.microsoft.com/office/drawing/2014/main" id="{FE083016-D2FC-4B3A-BFD1-346A90CC7EE9}"/>
              </a:ext>
            </a:extLst>
          </p:cNvPr>
          <p:cNvSpPr>
            <a:spLocks xmlns:a="http://schemas.openxmlformats.org/drawingml/2006/main" noGrp="1"/>
          </p:cNvSpPr>
          <p:nvPr/>
        </p:nvSpPr>
        <p:spPr>
          <a:xfrm xmlns:a="http://schemas.openxmlformats.org/drawingml/2006/main">
            <a:off x="685800" y="4953000"/>
            <a:ext cx="10477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2F3EA"/>
                </a:solidFill>
                <a:latin typeface="Segoe UI"/>
                <a:ea typeface="Segoe UI"/>
                <a:cs typeface="Segoe UI"/>
              </a:defRPr>
            </a:defPPr>
          </a:lstStyle>
          <a:p xmlns:a="http://schemas.openxmlformats.org/drawingml/2006/main">
            <a:pPr algn="l">
              <a:buNone/>
              <a:defRPr sz="2175" b="0">
                <a:solidFill>
                  <a:srgbClr val="F2F3EA"/>
                </a:solidFill>
                <a:latin typeface="Segoe UI"/>
                <a:ea typeface="Segoe UI"/>
                <a:cs typeface="Segoe UI"/>
              </a:defRPr>
            </a:pPr>
            <a:r>
              <a:rPr sz="2175" b="0">
                <a:solidFill>
                  <a:srgbClr val="F2F3EA"/>
                </a:solidFill>
                <a:latin typeface="Segoe UI"/>
                <a:ea typeface="Segoe UI"/>
                <a:cs typeface="Segoe UI"/>
              </a:rPr>
              <a:t>Retries, concurrent spending, and failed writes</a:t>
            </a:r>
          </a:p>
          <a:p xmlns:a="http://schemas.openxmlformats.org/drawingml/2006/main">
            <a:pPr algn="l">
              <a:buNone/>
              <a:defRPr sz="2175" b="0">
                <a:solidFill>
                  <a:srgbClr val="F2F3EA"/>
                </a:solidFill>
                <a:latin typeface="Segoe UI"/>
                <a:ea typeface="Segoe UI"/>
                <a:cs typeface="Segoe UI"/>
              </a:defRPr>
            </a:pPr>
            <a:r>
              <a:rPr sz="2175" b="0">
                <a:solidFill>
                  <a:srgbClr val="F2F3EA"/>
                </a:solidFill>
                <a:latin typeface="Segoe UI"/>
                <a:ea typeface="Segoe UI"/>
                <a:cs typeface="Segoe UI"/>
              </a:rPr>
              <a:t>need evidence from the database tests.</a:t>
            </a:r>
          </a:p>
        </p:txBody>
      </p:sp>
      <p:sp>
        <p:nvSpPr>
          <p:cNvPr id="8" name="Thank you">
            <a:extLst xmlns:a="http://schemas.openxmlformats.org/drawingml/2006/main">
              <a:ext uri="{FF2B5EF4-FFF2-40B4-BE49-F238E27FC236}">
                <a16:creationId xmlns:a16="http://schemas.microsoft.com/office/drawing/2014/main" id="{3AE5DE9B-9237-4FDD-8392-2BC2C141425F}"/>
              </a:ext>
            </a:extLst>
          </p:cNvPr>
          <p:cNvSpPr>
            <a:spLocks xmlns:a="http://schemas.openxmlformats.org/drawingml/2006/main" noGrp="1"/>
          </p:cNvSpPr>
          <p:nvPr/>
        </p:nvSpPr>
        <p:spPr>
          <a:xfrm xmlns:a="http://schemas.openxmlformats.org/drawingml/2006/main">
            <a:off x="685800" y="5762625"/>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2F3EA"/>
                </a:solidFill>
                <a:latin typeface="Segoe UI"/>
                <a:ea typeface="Segoe UI"/>
                <a:cs typeface="Segoe UI"/>
              </a:defRPr>
            </a:defPPr>
          </a:lstStyle>
          <a:p xmlns:a="http://schemas.openxmlformats.org/drawingml/2006/main">
            <a:pPr algn="l">
              <a:buNone/>
              <a:defRPr sz="2400" b="1">
                <a:solidFill>
                  <a:srgbClr val="F2F3EA"/>
                </a:solidFill>
                <a:latin typeface="Segoe UI"/>
                <a:ea typeface="Segoe UI"/>
                <a:cs typeface="Segoe UI"/>
              </a:defRPr>
            </a:pPr>
            <a:r>
              <a:rPr sz="2400" b="1">
                <a:solidFill>
                  <a:srgbClr val="F2F3EA"/>
                </a:solidFill>
                <a:latin typeface="Segoe UI"/>
                <a:ea typeface="Segoe UI"/>
                <a:cs typeface="Segoe UI"/>
              </a:rPr>
              <a:t>Thank you</a:t>
            </a:r>
          </a:p>
        </p:txBody>
      </p:sp>
    </p:spTree>
    <p:extLst>
      <p:ext uri="{BB962C8B-B14F-4D97-AF65-F5344CB8AC3E}">
        <p14:creationId xmlns:p14="http://schemas.microsoft.com/office/powerpoint/2010/main" val="1290592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2026-10-12T20:36:23.1340000Z</dcterms:created>
  <dcterms:modified xsi:type="dcterms:W3CDTF">2026-10-12T20:36:23.1340000Z</dcterms:modified>
</coreProperties>
</file>