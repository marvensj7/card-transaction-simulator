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2a26f703294592" /><Relationship Type="http://schemas.openxmlformats.org/officeDocument/2006/relationships/extended-properties" Target="/docProps/app.xml" Id="R16ea6c21243b46c6" /><Relationship Type="http://schemas.openxmlformats.org/officeDocument/2006/relationships/officeDocument" Target="/ppt/presentation.xml" Id="R2dbab978aa634546" /></Relationships>
</file>

<file path=ppt/presentation.xml><?xml version="1.0" encoding="utf-8"?>
<p:presentation xmlns:p="http://schemas.openxmlformats.org/presentationml/2006/main">
  <p:sldMasterIdLst>
    <p:sldMasterId xmlns:r="http://schemas.openxmlformats.org/officeDocument/2006/relationships" id="2147483648" r:id="R82d688a4d9484d5d"/>
  </p:sldMasterIdLst>
  <p:notesMasterIdLst>
    <p:notesMasterId xmlns:r="http://schemas.openxmlformats.org/officeDocument/2006/relationships" r:id="R81f40e19ba41480a"/>
  </p:notesMasterIdLst>
  <p:sldIdLst>
    <p:sldId xmlns:r="http://schemas.openxmlformats.org/officeDocument/2006/relationships" id="256" r:id="R8da8ee2c67b3422b"/>
    <p:sldId xmlns:r="http://schemas.openxmlformats.org/officeDocument/2006/relationships" id="257" r:id="Rd7df763fe4754901"/>
    <p:sldId xmlns:r="http://schemas.openxmlformats.org/officeDocument/2006/relationships" id="258" r:id="Rccbf8aa5e9944e88"/>
    <p:sldId xmlns:r="http://schemas.openxmlformats.org/officeDocument/2006/relationships" id="259" r:id="R1fc8860cc6cf4913"/>
    <p:sldId xmlns:r="http://schemas.openxmlformats.org/officeDocument/2006/relationships" id="260" r:id="Ra9a2b5e57796410a"/>
    <p:sldId xmlns:r="http://schemas.openxmlformats.org/officeDocument/2006/relationships" id="261" r:id="R46e1945188a44d42"/>
    <p:sldId xmlns:r="http://schemas.openxmlformats.org/officeDocument/2006/relationships" id="262" r:id="R732481644a524436"/>
    <p:sldId xmlns:r="http://schemas.openxmlformats.org/officeDocument/2006/relationships" id="263" r:id="R286c4eb22b344730"/>
    <p:sldId xmlns:r="http://schemas.openxmlformats.org/officeDocument/2006/relationships" id="264" r:id="R875b305cd06c44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fba1efc24143ca" /><Relationship Type="http://schemas.openxmlformats.org/officeDocument/2006/relationships/slideMaster" Target="/ppt/slideMasters/slideMaster1.xml" Id="R82d688a4d9484d5d" /><Relationship Type="http://schemas.openxmlformats.org/officeDocument/2006/relationships/notesMaster" Target="/ppt/notesMasters/notesMaster1.xml" Id="R81f40e19ba41480a" /><Relationship Type="http://schemas.openxmlformats.org/officeDocument/2006/relationships/presProps" Target="/ppt/presProps.xml" Id="Rce25d63104fd4261" /><Relationship Type="http://schemas.openxmlformats.org/officeDocument/2006/relationships/tableStyles" Target="/ppt/tableStyles.xml" Id="R68ece78d10c94ddd" /><Relationship Type="http://schemas.openxmlformats.org/officeDocument/2006/relationships/slide" Target="/ppt/slides/slide1.xml" Id="R8da8ee2c67b3422b" /><Relationship Type="http://schemas.openxmlformats.org/officeDocument/2006/relationships/slide" Target="/ppt/slides/slide2.xml" Id="Rd7df763fe4754901" /><Relationship Type="http://schemas.openxmlformats.org/officeDocument/2006/relationships/slide" Target="/ppt/slides/slide3.xml" Id="Rccbf8aa5e9944e88" /><Relationship Type="http://schemas.openxmlformats.org/officeDocument/2006/relationships/slide" Target="/ppt/slides/slide4.xml" Id="R1fc8860cc6cf4913" /><Relationship Type="http://schemas.openxmlformats.org/officeDocument/2006/relationships/slide" Target="/ppt/slides/slide5.xml" Id="Ra9a2b5e57796410a" /><Relationship Type="http://schemas.openxmlformats.org/officeDocument/2006/relationships/slide" Target="/ppt/slides/slide6.xml" Id="R46e1945188a44d42" /><Relationship Type="http://schemas.openxmlformats.org/officeDocument/2006/relationships/slide" Target="/ppt/slides/slide7.xml" Id="R732481644a524436" /><Relationship Type="http://schemas.openxmlformats.org/officeDocument/2006/relationships/slide" Target="/ppt/slides/slide8.xml" Id="R286c4eb22b344730" /><Relationship Type="http://schemas.openxmlformats.org/officeDocument/2006/relationships/slide" Target="/ppt/slides/slide9.xml" Id="R875b305cd06c44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1b999d330244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30535835534999" /><Relationship Type="http://schemas.openxmlformats.org/officeDocument/2006/relationships/notesMaster" Target="/ppt/notesMasters/notesMaster1.xml" Id="R7f70f7734b0f41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41a8adadd946bd" /><Relationship Type="http://schemas.openxmlformats.org/officeDocument/2006/relationships/notesMaster" Target="/ppt/notesMasters/notesMaster1.xml" Id="R238c4a19ef354e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250342721c4e37" /><Relationship Type="http://schemas.openxmlformats.org/officeDocument/2006/relationships/notesMaster" Target="/ppt/notesMasters/notesMaster1.xml" Id="R7eb52d4bd9f449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d02ae128b7468a" /><Relationship Type="http://schemas.openxmlformats.org/officeDocument/2006/relationships/notesMaster" Target="/ppt/notesMasters/notesMaster1.xml" Id="Rf0906225363043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8faa31bb0a4748" /><Relationship Type="http://schemas.openxmlformats.org/officeDocument/2006/relationships/notesMaster" Target="/ppt/notesMasters/notesMaster1.xml" Id="Rfccf7d3f397e45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b8d2e10e59448a" /><Relationship Type="http://schemas.openxmlformats.org/officeDocument/2006/relationships/notesMaster" Target="/ppt/notesMasters/notesMaster1.xml" Id="R0f334db969e341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f59a5aa86b4a52" /><Relationship Type="http://schemas.openxmlformats.org/officeDocument/2006/relationships/notesMaster" Target="/ppt/notesMasters/notesMaster1.xml" Id="Rb3289461c2ff41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e125555bdf4089" /><Relationship Type="http://schemas.openxmlformats.org/officeDocument/2006/relationships/notesMaster" Target="/ppt/notesMasters/notesMaster1.xml" Id="Re34129052ea441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a6ff1e099a4e97" /><Relationship Type="http://schemas.openxmlformats.org/officeDocument/2006/relationships/notesMaster" Target="/ppt/notesMasters/notesMaster1.xml" Id="R4b182e08262c4f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I built a local credit card transaction simulator for UCI 2123. All cards, identities, merchants, and balances are fictional. The home screen retains the Request, Checks, Outcome teaser. Source: outputs/01_Project_Proposal/03_Submission_Proposal.md and home-desktop.png. The instructor waived AWS and related deployment/DevOps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0:30–1:15. A purchase can exceed available credit or reach the wrong account if the API checks only roles. A network failure can leave a customer unsure whether a purchase saved. I built explicit decisions, safe retries, ownership checks, and consistent balance/history writes. This is a classroom simulator, with no bank/payment network connection. AWS infrastructure, deployment pipelines, and cloud monitoring are waived. Jira and branch protection are outside this pass. Source: current proposal and authentication/financial ADRs.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1:15–2:15. Trace a page through fetch, Spring Security, controller, service, repository, and MySQL. The bearer token comes only from React memory. Controllers validate shape; services check stored role/ownership and financial rules. JPA repositories query and lock rows. I used the class banking app as a learning reference without copying its supplied solution. Source: outputs/02_Architecture/01_System_Architecture.md. This diagram is editable native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2:15–3:00. app_users stores BCrypt and USER/ADMIN. A customer owns one credit account and one fictional card. An administrator has no account. card_transactions stores purchases and linked full refunds. No full number/security code/token column exists. BigDecimal/DECIMAL handle money and available credit is calculated. Foreign keys and unique constraints protect relationships; no cascade deletes financial history. Source: ERD and sql/01_schema.sql.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3:00–6:00. Open the running app. Use private credentials, never show passwords or tokens. Register/sign in as customer and show the masked card and $1,000 available. Purchase $50 using the displayed expiry and fictional profile. Show $950 available. Purchase $2,000 and show a saved insufficient-credit decline with no balance change. Open history and confirm the full $50 refund. Show original/refund and restored credit. Sign out, sign in as ADMIN, find/freeze the customer account, and show activity. Customer spending declines while frozen. Reactivate for the next demo. The local guide has the full sequence. Screenshot is verified fixture data, not an active credential. Source: browser-results.json and dashboard-desktop.png.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6:00–7:00. Explain three separate protections. The UUID identifies one submission; account/request uniqueness backs it. A pessimistic account lock serializes competing changes. @Transactional commits balance and history together or rolls both back. READ_COMMITTED lets a waiting retry see a prior commit. An identical retry returns 200 with the original transaction and current account summary. New approval/decline/refund returns 201. Full refunds use the original amount and one unique original_purchase_id. Browser tests lose responses after real saves; MySQL tests verify concurrency/rollback. Source: TransactionService, financial ADR, Java/browser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7:00–7:45. BCrypt checks passwords. Spring Security/Nimbus validate HS256 signatures, expiration, issuer, audience, positive numeric subject, role, and time claims. The random signing key stays outside Git. Registration cannot choose ADMIN. Services still check stored roles and ownership. React holds access in memory and expires/discards it on sign-out/reload/401. A copied token remains valid until expiry; no refresh/revocation infrastructure exists. Explicit bearer headers, no accepted authentication cookies, and credentials=omit justify the API CSRF scope. CORS and a small per-IP auth limit apply. This transport was explicitly reviewed in SonarQube. Sources: authentication ADR, SecurityConfiguration, and https://docs.spring.io/spring-security/reference/6.5/servlet/exploits/csrf.html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7:45–8:30. Reports are from October 8 on the real local application/MySQL. The 36 Java tests include ten MySQL integration tests. JaCoCo line coverage is 95.74%, branch 77.33%, with an enforced 70% line gate; no production class exclusions. Postman executes 47 exported items plus two rate-limit subrequests, 49 HTTP requests and 72 assertions. Eleven browser groups cover real customer/admin workflows and explicitly injected failure/empty/expiration cases. Automated accessibility is Chromium only. SonarQube is the actual local Community Build, not another linter. Its saved report records the processed gate, findings and justified CSRF/table reviews. Source: outputs/03_Verification/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8:30–9:15. A request ID, lock, and transaction solve different problems. Boundary validation and service rules have different jobs. Quality claims need actual tool results and honest limits. I still need two peer reviews and to give/incorporate feedback, private demo access, and personal rehearsal. The 3D card remains planned after the required app works. Rehearse October 12; present/submit October 13. Do not claim reviews/submission have occurred. Source: self-assessment and blank peer-review worksheet.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7d960c332540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fcdd28a56340a4" /><Relationship Type="http://schemas.openxmlformats.org/officeDocument/2006/relationships/slideLayout" Target="/ppt/slideLayouts/slideLayout1.xml" Id="R21ed140063c64e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ed140063c64e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0f1585e4d64641" /><Relationship Type="http://schemas.openxmlformats.org/officeDocument/2006/relationships/image" Target="/ppt/media/image.png" Id="R364cd9c3f47c4028" /><Relationship Type="http://schemas.openxmlformats.org/officeDocument/2006/relationships/notesSlide" Target="/ppt/notesSlides/notesSlide1.xml" Id="R4bd3ae170de447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049717a4584b41" /><Relationship Type="http://schemas.openxmlformats.org/officeDocument/2006/relationships/notesSlide" Target="/ppt/notesSlides/notesSlide2.xml" Id="Rcc26bf04e9a747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ae0d3744004818" /><Relationship Type="http://schemas.openxmlformats.org/officeDocument/2006/relationships/notesSlide" Target="/ppt/notesSlides/notesSlide3.xml" Id="Rd3c6cea84dd944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41479a8d734440" /><Relationship Type="http://schemas.openxmlformats.org/officeDocument/2006/relationships/notesSlide" Target="/ppt/notesSlides/notesSlide4.xml" Id="R6b781c3ceba24a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d5379c8fce4cc6" /><Relationship Type="http://schemas.openxmlformats.org/officeDocument/2006/relationships/image" Target="/ppt/media/image2.png" Id="Reac3a549b8aa479f" /><Relationship Type="http://schemas.openxmlformats.org/officeDocument/2006/relationships/notesSlide" Target="/ppt/notesSlides/notesSlide5.xml" Id="R46035079c4494d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56d6b766a1423b" /><Relationship Type="http://schemas.openxmlformats.org/officeDocument/2006/relationships/notesSlide" Target="/ppt/notesSlides/notesSlide6.xml" Id="R3348dfc6e45a45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7633d5997e42c5" /><Relationship Type="http://schemas.openxmlformats.org/officeDocument/2006/relationships/notesSlide" Target="/ppt/notesSlides/notesSlide7.xml" Id="R18caf4572e7145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8525ba6cb646a9" /><Relationship Type="http://schemas.openxmlformats.org/officeDocument/2006/relationships/notesSlide" Target="/ppt/notesSlides/notesSlide8.xml" Id="R7cff9a748f2e44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7bacc1c19945f7" /><Relationship Type="http://schemas.openxmlformats.org/officeDocument/2006/relationships/notesSlide" Target="/ppt/notesSlides/notesSlide9.xml" Id="Rf81df2b4d4304aef" /></Relationships>
</file>

<file path=ppt/slides/slide1.xml><?xml version="1.0" encoding="utf-8"?>
<p:sld xmlns:p="http://schemas.openxmlformats.org/presentationml/2006/main">
  <p:cSld>
    <p:bg>
      <p:bgPr>
        <a:solidFill xmlns:a="http://schemas.openxmlformats.org/drawingml/2006/main">
          <a:srgbClr val="151E1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85FBBC-F3C8-4026-8371-B4DA5F94308D}"/>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3F78D"/>
                </a:solidFill>
                <a:latin typeface="Arial"/>
                <a:ea typeface="Arial"/>
                <a:cs typeface="Arial"/>
              </a:defRPr>
            </a:pPr>
            <a:r>
              <a:rPr sz="3450" b="1">
                <a:solidFill>
                  <a:srgbClr val="D3F78D"/>
                </a:solidFill>
                <a:latin typeface="Arial"/>
                <a:ea typeface="Arial"/>
                <a:cs typeface="Arial"/>
              </a:rPr>
              <a:t>Credit Circuit</a:t>
            </a:r>
          </a:p>
        </p:txBody>
      </p:sp>
      <p:sp>
        <p:nvSpPr>
          <p:cNvPr id="2" name="">
            <a:extLst xmlns:a="http://schemas.openxmlformats.org/drawingml/2006/main">
              <a:ext uri="{FF2B5EF4-FFF2-40B4-BE49-F238E27FC236}">
                <a16:creationId xmlns:a16="http://schemas.microsoft.com/office/drawing/2014/main" id="{9B76E048-FDF6-4352-B9BB-82A34C285E41}"/>
              </a:ext>
            </a:extLst>
          </p:cNvPr>
          <p:cNvSpPr>
            <a:spLocks xmlns:a="http://schemas.openxmlformats.org/drawingml/2006/main" noGrp="1"/>
          </p:cNvSpPr>
          <p:nvPr/>
        </p:nvSpPr>
        <p:spPr>
          <a:xfrm xmlns:a="http://schemas.openxmlformats.org/drawingml/2006/main">
            <a:off x="609600" y="1809750"/>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4F4E9"/>
                </a:solidFill>
                <a:latin typeface="Arial"/>
                <a:ea typeface="Arial"/>
                <a:cs typeface="Arial"/>
              </a:defRPr>
            </a:pPr>
            <a:r>
              <a:rPr sz="3375" b="1">
                <a:solidFill>
                  <a:srgbClr val="F4F4E9"/>
                </a:solidFill>
                <a:latin typeface="Arial"/>
                <a:ea typeface="Arial"/>
                <a:cs typeface="Arial"/>
              </a:rPr>
              <a:t>Fictional purchases</a:t>
            </a:r>
          </a:p>
          <a:p xmlns:a="http://schemas.openxmlformats.org/drawingml/2006/main">
            <a:pPr>
              <a:defRPr sz="3375" b="1">
                <a:solidFill>
                  <a:srgbClr val="F4F4E9"/>
                </a:solidFill>
                <a:latin typeface="Arial"/>
                <a:ea typeface="Arial"/>
                <a:cs typeface="Arial"/>
              </a:defRPr>
            </a:pPr>
            <a:r>
              <a:rPr sz="3375" b="1">
                <a:solidFill>
                  <a:srgbClr val="F4F4E9"/>
                </a:solidFill>
                <a:latin typeface="Arial"/>
                <a:ea typeface="Arial"/>
                <a:cs typeface="Arial"/>
              </a:rPr>
              <a:t>with clear outcomes</a:t>
            </a:r>
          </a:p>
        </p:txBody>
      </p:sp>
      <p:sp>
        <p:nvSpPr>
          <p:cNvPr id="3" name="">
            <a:extLst xmlns:a="http://schemas.openxmlformats.org/drawingml/2006/main">
              <a:ext uri="{FF2B5EF4-FFF2-40B4-BE49-F238E27FC236}">
                <a16:creationId xmlns:a16="http://schemas.microsoft.com/office/drawing/2014/main" id="{61B30944-A86A-4BCD-B5FF-5D058DC22687}"/>
              </a:ext>
            </a:extLst>
          </p:cNvPr>
          <p:cNvSpPr>
            <a:spLocks xmlns:a="http://schemas.openxmlformats.org/drawingml/2006/main" noGrp="1"/>
          </p:cNvSpPr>
          <p:nvPr/>
        </p:nvSpPr>
        <p:spPr>
          <a:xfrm xmlns:a="http://schemas.openxmlformats.org/drawingml/2006/main">
            <a:off x="609600" y="390525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0C9BA"/>
                </a:solidFill>
                <a:latin typeface="Arial"/>
                <a:ea typeface="Arial"/>
                <a:cs typeface="Arial"/>
              </a:defRPr>
            </a:pPr>
            <a:r>
              <a:rPr sz="2025" b="0">
                <a:solidFill>
                  <a:srgbClr val="C0C9BA"/>
                </a:solidFill>
                <a:latin typeface="Arial"/>
                <a:ea typeface="Arial"/>
                <a:cs typeface="Arial"/>
              </a:rPr>
              <a:t>UCI 2123 capstone</a:t>
            </a:r>
          </a:p>
          <a:p xmlns:a="http://schemas.openxmlformats.org/drawingml/2006/main">
            <a:pPr>
              <a:defRPr sz="2025" b="0">
                <a:solidFill>
                  <a:srgbClr val="C0C9BA"/>
                </a:solidFill>
                <a:latin typeface="Arial"/>
                <a:ea typeface="Arial"/>
                <a:cs typeface="Arial"/>
              </a:defRPr>
            </a:pPr>
            <a:r>
              <a:rPr sz="2025" b="0">
                <a:solidFill>
                  <a:srgbClr val="C0C9BA"/>
                </a:solidFill>
                <a:latin typeface="Arial"/>
                <a:ea typeface="Arial"/>
                <a:cs typeface="Arial"/>
              </a:rPr>
              <a:t>October 13, 2026</a:t>
            </a:r>
          </a:p>
          <a:p xmlns:a="http://schemas.openxmlformats.org/drawingml/2006/main">
            <a:pPr>
              <a:defRPr sz="2025" b="0">
                <a:solidFill>
                  <a:srgbClr val="C0C9BA"/>
                </a:solidFill>
                <a:latin typeface="Arial"/>
                <a:ea typeface="Arial"/>
                <a:cs typeface="Arial"/>
              </a:defRPr>
            </a:pPr>
            <a:r>
              <a:rPr sz="2025" b="0">
                <a:solidFill>
                  <a:srgbClr val="C0C9BA"/>
                </a:solidFill>
                <a:latin typeface="Arial"/>
                <a:ea typeface="Arial"/>
                <a:cs typeface="Arial"/>
              </a:rPr>
              <a:t>Local React, Spring Boot, MySQL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64cd9c3f47c4028"/>
          <a:stretch xmlns:a="http://schemas.openxmlformats.org/drawingml/2006/main"/>
        </p:blipFill>
        <p:spPr>
          <a:xfrm xmlns:a="http://schemas.openxmlformats.org/drawingml/2006/main">
            <a:off x="5334000" y="1779984"/>
            <a:ext cx="6191250" cy="3869531"/>
          </a:xfrm>
          <a:prstGeom xmlns:a="http://schemas.openxmlformats.org/drawingml/2006/main" prst="rect">
            <a:avLst/>
          </a:prstGeom>
        </p:spPr>
      </p:pic>
    </p:spTree>
    <p:extLst>
      <p:ext uri="{BB962C8B-B14F-4D97-AF65-F5344CB8AC3E}">
        <p14:creationId xmlns:p14="http://schemas.microsoft.com/office/powerpoint/2010/main" val="1109448881"/>
      </p:ext>
    </p:extLst>
  </p:cSld>
</p:sld>
</file>

<file path=ppt/slides/slide2.xml><?xml version="1.0" encoding="utf-8"?>
<p:sld xmlns:p="http://schemas.openxmlformats.org/presentationml/2006/main">
  <p:cSld>
    <p:bg>
      <p:bgPr>
        <a:solidFill xmlns:a="http://schemas.openxmlformats.org/drawingml/2006/main">
          <a:srgbClr val="151E1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541BAF-10D2-4359-B98A-5B90D5FC847F}"/>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3F78D"/>
                </a:solidFill>
                <a:latin typeface="Arial"/>
                <a:ea typeface="Arial"/>
                <a:cs typeface="Arial"/>
              </a:defRPr>
            </a:pPr>
            <a:r>
              <a:rPr sz="3450" b="1">
                <a:solidFill>
                  <a:srgbClr val="D3F78D"/>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E7981F6E-A736-4E05-AB7B-F1A60FB4EE3B}"/>
              </a:ext>
            </a:extLst>
          </p:cNvPr>
          <p:cNvSpPr>
            <a:spLocks xmlns:a="http://schemas.openxmlformats.org/drawingml/2006/main" noGrp="1"/>
          </p:cNvSpPr>
          <p:nvPr/>
        </p:nvSpPr>
        <p:spPr>
          <a:xfrm xmlns:a="http://schemas.openxmlformats.org/drawingml/2006/main">
            <a:off x="609600" y="17621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4F4E9"/>
                </a:solidFill>
                <a:latin typeface="Arial"/>
                <a:ea typeface="Arial"/>
                <a:cs typeface="Arial"/>
              </a:defRPr>
            </a:pPr>
            <a:r>
              <a:rPr sz="3000" b="1">
                <a:solidFill>
                  <a:srgbClr val="F4F4E9"/>
                </a:solidFill>
                <a:latin typeface="Arial"/>
                <a:ea typeface="Arial"/>
                <a:cs typeface="Arial"/>
              </a:rPr>
              <a:t>An uncertain response needs a safe retry.</a:t>
            </a:r>
          </a:p>
        </p:txBody>
      </p:sp>
      <p:sp>
        <p:nvSpPr>
          <p:cNvPr id="3" name="">
            <a:extLst xmlns:a="http://schemas.openxmlformats.org/drawingml/2006/main">
              <a:ext uri="{FF2B5EF4-FFF2-40B4-BE49-F238E27FC236}">
                <a16:creationId xmlns:a16="http://schemas.microsoft.com/office/drawing/2014/main" id="{DB775EC9-3150-48C9-8505-2980C57833E2}"/>
              </a:ext>
            </a:extLst>
          </p:cNvPr>
          <p:cNvSpPr>
            <a:spLocks xmlns:a="http://schemas.openxmlformats.org/drawingml/2006/main" noGrp="1"/>
          </p:cNvSpPr>
          <p:nvPr/>
        </p:nvSpPr>
        <p:spPr>
          <a:xfrm xmlns:a="http://schemas.openxmlformats.org/drawingml/2006/main">
            <a:off x="609600" y="300037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4F4E9"/>
                </a:solidFill>
                <a:latin typeface="Arial"/>
                <a:ea typeface="Arial"/>
                <a:cs typeface="Arial"/>
              </a:defRPr>
            </a:pPr>
            <a:r>
              <a:rPr sz="2475" b="0">
                <a:solidFill>
                  <a:srgbClr val="F4F4E9"/>
                </a:solidFill>
                <a:latin typeface="Arial"/>
                <a:ea typeface="Arial"/>
                <a:cs typeface="Arial"/>
              </a:rPr>
              <a:t>A customer must reach only their own account.</a:t>
            </a:r>
          </a:p>
          <a:p xmlns:a="http://schemas.openxmlformats.org/drawingml/2006/main">
            <a:pPr>
              <a:defRPr sz="2475" b="0">
                <a:solidFill>
                  <a:srgbClr val="F4F4E9"/>
                </a:solidFill>
                <a:latin typeface="Arial"/>
                <a:ea typeface="Arial"/>
                <a:cs typeface="Arial"/>
              </a:defRPr>
            </a:pPr>
            <a:r>
              <a:rPr sz="2475" b="0">
                <a:solidFill>
                  <a:srgbClr val="F4F4E9"/>
                </a:solidFill>
                <a:latin typeface="Arial"/>
                <a:ea typeface="Arial"/>
                <a:cs typeface="Arial"/>
              </a:rPr>
              <a:t>A balance change must agree with its history.</a:t>
            </a:r>
          </a:p>
          <a:p xmlns:a="http://schemas.openxmlformats.org/drawingml/2006/main">
            <a:pPr>
              <a:defRPr sz="2475" b="0">
                <a:solidFill>
                  <a:srgbClr val="F4F4E9"/>
                </a:solidFill>
                <a:latin typeface="Arial"/>
                <a:ea typeface="Arial"/>
                <a:cs typeface="Arial"/>
              </a:defRPr>
            </a:pPr>
            <a:r>
              <a:rPr sz="2475" b="0">
                <a:solidFill>
                  <a:srgbClr val="F4F4E9"/>
                </a:solidFill>
                <a:latin typeface="Arial"/>
                <a:ea typeface="Arial"/>
                <a:cs typeface="Arial"/>
              </a:rPr>
              <a:t>A decline needs a clear financial explanation.</a:t>
            </a:r>
          </a:p>
        </p:txBody>
      </p:sp>
      <p:sp>
        <p:nvSpPr>
          <p:cNvPr id="4" name="">
            <a:extLst xmlns:a="http://schemas.openxmlformats.org/drawingml/2006/main">
              <a:ext uri="{FF2B5EF4-FFF2-40B4-BE49-F238E27FC236}">
                <a16:creationId xmlns:a16="http://schemas.microsoft.com/office/drawing/2014/main" id="{F2C056E1-8EF8-4287-8B31-999D45AD120A}"/>
              </a:ext>
            </a:extLst>
          </p:cNvPr>
          <p:cNvSpPr>
            <a:spLocks xmlns:a="http://schemas.openxmlformats.org/drawingml/2006/main" noGrp="1"/>
          </p:cNvSpPr>
          <p:nvPr/>
        </p:nvSpPr>
        <p:spPr>
          <a:xfrm xmlns:a="http://schemas.openxmlformats.org/drawingml/2006/main">
            <a:off x="609600" y="5429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0C9BA"/>
                </a:solidFill>
                <a:latin typeface="Arial"/>
                <a:ea typeface="Arial"/>
                <a:cs typeface="Arial"/>
              </a:defRPr>
            </a:pPr>
            <a:r>
              <a:rPr sz="1875" b="0">
                <a:solidFill>
                  <a:srgbClr val="C0C9BA"/>
                </a:solidFill>
                <a:latin typeface="Arial"/>
                <a:ea typeface="Arial"/>
                <a:cs typeface="Arial"/>
              </a:rPr>
              <a:t>Approved local scope: application and quality evidence.</a:t>
            </a:r>
          </a:p>
          <a:p xmlns:a="http://schemas.openxmlformats.org/drawingml/2006/main">
            <a:pPr>
              <a:defRPr sz="1875" b="0">
                <a:solidFill>
                  <a:srgbClr val="C0C9BA"/>
                </a:solidFill>
                <a:latin typeface="Arial"/>
                <a:ea typeface="Arial"/>
                <a:cs typeface="Arial"/>
              </a:defRPr>
            </a:pPr>
            <a:r>
              <a:rPr sz="1875" b="0">
                <a:solidFill>
                  <a:srgbClr val="C0C9BA"/>
                </a:solidFill>
                <a:latin typeface="Arial"/>
                <a:ea typeface="Arial"/>
                <a:cs typeface="Arial"/>
              </a:rPr>
              <a:t>AWS and related deployment work are waived.</a:t>
            </a:r>
          </a:p>
        </p:txBody>
      </p:sp>
    </p:spTree>
    <p:extLst>
      <p:ext uri="{BB962C8B-B14F-4D97-AF65-F5344CB8AC3E}">
        <p14:creationId xmlns:p14="http://schemas.microsoft.com/office/powerpoint/2010/main" val="136332704"/>
      </p:ext>
    </p:extLst>
  </p:cSld>
</p:sld>
</file>

<file path=ppt/slides/slide3.xml><?xml version="1.0" encoding="utf-8"?>
<p:sld xmlns:p="http://schemas.openxmlformats.org/presentationml/2006/main">
  <p:cSld>
    <p:bg>
      <p:bgPr>
        <a:solidFill xmlns:a="http://schemas.openxmlformats.org/drawingml/2006/main">
          <a:srgbClr val="151E1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50A48EA-EA70-4DB5-84B9-CE6875C9647A}"/>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3F78D"/>
                </a:solidFill>
                <a:latin typeface="Arial"/>
                <a:ea typeface="Arial"/>
                <a:cs typeface="Arial"/>
              </a:defRPr>
            </a:pPr>
            <a:r>
              <a:rPr sz="3450" b="1">
                <a:solidFill>
                  <a:srgbClr val="D3F78D"/>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1057B0BF-0424-4172-9223-ECA60FDED764}"/>
              </a:ext>
            </a:extLst>
          </p:cNvPr>
          <p:cNvSpPr>
            <a:spLocks xmlns:a="http://schemas.openxmlformats.org/drawingml/2006/main" noGrp="1"/>
          </p:cNvSpPr>
          <p:nvPr/>
        </p:nvSpPr>
        <p:spPr>
          <a:xfrm xmlns:a="http://schemas.openxmlformats.org/drawingml/2006/main">
            <a:off x="609600" y="2095500"/>
            <a:ext cx="1638300" cy="1181100"/>
          </a:xfrm>
          <a:prstGeom xmlns:a="http://schemas.openxmlformats.org/drawingml/2006/main" prst="rect">
            <a:avLst/>
          </a:prstGeom>
          <a:solidFill xmlns:a="http://schemas.openxmlformats.org/drawingml/2006/main">
            <a:srgbClr val="151E18"/>
          </a:solidFill>
          <a:ln xmlns:a="http://schemas.openxmlformats.org/drawingml/2006/main" w="19050">
            <a:solidFill>
              <a:srgbClr val="56654F"/>
            </a:solidFill>
          </a:ln>
        </p:spPr>
        <p:txBody>
          <a:bodyPr xmlns:a="http://schemas.openxmlformats.org/drawingml/2006/main"/>
          <a:lstStyle xmlns:a="http://schemas.openxmlformats.org/drawingml/2006/main"/>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React page</a:t>
            </a:r>
          </a:p>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and fetch</a:t>
            </a:r>
          </a:p>
        </p:txBody>
      </p:sp>
      <p:sp>
        <p:nvSpPr>
          <p:cNvPr id="3" name="">
            <a:extLst xmlns:a="http://schemas.openxmlformats.org/drawingml/2006/main">
              <a:ext uri="{FF2B5EF4-FFF2-40B4-BE49-F238E27FC236}">
                <a16:creationId xmlns:a16="http://schemas.microsoft.com/office/drawing/2014/main" id="{1D773671-63B5-474C-86F2-C09DC9429DD7}"/>
              </a:ext>
            </a:extLst>
          </p:cNvPr>
          <p:cNvSpPr>
            <a:spLocks xmlns:a="http://schemas.openxmlformats.org/drawingml/2006/main" noGrp="1"/>
          </p:cNvSpPr>
          <p:nvPr/>
        </p:nvSpPr>
        <p:spPr>
          <a:xfrm xmlns:a="http://schemas.openxmlformats.org/drawingml/2006/main">
            <a:off x="2457450" y="2095500"/>
            <a:ext cx="1638300" cy="1181100"/>
          </a:xfrm>
          <a:prstGeom xmlns:a="http://schemas.openxmlformats.org/drawingml/2006/main" prst="rect">
            <a:avLst/>
          </a:prstGeom>
          <a:solidFill xmlns:a="http://schemas.openxmlformats.org/drawingml/2006/main">
            <a:srgbClr val="151E18"/>
          </a:solidFill>
          <a:ln xmlns:a="http://schemas.openxmlformats.org/drawingml/2006/main" w="19050">
            <a:solidFill>
              <a:srgbClr val="56654F"/>
            </a:solidFill>
          </a:ln>
        </p:spPr>
        <p:txBody>
          <a:bodyPr xmlns:a="http://schemas.openxmlformats.org/drawingml/2006/main"/>
          <a:lstStyle xmlns:a="http://schemas.openxmlformats.org/drawingml/2006/main"/>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Spring Security</a:t>
            </a:r>
          </a:p>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signed JWT</a:t>
            </a:r>
          </a:p>
        </p:txBody>
      </p:sp>
      <p:cxnSp>
        <p:nvCxnSpPr>
          <p:cNvPr id="18" name=""/>
          <p:cNvCxnSpPr>
            <a:stCxn xmlns:a="http://schemas.openxmlformats.org/drawingml/2006/main" id="2" idx="3"/>
            <a:endCxn xmlns:a="http://schemas.openxmlformats.org/drawingml/2006/main" id="3" idx="1"/>
          </p:cNvCxnSpPr>
          <p:nvPr/>
        </p:nvCxnSpPr>
        <p:spPr>
          <a:xfrm xmlns:a="http://schemas.openxmlformats.org/drawingml/2006/main">
            <a:off x="2247900" y="2686050"/>
            <a:ext cx="209550" cy="0"/>
          </a:xfrm>
          <a:prstGeom xmlns:a="http://schemas.openxmlformats.org/drawingml/2006/main" prst="straightConnector1">
            <a:avLst/>
          </a:prstGeom>
          <a:ln xmlns:a="http://schemas.openxmlformats.org/drawingml/2006/main" w="19050">
            <a:solidFill>
              <a:srgbClr val="D3F78D"/>
            </a:solidFill>
            <a:tailEnd type="arrow" w="sm" len="sm"/>
          </a:ln>
        </p:spPr>
      </p:cxnSp>
      <p:sp>
        <p:nvSpPr>
          <p:cNvPr id="5" name="">
            <a:extLst xmlns:a="http://schemas.openxmlformats.org/drawingml/2006/main">
              <a:ext uri="{FF2B5EF4-FFF2-40B4-BE49-F238E27FC236}">
                <a16:creationId xmlns:a16="http://schemas.microsoft.com/office/drawing/2014/main" id="{8D63E90C-5C43-4D79-A30F-9C819CAD9EB2}"/>
              </a:ext>
            </a:extLst>
          </p:cNvPr>
          <p:cNvSpPr>
            <a:spLocks xmlns:a="http://schemas.openxmlformats.org/drawingml/2006/main" noGrp="1"/>
          </p:cNvSpPr>
          <p:nvPr/>
        </p:nvSpPr>
        <p:spPr>
          <a:xfrm xmlns:a="http://schemas.openxmlformats.org/drawingml/2006/main">
            <a:off x="4305300" y="2095500"/>
            <a:ext cx="1638300" cy="1181100"/>
          </a:xfrm>
          <a:prstGeom xmlns:a="http://schemas.openxmlformats.org/drawingml/2006/main" prst="rect">
            <a:avLst/>
          </a:prstGeom>
          <a:solidFill xmlns:a="http://schemas.openxmlformats.org/drawingml/2006/main">
            <a:srgbClr val="151E18"/>
          </a:solidFill>
          <a:ln xmlns:a="http://schemas.openxmlformats.org/drawingml/2006/main" w="19050">
            <a:solidFill>
              <a:srgbClr val="56654F"/>
            </a:solidFill>
          </a:ln>
        </p:spPr>
        <p:txBody>
          <a:bodyPr xmlns:a="http://schemas.openxmlformats.org/drawingml/2006/main"/>
          <a:lstStyle xmlns:a="http://schemas.openxmlformats.org/drawingml/2006/main"/>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Controller</a:t>
            </a:r>
          </a:p>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@Valid</a:t>
            </a:r>
          </a:p>
        </p:txBody>
      </p:sp>
      <p:cxnSp>
        <p:nvCxnSpPr>
          <p:cNvPr id="20" name=""/>
          <p:cNvCxnSpPr>
            <a:stCxn xmlns:a="http://schemas.openxmlformats.org/drawingml/2006/main" id="3" idx="3"/>
            <a:endCxn xmlns:a="http://schemas.openxmlformats.org/drawingml/2006/main" id="5" idx="1"/>
          </p:cNvCxnSpPr>
          <p:nvPr/>
        </p:nvCxnSpPr>
        <p:spPr>
          <a:xfrm xmlns:a="http://schemas.openxmlformats.org/drawingml/2006/main">
            <a:off x="4095750" y="2686050"/>
            <a:ext cx="209550" cy="0"/>
          </a:xfrm>
          <a:prstGeom xmlns:a="http://schemas.openxmlformats.org/drawingml/2006/main" prst="straightConnector1">
            <a:avLst/>
          </a:prstGeom>
          <a:ln xmlns:a="http://schemas.openxmlformats.org/drawingml/2006/main" w="19050">
            <a:solidFill>
              <a:srgbClr val="D3F78D"/>
            </a:solidFill>
            <a:tailEnd type="arrow" w="sm" len="sm"/>
          </a:ln>
        </p:spPr>
      </p:cxnSp>
      <p:sp>
        <p:nvSpPr>
          <p:cNvPr id="7" name="">
            <a:extLst xmlns:a="http://schemas.openxmlformats.org/drawingml/2006/main">
              <a:ext uri="{FF2B5EF4-FFF2-40B4-BE49-F238E27FC236}">
                <a16:creationId xmlns:a16="http://schemas.microsoft.com/office/drawing/2014/main" id="{4E998C61-F1CC-4B6F-9C40-4E1E89F1F3C3}"/>
              </a:ext>
            </a:extLst>
          </p:cNvPr>
          <p:cNvSpPr>
            <a:spLocks xmlns:a="http://schemas.openxmlformats.org/drawingml/2006/main" noGrp="1"/>
          </p:cNvSpPr>
          <p:nvPr/>
        </p:nvSpPr>
        <p:spPr>
          <a:xfrm xmlns:a="http://schemas.openxmlformats.org/drawingml/2006/main">
            <a:off x="6153150" y="2095500"/>
            <a:ext cx="1638300" cy="1181100"/>
          </a:xfrm>
          <a:prstGeom xmlns:a="http://schemas.openxmlformats.org/drawingml/2006/main" prst="rect">
            <a:avLst/>
          </a:prstGeom>
          <a:solidFill xmlns:a="http://schemas.openxmlformats.org/drawingml/2006/main">
            <a:srgbClr val="151E18"/>
          </a:solidFill>
          <a:ln xmlns:a="http://schemas.openxmlformats.org/drawingml/2006/main" w="19050">
            <a:solidFill>
              <a:srgbClr val="56654F"/>
            </a:solidFill>
          </a:ln>
        </p:spPr>
        <p:txBody>
          <a:bodyPr xmlns:a="http://schemas.openxmlformats.org/drawingml/2006/main"/>
          <a:lstStyle xmlns:a="http://schemas.openxmlformats.org/drawingml/2006/main"/>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Service</a:t>
            </a:r>
          </a:p>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rules / locks</a:t>
            </a:r>
          </a:p>
        </p:txBody>
      </p:sp>
      <p:cxnSp>
        <p:nvCxnSpPr>
          <p:cNvPr id="22" name=""/>
          <p:cNvCxnSpPr>
            <a:stCxn xmlns:a="http://schemas.openxmlformats.org/drawingml/2006/main" id="5" idx="3"/>
            <a:endCxn xmlns:a="http://schemas.openxmlformats.org/drawingml/2006/main" id="7" idx="1"/>
          </p:cNvCxnSpPr>
          <p:nvPr/>
        </p:nvCxnSpPr>
        <p:spPr>
          <a:xfrm xmlns:a="http://schemas.openxmlformats.org/drawingml/2006/main">
            <a:off x="5943600" y="2686050"/>
            <a:ext cx="209550" cy="0"/>
          </a:xfrm>
          <a:prstGeom xmlns:a="http://schemas.openxmlformats.org/drawingml/2006/main" prst="straightConnector1">
            <a:avLst/>
          </a:prstGeom>
          <a:ln xmlns:a="http://schemas.openxmlformats.org/drawingml/2006/main" w="19050">
            <a:solidFill>
              <a:srgbClr val="D3F78D"/>
            </a:solidFill>
            <a:tailEnd type="arrow" w="sm" len="sm"/>
          </a:ln>
        </p:spPr>
      </p:cxnSp>
      <p:sp>
        <p:nvSpPr>
          <p:cNvPr id="9" name="">
            <a:extLst xmlns:a="http://schemas.openxmlformats.org/drawingml/2006/main">
              <a:ext uri="{FF2B5EF4-FFF2-40B4-BE49-F238E27FC236}">
                <a16:creationId xmlns:a16="http://schemas.microsoft.com/office/drawing/2014/main" id="{B1986FF5-B734-4FC4-B33F-27EAC737C66A}"/>
              </a:ext>
            </a:extLst>
          </p:cNvPr>
          <p:cNvSpPr>
            <a:spLocks xmlns:a="http://schemas.openxmlformats.org/drawingml/2006/main" noGrp="1"/>
          </p:cNvSpPr>
          <p:nvPr/>
        </p:nvSpPr>
        <p:spPr>
          <a:xfrm xmlns:a="http://schemas.openxmlformats.org/drawingml/2006/main">
            <a:off x="8001000" y="2095500"/>
            <a:ext cx="1638300" cy="1181100"/>
          </a:xfrm>
          <a:prstGeom xmlns:a="http://schemas.openxmlformats.org/drawingml/2006/main" prst="rect">
            <a:avLst/>
          </a:prstGeom>
          <a:solidFill xmlns:a="http://schemas.openxmlformats.org/drawingml/2006/main">
            <a:srgbClr val="151E18"/>
          </a:solidFill>
          <a:ln xmlns:a="http://schemas.openxmlformats.org/drawingml/2006/main" w="19050">
            <a:solidFill>
              <a:srgbClr val="56654F"/>
            </a:solidFill>
          </a:ln>
        </p:spPr>
        <p:txBody>
          <a:bodyPr xmlns:a="http://schemas.openxmlformats.org/drawingml/2006/main"/>
          <a:lstStyle xmlns:a="http://schemas.openxmlformats.org/drawingml/2006/main"/>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JPA repository</a:t>
            </a:r>
          </a:p>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queries</a:t>
            </a:r>
          </a:p>
        </p:txBody>
      </p:sp>
      <p:cxnSp>
        <p:nvCxnSpPr>
          <p:cNvPr id="24" name=""/>
          <p:cNvCxnSpPr>
            <a:stCxn xmlns:a="http://schemas.openxmlformats.org/drawingml/2006/main" id="7" idx="3"/>
            <a:endCxn xmlns:a="http://schemas.openxmlformats.org/drawingml/2006/main" id="9" idx="1"/>
          </p:cNvCxnSpPr>
          <p:nvPr/>
        </p:nvCxnSpPr>
        <p:spPr>
          <a:xfrm xmlns:a="http://schemas.openxmlformats.org/drawingml/2006/main">
            <a:off x="7791450" y="2686050"/>
            <a:ext cx="209550" cy="0"/>
          </a:xfrm>
          <a:prstGeom xmlns:a="http://schemas.openxmlformats.org/drawingml/2006/main" prst="straightConnector1">
            <a:avLst/>
          </a:prstGeom>
          <a:ln xmlns:a="http://schemas.openxmlformats.org/drawingml/2006/main" w="19050">
            <a:solidFill>
              <a:srgbClr val="D3F78D"/>
            </a:solidFill>
            <a:tailEnd type="arrow" w="sm" len="sm"/>
          </a:ln>
        </p:spPr>
      </p:cxnSp>
      <p:sp>
        <p:nvSpPr>
          <p:cNvPr id="11" name="">
            <a:extLst xmlns:a="http://schemas.openxmlformats.org/drawingml/2006/main">
              <a:ext uri="{FF2B5EF4-FFF2-40B4-BE49-F238E27FC236}">
                <a16:creationId xmlns:a16="http://schemas.microsoft.com/office/drawing/2014/main" id="{EB3C46B7-C53B-470B-8919-A67604339029}"/>
              </a:ext>
            </a:extLst>
          </p:cNvPr>
          <p:cNvSpPr>
            <a:spLocks xmlns:a="http://schemas.openxmlformats.org/drawingml/2006/main" noGrp="1"/>
          </p:cNvSpPr>
          <p:nvPr/>
        </p:nvSpPr>
        <p:spPr>
          <a:xfrm xmlns:a="http://schemas.openxmlformats.org/drawingml/2006/main">
            <a:off x="9848850" y="2095500"/>
            <a:ext cx="1638300" cy="1181100"/>
          </a:xfrm>
          <a:prstGeom xmlns:a="http://schemas.openxmlformats.org/drawingml/2006/main" prst="rect">
            <a:avLst/>
          </a:prstGeom>
          <a:solidFill xmlns:a="http://schemas.openxmlformats.org/drawingml/2006/main">
            <a:srgbClr val="151E18"/>
          </a:solidFill>
          <a:ln xmlns:a="http://schemas.openxmlformats.org/drawingml/2006/main" w="19050">
            <a:solidFill>
              <a:srgbClr val="56654F"/>
            </a:solidFill>
          </a:ln>
        </p:spPr>
        <p:txBody>
          <a:bodyPr xmlns:a="http://schemas.openxmlformats.org/drawingml/2006/main"/>
          <a:lstStyle xmlns:a="http://schemas.openxmlformats.org/drawingml/2006/main"/>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MySQL</a:t>
            </a:r>
          </a:p>
          <a:p xmlns:a="http://schemas.openxmlformats.org/drawingml/2006/main">
            <a:pPr>
              <a:defRPr sz="1875" b="1">
                <a:solidFill>
                  <a:srgbClr val="F4F4E9"/>
                </a:solidFill>
                <a:latin typeface="Arial"/>
                <a:ea typeface="Arial"/>
                <a:cs typeface="Arial"/>
              </a:defRPr>
            </a:pPr>
            <a:r>
              <a:rPr sz="1875" b="1">
                <a:solidFill>
                  <a:srgbClr val="F4F4E9"/>
                </a:solidFill>
                <a:latin typeface="Arial"/>
                <a:ea typeface="Arial"/>
                <a:cs typeface="Arial"/>
              </a:rPr>
              <a:t>four tables</a:t>
            </a:r>
          </a:p>
        </p:txBody>
      </p:sp>
      <p:cxnSp>
        <p:nvCxnSpPr>
          <p:cNvPr id="26" name=""/>
          <p:cNvCxnSpPr>
            <a:stCxn xmlns:a="http://schemas.openxmlformats.org/drawingml/2006/main" id="9" idx="3"/>
            <a:endCxn xmlns:a="http://schemas.openxmlformats.org/drawingml/2006/main" id="11" idx="1"/>
          </p:cNvCxnSpPr>
          <p:nvPr/>
        </p:nvCxnSpPr>
        <p:spPr>
          <a:xfrm xmlns:a="http://schemas.openxmlformats.org/drawingml/2006/main">
            <a:off x="9639300" y="2686050"/>
            <a:ext cx="209550" cy="0"/>
          </a:xfrm>
          <a:prstGeom xmlns:a="http://schemas.openxmlformats.org/drawingml/2006/main" prst="straightConnector1">
            <a:avLst/>
          </a:prstGeom>
          <a:ln xmlns:a="http://schemas.openxmlformats.org/drawingml/2006/main" w="19050">
            <a:solidFill>
              <a:srgbClr val="D3F78D"/>
            </a:solidFill>
            <a:tailEnd type="arrow" w="sm" len="sm"/>
          </a:ln>
        </p:spPr>
      </p:cxnSp>
      <p:sp>
        <p:nvSpPr>
          <p:cNvPr id="13" name="">
            <a:extLst xmlns:a="http://schemas.openxmlformats.org/drawingml/2006/main">
              <a:ext uri="{FF2B5EF4-FFF2-40B4-BE49-F238E27FC236}">
                <a16:creationId xmlns:a16="http://schemas.microsoft.com/office/drawing/2014/main" id="{86A68F99-082A-4666-AC5F-5E3A0D1F4CDE}"/>
              </a:ext>
            </a:extLst>
          </p:cNvPr>
          <p:cNvSpPr>
            <a:spLocks xmlns:a="http://schemas.openxmlformats.org/drawingml/2006/main" noGrp="1"/>
          </p:cNvSpPr>
          <p:nvPr/>
        </p:nvSpPr>
        <p:spPr>
          <a:xfrm xmlns:a="http://schemas.openxmlformats.org/drawingml/2006/main">
            <a:off x="609600" y="414337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Boundary validation checks format.</a:t>
            </a:r>
          </a:p>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Services enforce ownership and money rules.</a:t>
            </a:r>
          </a:p>
        </p:txBody>
      </p:sp>
      <p:sp>
        <p:nvSpPr>
          <p:cNvPr id="14" name="">
            <a:extLst xmlns:a="http://schemas.openxmlformats.org/drawingml/2006/main">
              <a:ext uri="{FF2B5EF4-FFF2-40B4-BE49-F238E27FC236}">
                <a16:creationId xmlns:a16="http://schemas.microsoft.com/office/drawing/2014/main" id="{49E4D02A-EE20-418E-A11C-F5E7C1C8566D}"/>
              </a:ext>
            </a:extLst>
          </p:cNvPr>
          <p:cNvSpPr>
            <a:spLocks xmlns:a="http://schemas.openxmlformats.org/drawingml/2006/main" noGrp="1"/>
          </p:cNvSpPr>
          <p:nvPr/>
        </p:nvSpPr>
        <p:spPr>
          <a:xfrm xmlns:a="http://schemas.openxmlformats.org/drawingml/2006/main">
            <a:off x="609600" y="5762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0C9BA"/>
                </a:solidFill>
                <a:latin typeface="Arial"/>
                <a:ea typeface="Arial"/>
                <a:cs typeface="Arial"/>
              </a:defRPr>
            </a:pPr>
            <a:r>
              <a:rPr sz="1950" b="0">
                <a:solidFill>
                  <a:srgbClr val="C0C9BA"/>
                </a:solidFill>
                <a:latin typeface="Arial"/>
                <a:ea typeface="Arial"/>
                <a:cs typeface="Arial"/>
              </a:rPr>
              <a:t>One API, one database, one JWT authentication path.</a:t>
            </a:r>
          </a:p>
        </p:txBody>
      </p:sp>
    </p:spTree>
    <p:extLst>
      <p:ext uri="{BB962C8B-B14F-4D97-AF65-F5344CB8AC3E}">
        <p14:creationId xmlns:p14="http://schemas.microsoft.com/office/powerpoint/2010/main" val="1104278551"/>
      </p:ext>
    </p:extLst>
  </p:cSld>
</p:sld>
</file>

<file path=ppt/slides/slide4.xml><?xml version="1.0" encoding="utf-8"?>
<p:sld xmlns:p="http://schemas.openxmlformats.org/presentationml/2006/main">
  <p:cSld>
    <p:bg>
      <p:bgPr>
        <a:solidFill xmlns:a="http://schemas.openxmlformats.org/drawingml/2006/main">
          <a:srgbClr val="151E1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D9AC930-5D10-4FBA-A726-D9216C9C8207}"/>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3F78D"/>
                </a:solidFill>
                <a:latin typeface="Arial"/>
                <a:ea typeface="Arial"/>
                <a:cs typeface="Arial"/>
              </a:defRPr>
            </a:pPr>
            <a:r>
              <a:rPr sz="3450" b="1">
                <a:solidFill>
                  <a:srgbClr val="D3F78D"/>
                </a:solidFill>
                <a:latin typeface="Arial"/>
                <a:ea typeface="Arial"/>
                <a:cs typeface="Arial"/>
              </a:rPr>
              <a:t>Four tables</a:t>
            </a:r>
          </a:p>
        </p:txBody>
      </p:sp>
      <p:graphicFrame>
        <p:nvGraphicFramePr>
          <p:cNvPr id="5" name=""/>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a:tblGrid>
                <a:gridCol w="3333750"/>
                <a:gridCol w="7639050"/>
              </a:tblGrid>
              <a:tr h="666750">
                <a:tc>
                  <a:txBody>
                    <a:bodyPr/>
                    <a:lstStyle/>
                    <a:p>
                      <a:r>
                        <a:rPr sz="1950" b="1">
                          <a:solidFill>
                            <a:srgbClr val="151E18"/>
                          </a:solidFill>
                          <a:latin typeface="Arial"/>
                          <a:ea typeface="Arial"/>
                          <a:cs typeface="Arial"/>
                        </a:rPr>
                        <a:t>Table</a:t>
                      </a:r>
                    </a:p>
                  </a:txBody>
                  <a:tcPr marL="91440" marR="91440" marT="45720" marB="45720">
                    <a:solidFill>
                      <a:srgbClr val="D3F78D"/>
                    </a:solidFill>
                  </a:tcPr>
                </a:tc>
                <a:tc>
                  <a:txBody>
                    <a:bodyPr/>
                    <a:lstStyle/>
                    <a:p>
                      <a:r>
                        <a:rPr sz="1950" b="1">
                          <a:solidFill>
                            <a:srgbClr val="151E18"/>
                          </a:solidFill>
                          <a:latin typeface="Arial"/>
                          <a:ea typeface="Arial"/>
                          <a:cs typeface="Arial"/>
                        </a:rPr>
                        <a:t>Purpose</a:t>
                      </a:r>
                    </a:p>
                  </a:txBody>
                  <a:tcPr marL="91440" marR="91440" marT="45720" marB="45720">
                    <a:solidFill>
                      <a:srgbClr val="D3F78D"/>
                    </a:solidFill>
                  </a:tcPr>
                </a:tc>
              </a:tr>
              <a:tr h="666750">
                <a:tc>
                  <a:txBody>
                    <a:bodyPr/>
                    <a:lstStyle/>
                    <a:p>
                      <a:r>
                        <a:rPr sz="1950" b="0">
                          <a:solidFill>
                            <a:srgbClr val="F4F4E9"/>
                          </a:solidFill>
                          <a:latin typeface="Arial"/>
                          <a:ea typeface="Arial"/>
                          <a:cs typeface="Arial"/>
                        </a:rPr>
                        <a:t>app_users</a:t>
                      </a:r>
                    </a:p>
                  </a:txBody>
                  <a:tcPr marL="91440" marR="91440" marT="45720" marB="45720">
                    <a:solidFill>
                      <a:srgbClr val="151E18"/>
                    </a:solidFill>
                  </a:tcPr>
                </a:tc>
                <a:tc>
                  <a:txBody>
                    <a:bodyPr/>
                    <a:lstStyle/>
                    <a:p>
                      <a:r>
                        <a:rPr sz="1950" b="0">
                          <a:solidFill>
                            <a:srgbClr val="F4F4E9"/>
                          </a:solidFill>
                          <a:latin typeface="Arial"/>
                          <a:ea typeface="Arial"/>
                          <a:cs typeface="Arial"/>
                        </a:rPr>
                        <a:t>Identity, BCrypt hash, role</a:t>
                      </a:r>
                    </a:p>
                  </a:txBody>
                  <a:tcPr marL="91440" marR="91440" marT="45720" marB="45720">
                    <a:solidFill>
                      <a:srgbClr val="151E18"/>
                    </a:solidFill>
                  </a:tcPr>
                </a:tc>
              </a:tr>
              <a:tr h="666750">
                <a:tc>
                  <a:txBody>
                    <a:bodyPr/>
                    <a:lstStyle/>
                    <a:p>
                      <a:r>
                        <a:rPr sz="1950" b="0">
                          <a:solidFill>
                            <a:srgbClr val="F4F4E9"/>
                          </a:solidFill>
                          <a:latin typeface="Arial"/>
                          <a:ea typeface="Arial"/>
                          <a:cs typeface="Arial"/>
                        </a:rPr>
                        <a:t>credit_accounts</a:t>
                      </a:r>
                    </a:p>
                  </a:txBody>
                  <a:tcPr marL="91440" marR="91440" marT="45720" marB="45720">
                    <a:solidFill>
                      <a:srgbClr val="151E18"/>
                    </a:solidFill>
                  </a:tcPr>
                </a:tc>
                <a:tc>
                  <a:txBody>
                    <a:bodyPr/>
                    <a:lstStyle/>
                    <a:p>
                      <a:r>
                        <a:rPr sz="1950" b="0">
                          <a:solidFill>
                            <a:srgbClr val="F4F4E9"/>
                          </a:solidFill>
                          <a:latin typeface="Arial"/>
                          <a:ea typeface="Arial"/>
                          <a:cs typeface="Arial"/>
                        </a:rPr>
                        <a:t>Limit, outstanding balance, ACTIVE/FROZEN</a:t>
                      </a:r>
                    </a:p>
                  </a:txBody>
                  <a:tcPr marL="91440" marR="91440" marT="45720" marB="45720">
                    <a:solidFill>
                      <a:srgbClr val="151E18"/>
                    </a:solidFill>
                  </a:tcPr>
                </a:tc>
              </a:tr>
              <a:tr h="666750">
                <a:tc>
                  <a:txBody>
                    <a:bodyPr/>
                    <a:lstStyle/>
                    <a:p>
                      <a:r>
                        <a:rPr sz="1950" b="0">
                          <a:solidFill>
                            <a:srgbClr val="F4F4E9"/>
                          </a:solidFill>
                          <a:latin typeface="Arial"/>
                          <a:ea typeface="Arial"/>
                          <a:cs typeface="Arial"/>
                        </a:rPr>
                        <a:t>demo_cards</a:t>
                      </a:r>
                    </a:p>
                  </a:txBody>
                  <a:tcPr marL="91440" marR="91440" marT="45720" marB="45720">
                    <a:solidFill>
                      <a:srgbClr val="151E18"/>
                    </a:solidFill>
                  </a:tcPr>
                </a:tc>
                <a:tc>
                  <a:txBody>
                    <a:bodyPr/>
                    <a:lstStyle/>
                    <a:p>
                      <a:r>
                        <a:rPr sz="1950" b="0">
                          <a:solidFill>
                            <a:srgbClr val="F4F4E9"/>
                          </a:solidFill>
                          <a:latin typeface="Arial"/>
                          <a:ea typeface="Arial"/>
                          <a:cs typeface="Arial"/>
                        </a:rPr>
                        <a:t>Profile, masked display, expiry</a:t>
                      </a:r>
                    </a:p>
                  </a:txBody>
                  <a:tcPr marL="91440" marR="91440" marT="45720" marB="45720">
                    <a:solidFill>
                      <a:srgbClr val="151E18"/>
                    </a:solidFill>
                  </a:tcPr>
                </a:tc>
              </a:tr>
              <a:tr h="666750">
                <a:tc>
                  <a:txBody>
                    <a:bodyPr/>
                    <a:lstStyle/>
                    <a:p>
                      <a:r>
                        <a:rPr sz="1950" b="0">
                          <a:solidFill>
                            <a:srgbClr val="F4F4E9"/>
                          </a:solidFill>
                          <a:latin typeface="Arial"/>
                          <a:ea typeface="Arial"/>
                          <a:cs typeface="Arial"/>
                        </a:rPr>
                        <a:t>card_transactions</a:t>
                      </a:r>
                    </a:p>
                  </a:txBody>
                  <a:tcPr marL="91440" marR="91440" marT="45720" marB="45720">
                    <a:solidFill>
                      <a:srgbClr val="151E18"/>
                    </a:solidFill>
                  </a:tcPr>
                </a:tc>
                <a:tc>
                  <a:txBody>
                    <a:bodyPr/>
                    <a:lstStyle/>
                    <a:p>
                      <a:r>
                        <a:rPr sz="1950" b="0">
                          <a:solidFill>
                            <a:srgbClr val="F4F4E9"/>
                          </a:solidFill>
                          <a:latin typeface="Arial"/>
                          <a:ea typeface="Arial"/>
                          <a:cs typeface="Arial"/>
                        </a:rPr>
                        <a:t>Purchase/refund outcomes and request IDs</a:t>
                      </a:r>
                    </a:p>
                  </a:txBody>
                  <a:tcPr marL="91440" marR="91440" marT="45720" marB="45720">
                    <a:solidFill>
                      <a:srgbClr val="151E18"/>
                    </a:solidFill>
                  </a:tcPr>
                </a:tc>
              </a:tr>
            </a:tbl>
          </a:graphicData>
        </a:graphic>
      </p:graphicFrame>
      <p:sp>
        <p:nvSpPr>
          <p:cNvPr id="3" name="">
            <a:extLst xmlns:a="http://schemas.openxmlformats.org/drawingml/2006/main">
              <a:ext uri="{FF2B5EF4-FFF2-40B4-BE49-F238E27FC236}">
                <a16:creationId xmlns:a16="http://schemas.microsoft.com/office/drawing/2014/main" id="{94007D52-002B-4447-BBFC-2DA9C1889BFF}"/>
              </a:ext>
            </a:extLst>
          </p:cNvPr>
          <p:cNvSpPr>
            <a:spLocks xmlns:a="http://schemas.openxmlformats.org/drawingml/2006/main" noGrp="1"/>
          </p:cNvSpPr>
          <p:nvPr/>
        </p:nvSpPr>
        <p:spPr>
          <a:xfrm xmlns:a="http://schemas.openxmlformats.org/drawingml/2006/main">
            <a:off x="609600" y="53340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0C9BA"/>
                </a:solidFill>
                <a:latin typeface="Arial"/>
                <a:ea typeface="Arial"/>
                <a:cs typeface="Arial"/>
              </a:defRPr>
            </a:pPr>
            <a:r>
              <a:rPr sz="2175" b="0">
                <a:solidFill>
                  <a:srgbClr val="C0C9BA"/>
                </a:solidFill>
                <a:latin typeface="Arial"/>
                <a:ea typeface="Arial"/>
                <a:cs typeface="Arial"/>
              </a:rPr>
              <a:t>Available credit = limit − outstanding balance</a:t>
            </a:r>
          </a:p>
          <a:p xmlns:a="http://schemas.openxmlformats.org/drawingml/2006/main">
            <a:pPr>
              <a:defRPr sz="2175" b="0">
                <a:solidFill>
                  <a:srgbClr val="C0C9BA"/>
                </a:solidFill>
                <a:latin typeface="Arial"/>
                <a:ea typeface="Arial"/>
                <a:cs typeface="Arial"/>
              </a:defRPr>
            </a:pPr>
            <a:r>
              <a:rPr sz="2175" b="0">
                <a:solidFill>
                  <a:srgbClr val="C0C9BA"/>
                </a:solidFill>
                <a:latin typeface="Arial"/>
                <a:ea typeface="Arial"/>
                <a:cs typeface="Arial"/>
              </a:rPr>
              <a:t>A refund links to its original purchase once.</a:t>
            </a:r>
          </a:p>
        </p:txBody>
      </p:sp>
    </p:spTree>
    <p:extLst>
      <p:ext uri="{BB962C8B-B14F-4D97-AF65-F5344CB8AC3E}">
        <p14:creationId xmlns:p14="http://schemas.microsoft.com/office/powerpoint/2010/main" val="2055492709"/>
      </p:ext>
    </p:extLst>
  </p:cSld>
</p:sld>
</file>

<file path=ppt/slides/slide5.xml><?xml version="1.0" encoding="utf-8"?>
<p:sld xmlns:p="http://schemas.openxmlformats.org/presentationml/2006/main">
  <p:cSld>
    <p:bg>
      <p:bgPr>
        <a:solidFill xmlns:a="http://schemas.openxmlformats.org/drawingml/2006/main">
          <a:srgbClr val="151E1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60C792-67CB-4504-AC44-5A0F019894F4}"/>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3F78D"/>
                </a:solidFill>
                <a:latin typeface="Arial"/>
                <a:ea typeface="Arial"/>
                <a:cs typeface="Arial"/>
              </a:defRPr>
            </a:pPr>
            <a:r>
              <a:rPr sz="3450" b="1">
                <a:solidFill>
                  <a:srgbClr val="D3F78D"/>
                </a:solidFill>
                <a:latin typeface="Arial"/>
                <a:ea typeface="Arial"/>
                <a:cs typeface="Arial"/>
              </a:rPr>
              <a:t>Live customer and admin demo</a:t>
            </a:r>
          </a:p>
        </p:txBody>
      </p:sp>
      <p:sp>
        <p:nvSpPr>
          <p:cNvPr id="2" name="">
            <a:extLst xmlns:a="http://schemas.openxmlformats.org/drawingml/2006/main">
              <a:ext uri="{FF2B5EF4-FFF2-40B4-BE49-F238E27FC236}">
                <a16:creationId xmlns:a16="http://schemas.microsoft.com/office/drawing/2014/main" id="{ED2C4665-EECE-487A-ACAB-D6B39D840F95}"/>
              </a:ext>
            </a:extLst>
          </p:cNvPr>
          <p:cNvSpPr>
            <a:spLocks xmlns:a="http://schemas.openxmlformats.org/drawingml/2006/main" noGrp="1"/>
          </p:cNvSpPr>
          <p:nvPr/>
        </p:nvSpPr>
        <p:spPr>
          <a:xfrm xmlns:a="http://schemas.openxmlformats.org/drawingml/2006/main">
            <a:off x="609600" y="1762125"/>
            <a:ext cx="3857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Register and sign in</a:t>
            </a:r>
          </a:p>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Purchase $50</a:t>
            </a:r>
          </a:p>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Save a $2,000 decline</a:t>
            </a:r>
          </a:p>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Refund the original $50</a:t>
            </a:r>
          </a:p>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Freeze and reactivate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ac3a549b8aa479f"/>
          <a:stretch xmlns:a="http://schemas.openxmlformats.org/drawingml/2006/main"/>
        </p:blipFill>
        <p:spPr>
          <a:xfrm xmlns:a="http://schemas.openxmlformats.org/drawingml/2006/main">
            <a:off x="5308445" y="1571625"/>
            <a:ext cx="5575610" cy="428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2B9AEA7-C564-4E33-BA31-3C3B88A419E7}"/>
              </a:ext>
            </a:extLst>
          </p:cNvPr>
          <p:cNvSpPr>
            <a:spLocks xmlns:a="http://schemas.openxmlformats.org/drawingml/2006/main" noGrp="1"/>
          </p:cNvSpPr>
          <p:nvPr/>
        </p:nvSpPr>
        <p:spPr>
          <a:xfrm xmlns:a="http://schemas.openxmlformats.org/drawingml/2006/main">
            <a:off x="609600" y="6096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0C9BA"/>
                </a:solidFill>
                <a:latin typeface="Arial"/>
                <a:ea typeface="Arial"/>
                <a:cs typeface="Arial"/>
              </a:defRPr>
            </a:pPr>
            <a:r>
              <a:rPr sz="1875" b="0">
                <a:solidFill>
                  <a:srgbClr val="C0C9BA"/>
                </a:solidFill>
                <a:latin typeface="Arial"/>
                <a:ea typeface="Arial"/>
                <a:cs typeface="Arial"/>
              </a:rPr>
              <a:t>Every value in the demonstration is fictional.</a:t>
            </a:r>
          </a:p>
        </p:txBody>
      </p:sp>
    </p:spTree>
    <p:extLst>
      <p:ext uri="{BB962C8B-B14F-4D97-AF65-F5344CB8AC3E}">
        <p14:creationId xmlns:p14="http://schemas.microsoft.com/office/powerpoint/2010/main" val="643099449"/>
      </p:ext>
    </p:extLst>
  </p:cSld>
</p:sld>
</file>

<file path=ppt/slides/slide6.xml><?xml version="1.0" encoding="utf-8"?>
<p:sld xmlns:p="http://schemas.openxmlformats.org/presentationml/2006/main">
  <p:cSld>
    <p:bg>
      <p:bgPr>
        <a:solidFill xmlns:a="http://schemas.openxmlformats.org/drawingml/2006/main">
          <a:srgbClr val="151E1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D0A904A-34E0-4D76-A3E1-DE9E9821A781}"/>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3F78D"/>
                </a:solidFill>
                <a:latin typeface="Arial"/>
                <a:ea typeface="Arial"/>
                <a:cs typeface="Arial"/>
              </a:defRPr>
            </a:pPr>
            <a:r>
              <a:rPr sz="3450" b="1">
                <a:solidFill>
                  <a:srgbClr val="D3F78D"/>
                </a:solidFill>
                <a:latin typeface="Arial"/>
                <a:ea typeface="Arial"/>
                <a:cs typeface="Arial"/>
              </a:rPr>
              <a:t>Retries and consistent balances</a:t>
            </a:r>
          </a:p>
        </p:txBody>
      </p:sp>
      <p:graphicFrame>
        <p:nvGraphicFramePr>
          <p:cNvPr id="5" name=""/>
          <p:cNvGraphicFramePr/>
          <p:nvPr/>
        </p:nvGraphicFramePr>
        <p:xfrm>
          <a:off xmlns:a="http://schemas.openxmlformats.org/drawingml/2006/main" x="609600" y="1762125"/>
          <a:ext xmlns:a="http://schemas.openxmlformats.org/drawingml/2006/main" cx="10972800" cy="2857500"/>
        </p:xfrm>
        <a:graphic xmlns:a="http://schemas.openxmlformats.org/drawingml/2006/main">
          <a:graphicData uri="http://schemas.openxmlformats.org/drawingml/2006/table">
            <a:tbl>
              <a:tblPr/>
              <a:tblGrid>
                <a:gridCol w="3429000"/>
                <a:gridCol w="7543800"/>
              </a:tblGrid>
              <a:tr h="714375">
                <a:tc>
                  <a:txBody>
                    <a:bodyPr/>
                    <a:lstStyle/>
                    <a:p>
                      <a:r>
                        <a:rPr sz="1950" b="1">
                          <a:solidFill>
                            <a:srgbClr val="151E18"/>
                          </a:solidFill>
                          <a:latin typeface="Arial"/>
                          <a:ea typeface="Arial"/>
                          <a:cs typeface="Arial"/>
                        </a:rPr>
                        <a:t>Protection</a:t>
                      </a:r>
                    </a:p>
                  </a:txBody>
                  <a:tcPr marL="91440" marR="91440" marT="45720" marB="45720">
                    <a:solidFill>
                      <a:srgbClr val="D3F78D"/>
                    </a:solidFill>
                  </a:tcPr>
                </a:tc>
                <a:tc>
                  <a:txBody>
                    <a:bodyPr/>
                    <a:lstStyle/>
                    <a:p>
                      <a:r>
                        <a:rPr sz="1950" b="1">
                          <a:solidFill>
                            <a:srgbClr val="151E18"/>
                          </a:solidFill>
                          <a:latin typeface="Arial"/>
                          <a:ea typeface="Arial"/>
                          <a:cs typeface="Arial"/>
                        </a:rPr>
                        <a:t>Job</a:t>
                      </a:r>
                    </a:p>
                  </a:txBody>
                  <a:tcPr marL="91440" marR="91440" marT="45720" marB="45720">
                    <a:solidFill>
                      <a:srgbClr val="D3F78D"/>
                    </a:solidFill>
                  </a:tcPr>
                </a:tc>
              </a:tr>
              <a:tr h="714375">
                <a:tc>
                  <a:txBody>
                    <a:bodyPr/>
                    <a:lstStyle/>
                    <a:p>
                      <a:r>
                        <a:rPr sz="1950" b="0">
                          <a:solidFill>
                            <a:srgbClr val="F4F4E9"/>
                          </a:solidFill>
                          <a:latin typeface="Arial"/>
                          <a:ea typeface="Arial"/>
                          <a:cs typeface="Arial"/>
                        </a:rPr>
                        <a:t>Stable request UUID</a:t>
                      </a:r>
                    </a:p>
                  </a:txBody>
                  <a:tcPr marL="91440" marR="91440" marT="45720" marB="45720">
                    <a:solidFill>
                      <a:srgbClr val="151E18"/>
                    </a:solidFill>
                  </a:tcPr>
                </a:tc>
                <a:tc>
                  <a:txBody>
                    <a:bodyPr/>
                    <a:lstStyle/>
                    <a:p>
                      <a:r>
                        <a:rPr sz="1950" b="0">
                          <a:solidFill>
                            <a:srgbClr val="F4F4E9"/>
                          </a:solidFill>
                          <a:latin typeface="Arial"/>
                          <a:ea typeface="Arial"/>
                          <a:cs typeface="Arial"/>
                        </a:rPr>
                        <a:t>An identical retry returns the saved transaction</a:t>
                      </a:r>
                    </a:p>
                  </a:txBody>
                  <a:tcPr marL="91440" marR="91440" marT="45720" marB="45720">
                    <a:solidFill>
                      <a:srgbClr val="151E18"/>
                    </a:solidFill>
                  </a:tcPr>
                </a:tc>
              </a:tr>
              <a:tr h="714375">
                <a:tc>
                  <a:txBody>
                    <a:bodyPr/>
                    <a:lstStyle/>
                    <a:p>
                      <a:r>
                        <a:rPr sz="1950" b="0">
                          <a:solidFill>
                            <a:srgbClr val="F4F4E9"/>
                          </a:solidFill>
                          <a:latin typeface="Arial"/>
                          <a:ea typeface="Arial"/>
                          <a:cs typeface="Arial"/>
                        </a:rPr>
                        <a:t>Account write lock</a:t>
                      </a:r>
                    </a:p>
                  </a:txBody>
                  <a:tcPr marL="91440" marR="91440" marT="45720" marB="45720">
                    <a:solidFill>
                      <a:srgbClr val="151E18"/>
                    </a:solidFill>
                  </a:tcPr>
                </a:tc>
                <a:tc>
                  <a:txBody>
                    <a:bodyPr/>
                    <a:lstStyle/>
                    <a:p>
                      <a:r>
                        <a:rPr sz="1950" b="0">
                          <a:solidFill>
                            <a:srgbClr val="F4F4E9"/>
                          </a:solidFill>
                          <a:latin typeface="Arial"/>
                          <a:ea typeface="Arial"/>
                          <a:cs typeface="Arial"/>
                        </a:rPr>
                        <a:t>Competing balance changes wait their turn</a:t>
                      </a:r>
                    </a:p>
                  </a:txBody>
                  <a:tcPr marL="91440" marR="91440" marT="45720" marB="45720">
                    <a:solidFill>
                      <a:srgbClr val="151E18"/>
                    </a:solidFill>
                  </a:tcPr>
                </a:tc>
              </a:tr>
              <a:tr h="714375">
                <a:tc>
                  <a:txBody>
                    <a:bodyPr/>
                    <a:lstStyle/>
                    <a:p>
                      <a:r>
                        <a:rPr sz="1950" b="0">
                          <a:solidFill>
                            <a:srgbClr val="F4F4E9"/>
                          </a:solidFill>
                          <a:latin typeface="Arial"/>
                          <a:ea typeface="Arial"/>
                          <a:cs typeface="Arial"/>
                        </a:rPr>
                        <a:t>Database transaction</a:t>
                      </a:r>
                    </a:p>
                  </a:txBody>
                  <a:tcPr marL="91440" marR="91440" marT="45720" marB="45720">
                    <a:solidFill>
                      <a:srgbClr val="151E18"/>
                    </a:solidFill>
                  </a:tcPr>
                </a:tc>
                <a:tc>
                  <a:txBody>
                    <a:bodyPr/>
                    <a:lstStyle/>
                    <a:p>
                      <a:r>
                        <a:rPr sz="1950" b="0">
                          <a:solidFill>
                            <a:srgbClr val="F4F4E9"/>
                          </a:solidFill>
                          <a:latin typeface="Arial"/>
                          <a:ea typeface="Arial"/>
                          <a:cs typeface="Arial"/>
                        </a:rPr>
                        <a:t>Balance and history commit or roll back together</a:t>
                      </a:r>
                    </a:p>
                  </a:txBody>
                  <a:tcPr marL="91440" marR="91440" marT="45720" marB="45720">
                    <a:solidFill>
                      <a:srgbClr val="151E18"/>
                    </a:solidFill>
                  </a:tcPr>
                </a:tc>
              </a:tr>
            </a:tbl>
          </a:graphicData>
        </a:graphic>
      </p:graphicFrame>
      <p:sp>
        <p:nvSpPr>
          <p:cNvPr id="3" name="">
            <a:extLst xmlns:a="http://schemas.openxmlformats.org/drawingml/2006/main">
              <a:ext uri="{FF2B5EF4-FFF2-40B4-BE49-F238E27FC236}">
                <a16:creationId xmlns:a16="http://schemas.microsoft.com/office/drawing/2014/main" id="{E298F1FF-A302-493B-82CA-B4AF26672A2B}"/>
              </a:ext>
            </a:extLst>
          </p:cNvPr>
          <p:cNvSpPr>
            <a:spLocks xmlns:a="http://schemas.openxmlformats.org/drawingml/2006/main" noGrp="1"/>
          </p:cNvSpPr>
          <p:nvPr/>
        </p:nvSpPr>
        <p:spPr>
          <a:xfrm xmlns:a="http://schemas.openxmlformats.org/drawingml/2006/main">
            <a:off x="609600" y="5143500"/>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0C9BA"/>
                </a:solidFill>
                <a:latin typeface="Arial"/>
                <a:ea typeface="Arial"/>
                <a:cs typeface="Arial"/>
              </a:defRPr>
            </a:pPr>
            <a:r>
              <a:rPr sz="2250" b="0">
                <a:solidFill>
                  <a:srgbClr val="C0C9BA"/>
                </a:solidFill>
                <a:latin typeface="Arial"/>
                <a:ea typeface="Arial"/>
                <a:cs typeface="Arial"/>
              </a:rPr>
              <a:t>201: new financial outcome</a:t>
            </a:r>
          </a:p>
          <a:p xmlns:a="http://schemas.openxmlformats.org/drawingml/2006/main">
            <a:pPr>
              <a:defRPr sz="2250" b="0">
                <a:solidFill>
                  <a:srgbClr val="C0C9BA"/>
                </a:solidFill>
                <a:latin typeface="Arial"/>
                <a:ea typeface="Arial"/>
                <a:cs typeface="Arial"/>
              </a:defRPr>
            </a:pPr>
            <a:r>
              <a:rPr sz="2250" b="0">
                <a:solidFill>
                  <a:srgbClr val="C0C9BA"/>
                </a:solidFill>
                <a:latin typeface="Arial"/>
                <a:ea typeface="Arial"/>
                <a:cs typeface="Arial"/>
              </a:rPr>
              <a:t>200: identical saved retry</a:t>
            </a:r>
          </a:p>
          <a:p xmlns:a="http://schemas.openxmlformats.org/drawingml/2006/main">
            <a:pPr>
              <a:defRPr sz="2250" b="0">
                <a:solidFill>
                  <a:srgbClr val="C0C9BA"/>
                </a:solidFill>
                <a:latin typeface="Arial"/>
                <a:ea typeface="Arial"/>
                <a:cs typeface="Arial"/>
              </a:defRPr>
            </a:pPr>
            <a:r>
              <a:rPr sz="2250" b="0">
                <a:solidFill>
                  <a:srgbClr val="C0C9BA"/>
                </a:solidFill>
                <a:latin typeface="Arial"/>
                <a:ea typeface="Arial"/>
                <a:cs typeface="Arial"/>
              </a:rPr>
              <a:t>DECLINED: saved decision with no balance increase</a:t>
            </a:r>
          </a:p>
        </p:txBody>
      </p:sp>
    </p:spTree>
    <p:extLst>
      <p:ext uri="{BB962C8B-B14F-4D97-AF65-F5344CB8AC3E}">
        <p14:creationId xmlns:p14="http://schemas.microsoft.com/office/powerpoint/2010/main" val="877106384"/>
      </p:ext>
    </p:extLst>
  </p:cSld>
</p:sld>
</file>

<file path=ppt/slides/slide7.xml><?xml version="1.0" encoding="utf-8"?>
<p:sld xmlns:p="http://schemas.openxmlformats.org/presentationml/2006/main">
  <p:cSld>
    <p:bg>
      <p:bgPr>
        <a:solidFill xmlns:a="http://schemas.openxmlformats.org/drawingml/2006/main">
          <a:srgbClr val="151E1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0110D70-C873-4329-96F3-0175B51C0D9D}"/>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3F78D"/>
                </a:solidFill>
                <a:latin typeface="Arial"/>
                <a:ea typeface="Arial"/>
                <a:cs typeface="Arial"/>
              </a:defRPr>
            </a:pPr>
            <a:r>
              <a:rPr sz="3450" b="1">
                <a:solidFill>
                  <a:srgbClr val="D3F78D"/>
                </a:solidFill>
                <a:latin typeface="Arial"/>
                <a:ea typeface="Arial"/>
                <a:cs typeface="Arial"/>
              </a:rPr>
              <a:t>Authentication and access</a:t>
            </a:r>
          </a:p>
        </p:txBody>
      </p:sp>
      <p:sp>
        <p:nvSpPr>
          <p:cNvPr id="2" name="">
            <a:extLst xmlns:a="http://schemas.openxmlformats.org/drawingml/2006/main">
              <a:ext uri="{FF2B5EF4-FFF2-40B4-BE49-F238E27FC236}">
                <a16:creationId xmlns:a16="http://schemas.microsoft.com/office/drawing/2014/main" id="{C2340A6C-B63B-450A-866C-7E7F0FA5FD6E}"/>
              </a:ext>
            </a:extLst>
          </p:cNvPr>
          <p:cNvSpPr>
            <a:spLocks xmlns:a="http://schemas.openxmlformats.org/drawingml/2006/main" noGrp="1"/>
          </p:cNvSpPr>
          <p:nvPr/>
        </p:nvSpPr>
        <p:spPr>
          <a:xfrm xmlns:a="http://schemas.openxmlformats.org/drawingml/2006/main">
            <a:off x="609600" y="1762125"/>
            <a:ext cx="10858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BCrypt password checks and signed JWT verification</a:t>
            </a:r>
          </a:p>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USER/ADMIN routes plus account ownership</a:t>
            </a:r>
          </a:p>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Access stays in React memory for 15 minutes</a:t>
            </a:r>
          </a:p>
          <a:p xmlns:a="http://schemas.openxmlformats.org/drawingml/2006/main">
            <a:pPr>
              <a:defRPr sz="2550" b="0">
                <a:solidFill>
                  <a:srgbClr val="F4F4E9"/>
                </a:solidFill>
                <a:latin typeface="Arial"/>
                <a:ea typeface="Arial"/>
                <a:cs typeface="Arial"/>
              </a:defRPr>
            </a:pPr>
            <a:r>
              <a:rPr sz="2550" b="0">
                <a:solidFill>
                  <a:srgbClr val="F4F4E9"/>
                </a:solidFill>
                <a:latin typeface="Arial"/>
                <a:ea typeface="Arial"/>
                <a:cs typeface="Arial"/>
              </a:rPr>
              <a:t>Local CORS and authentication rate limiting</a:t>
            </a:r>
          </a:p>
        </p:txBody>
      </p:sp>
      <p:sp>
        <p:nvSpPr>
          <p:cNvPr id="3" name="">
            <a:extLst xmlns:a="http://schemas.openxmlformats.org/drawingml/2006/main">
              <a:ext uri="{FF2B5EF4-FFF2-40B4-BE49-F238E27FC236}">
                <a16:creationId xmlns:a16="http://schemas.microsoft.com/office/drawing/2014/main" id="{8874DA1B-E259-4589-B3F7-462744BA9A4D}"/>
              </a:ext>
            </a:extLst>
          </p:cNvPr>
          <p:cNvSpPr>
            <a:spLocks xmlns:a="http://schemas.openxmlformats.org/drawingml/2006/main" noGrp="1"/>
          </p:cNvSpPr>
          <p:nvPr/>
        </p:nvSpPr>
        <p:spPr>
          <a:xfrm xmlns:a="http://schemas.openxmlformats.org/drawingml/2006/main">
            <a:off x="609600" y="4857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3F78D"/>
                </a:solidFill>
                <a:latin typeface="Arial"/>
                <a:ea typeface="Arial"/>
                <a:cs typeface="Arial"/>
              </a:defRPr>
            </a:pPr>
            <a:r>
              <a:rPr sz="2400" b="1">
                <a:solidFill>
                  <a:srgbClr val="D3F78D"/>
                </a:solidFill>
                <a:latin typeface="Arial"/>
                <a:ea typeface="Arial"/>
                <a:cs typeface="Arial"/>
              </a:rPr>
              <a:t>Sign-out discards browser access.</a:t>
            </a:r>
          </a:p>
          <a:p xmlns:a="http://schemas.openxmlformats.org/drawingml/2006/main">
            <a:pPr>
              <a:defRPr sz="2400" b="1">
                <a:solidFill>
                  <a:srgbClr val="D3F78D"/>
                </a:solidFill>
                <a:latin typeface="Arial"/>
                <a:ea typeface="Arial"/>
                <a:cs typeface="Arial"/>
              </a:defRPr>
            </a:pPr>
            <a:r>
              <a:rPr sz="2400" b="1">
                <a:solidFill>
                  <a:srgbClr val="D3F78D"/>
                </a:solidFill>
                <a:latin typeface="Arial"/>
                <a:ea typeface="Arial"/>
                <a:cs typeface="Arial"/>
              </a:rPr>
              <a:t>A copied token remains valid until expiration.</a:t>
            </a:r>
          </a:p>
        </p:txBody>
      </p:sp>
    </p:spTree>
    <p:extLst>
      <p:ext uri="{BB962C8B-B14F-4D97-AF65-F5344CB8AC3E}">
        <p14:creationId xmlns:p14="http://schemas.microsoft.com/office/powerpoint/2010/main" val="1368616070"/>
      </p:ext>
    </p:extLst>
  </p:cSld>
</p:sld>
</file>

<file path=ppt/slides/slide8.xml><?xml version="1.0" encoding="utf-8"?>
<p:sld xmlns:p="http://schemas.openxmlformats.org/presentationml/2006/main">
  <p:cSld>
    <p:bg>
      <p:bgPr>
        <a:solidFill xmlns:a="http://schemas.openxmlformats.org/drawingml/2006/main">
          <a:srgbClr val="151E1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01700DD-EB5F-4948-BDAB-49BB172DC352}"/>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3F78D"/>
                </a:solidFill>
                <a:latin typeface="Arial"/>
                <a:ea typeface="Arial"/>
                <a:cs typeface="Arial"/>
              </a:defRPr>
            </a:pPr>
            <a:r>
              <a:rPr sz="3450" b="1">
                <a:solidFill>
                  <a:srgbClr val="D3F78D"/>
                </a:solidFill>
                <a:latin typeface="Arial"/>
                <a:ea typeface="Arial"/>
                <a:cs typeface="Arial"/>
              </a:rPr>
              <a:t>Verification evidence</a:t>
            </a:r>
          </a:p>
        </p:txBody>
      </p:sp>
      <p:graphicFrame>
        <p:nvGraphicFramePr>
          <p:cNvPr id="5" name=""/>
          <p:cNvGraphicFramePr/>
          <p:nvPr/>
        </p:nvGraphicFramePr>
        <p:xfrm>
          <a:off xmlns:a="http://schemas.openxmlformats.org/drawingml/2006/main" x="609600" y="1571625"/>
          <a:ext xmlns:a="http://schemas.openxmlformats.org/drawingml/2006/main" cx="10972800" cy="3905250"/>
        </p:xfrm>
        <a:graphic xmlns:a="http://schemas.openxmlformats.org/drawingml/2006/main">
          <a:graphicData uri="http://schemas.openxmlformats.org/drawingml/2006/table">
            <a:tbl>
              <a:tblPr/>
              <a:tblGrid>
                <a:gridCol w="3619500"/>
                <a:gridCol w="7353300"/>
              </a:tblGrid>
              <a:tr h="650875">
                <a:tc>
                  <a:txBody>
                    <a:bodyPr/>
                    <a:lstStyle/>
                    <a:p>
                      <a:r>
                        <a:rPr sz="1950" b="1">
                          <a:solidFill>
                            <a:srgbClr val="151E18"/>
                          </a:solidFill>
                          <a:latin typeface="Arial"/>
                          <a:ea typeface="Arial"/>
                          <a:cs typeface="Arial"/>
                        </a:rPr>
                        <a:t>Check</a:t>
                      </a:r>
                    </a:p>
                  </a:txBody>
                  <a:tcPr marL="91440" marR="91440" marT="45720" marB="45720">
                    <a:solidFill>
                      <a:srgbClr val="D3F78D"/>
                    </a:solidFill>
                  </a:tcPr>
                </a:tc>
                <a:tc>
                  <a:txBody>
                    <a:bodyPr/>
                    <a:lstStyle/>
                    <a:p>
                      <a:r>
                        <a:rPr sz="1950" b="1">
                          <a:solidFill>
                            <a:srgbClr val="151E18"/>
                          </a:solidFill>
                          <a:latin typeface="Arial"/>
                          <a:ea typeface="Arial"/>
                          <a:cs typeface="Arial"/>
                        </a:rPr>
                        <a:t>Measured result</a:t>
                      </a:r>
                    </a:p>
                  </a:txBody>
                  <a:tcPr marL="91440" marR="91440" marT="45720" marB="45720">
                    <a:solidFill>
                      <a:srgbClr val="D3F78D"/>
                    </a:solidFill>
                  </a:tcPr>
                </a:tc>
              </a:tr>
              <a:tr h="650875">
                <a:tc>
                  <a:txBody>
                    <a:bodyPr/>
                    <a:lstStyle/>
                    <a:p>
                      <a:r>
                        <a:rPr sz="1950" b="0">
                          <a:solidFill>
                            <a:srgbClr val="F4F4E9"/>
                          </a:solidFill>
                          <a:latin typeface="Arial"/>
                          <a:ea typeface="Arial"/>
                          <a:cs typeface="Arial"/>
                        </a:rPr>
                        <a:t>JUnit and MySQL</a:t>
                      </a:r>
                    </a:p>
                  </a:txBody>
                  <a:tcPr marL="91440" marR="91440" marT="45720" marB="45720">
                    <a:solidFill>
                      <a:srgbClr val="151E18"/>
                    </a:solidFill>
                  </a:tcPr>
                </a:tc>
                <a:tc>
                  <a:txBody>
                    <a:bodyPr/>
                    <a:lstStyle/>
                    <a:p>
                      <a:r>
                        <a:rPr sz="1950" b="0">
                          <a:solidFill>
                            <a:srgbClr val="F4F4E9"/>
                          </a:solidFill>
                          <a:latin typeface="Arial"/>
                          <a:ea typeface="Arial"/>
                          <a:cs typeface="Arial"/>
                        </a:rPr>
                        <a:t>36 passed, including 10 MySQL tests</a:t>
                      </a:r>
                    </a:p>
                  </a:txBody>
                  <a:tcPr marL="91440" marR="91440" marT="45720" marB="45720">
                    <a:solidFill>
                      <a:srgbClr val="151E18"/>
                    </a:solidFill>
                  </a:tcPr>
                </a:tc>
              </a:tr>
              <a:tr h="650875">
                <a:tc>
                  <a:txBody>
                    <a:bodyPr/>
                    <a:lstStyle/>
                    <a:p>
                      <a:r>
                        <a:rPr sz="1950" b="0">
                          <a:solidFill>
                            <a:srgbClr val="F4F4E9"/>
                          </a:solidFill>
                          <a:latin typeface="Arial"/>
                          <a:ea typeface="Arial"/>
                          <a:cs typeface="Arial"/>
                        </a:rPr>
                        <a:t>JaCoCo Java lines</a:t>
                      </a:r>
                    </a:p>
                  </a:txBody>
                  <a:tcPr marL="91440" marR="91440" marT="45720" marB="45720">
                    <a:solidFill>
                      <a:srgbClr val="151E18"/>
                    </a:solidFill>
                  </a:tcPr>
                </a:tc>
                <a:tc>
                  <a:txBody>
                    <a:bodyPr/>
                    <a:lstStyle/>
                    <a:p>
                      <a:r>
                        <a:rPr sz="1950" b="0">
                          <a:solidFill>
                            <a:srgbClr val="F4F4E9"/>
                          </a:solidFill>
                          <a:latin typeface="Arial"/>
                          <a:ea typeface="Arial"/>
                          <a:cs typeface="Arial"/>
                        </a:rPr>
                        <a:t>95.74%, with a 70% minimum gate</a:t>
                      </a:r>
                    </a:p>
                  </a:txBody>
                  <a:tcPr marL="91440" marR="91440" marT="45720" marB="45720">
                    <a:solidFill>
                      <a:srgbClr val="151E18"/>
                    </a:solidFill>
                  </a:tcPr>
                </a:tc>
              </a:tr>
              <a:tr h="650875">
                <a:tc>
                  <a:txBody>
                    <a:bodyPr/>
                    <a:lstStyle/>
                    <a:p>
                      <a:r>
                        <a:rPr sz="1950" b="0">
                          <a:solidFill>
                            <a:srgbClr val="F4F4E9"/>
                          </a:solidFill>
                          <a:latin typeface="Arial"/>
                          <a:ea typeface="Arial"/>
                          <a:cs typeface="Arial"/>
                        </a:rPr>
                        <a:t>Postman</a:t>
                      </a:r>
                    </a:p>
                  </a:txBody>
                  <a:tcPr marL="91440" marR="91440" marT="45720" marB="45720">
                    <a:solidFill>
                      <a:srgbClr val="151E18"/>
                    </a:solidFill>
                  </a:tcPr>
                </a:tc>
                <a:tc>
                  <a:txBody>
                    <a:bodyPr/>
                    <a:lstStyle/>
                    <a:p>
                      <a:r>
                        <a:rPr sz="1950" b="0">
                          <a:solidFill>
                            <a:srgbClr val="F4F4E9"/>
                          </a:solidFill>
                          <a:latin typeface="Arial"/>
                          <a:ea typeface="Arial"/>
                          <a:cs typeface="Arial"/>
                        </a:rPr>
                        <a:t>49 requests, 72 assertions passed</a:t>
                      </a:r>
                    </a:p>
                  </a:txBody>
                  <a:tcPr marL="91440" marR="91440" marT="45720" marB="45720">
                    <a:solidFill>
                      <a:srgbClr val="151E18"/>
                    </a:solidFill>
                  </a:tcPr>
                </a:tc>
              </a:tr>
              <a:tr h="650875">
                <a:tc>
                  <a:txBody>
                    <a:bodyPr/>
                    <a:lstStyle/>
                    <a:p>
                      <a:r>
                        <a:rPr sz="1950" b="0">
                          <a:solidFill>
                            <a:srgbClr val="F4F4E9"/>
                          </a:solidFill>
                          <a:latin typeface="Arial"/>
                          <a:ea typeface="Arial"/>
                          <a:cs typeface="Arial"/>
                        </a:rPr>
                        <a:t>Chromium workflows</a:t>
                      </a:r>
                    </a:p>
                  </a:txBody>
                  <a:tcPr marL="91440" marR="91440" marT="45720" marB="45720">
                    <a:solidFill>
                      <a:srgbClr val="151E18"/>
                    </a:solidFill>
                  </a:tcPr>
                </a:tc>
                <a:tc>
                  <a:txBody>
                    <a:bodyPr/>
                    <a:lstStyle/>
                    <a:p>
                      <a:r>
                        <a:rPr sz="1950" b="0">
                          <a:solidFill>
                            <a:srgbClr val="F4F4E9"/>
                          </a:solidFill>
                          <a:latin typeface="Arial"/>
                          <a:ea typeface="Arial"/>
                          <a:cs typeface="Arial"/>
                        </a:rPr>
                        <a:t>11 groups passed</a:t>
                      </a:r>
                    </a:p>
                  </a:txBody>
                  <a:tcPr marL="91440" marR="91440" marT="45720" marB="45720">
                    <a:solidFill>
                      <a:srgbClr val="151E18"/>
                    </a:solidFill>
                  </a:tcPr>
                </a:tc>
              </a:tr>
              <a:tr h="650875">
                <a:tc>
                  <a:txBody>
                    <a:bodyPr/>
                    <a:lstStyle/>
                    <a:p>
                      <a:r>
                        <a:rPr sz="1950" b="0">
                          <a:solidFill>
                            <a:srgbClr val="F4F4E9"/>
                          </a:solidFill>
                          <a:latin typeface="Arial"/>
                          <a:ea typeface="Arial"/>
                          <a:cs typeface="Arial"/>
                        </a:rPr>
                        <a:t>SonarQube</a:t>
                      </a:r>
                    </a:p>
                  </a:txBody>
                  <a:tcPr marL="91440" marR="91440" marT="45720" marB="45720">
                    <a:solidFill>
                      <a:srgbClr val="151E18"/>
                    </a:solidFill>
                  </a:tcPr>
                </a:tc>
                <a:tc>
                  <a:txBody>
                    <a:bodyPr/>
                    <a:lstStyle/>
                    <a:p>
                      <a:r>
                        <a:rPr sz="1950" b="0">
                          <a:solidFill>
                            <a:srgbClr val="F4F4E9"/>
                          </a:solidFill>
                          <a:latin typeface="Arial"/>
                          <a:ea typeface="Arial"/>
                          <a:cs typeface="Arial"/>
                        </a:rPr>
                        <a:t>Actual Java/React analysis and saved report</a:t>
                      </a:r>
                    </a:p>
                  </a:txBody>
                  <a:tcPr marL="91440" marR="91440" marT="45720" marB="45720">
                    <a:solidFill>
                      <a:srgbClr val="151E18"/>
                    </a:solidFill>
                  </a:tcPr>
                </a:tc>
              </a:tr>
            </a:tbl>
          </a:graphicData>
        </a:graphic>
      </p:graphicFrame>
      <p:sp>
        <p:nvSpPr>
          <p:cNvPr id="3" name="">
            <a:extLst xmlns:a="http://schemas.openxmlformats.org/drawingml/2006/main">
              <a:ext uri="{FF2B5EF4-FFF2-40B4-BE49-F238E27FC236}">
                <a16:creationId xmlns:a16="http://schemas.microsoft.com/office/drawing/2014/main" id="{58C5DE79-4CE0-4E8D-9847-6F631DA0C254}"/>
              </a:ext>
            </a:extLst>
          </p:cNvPr>
          <p:cNvSpPr>
            <a:spLocks xmlns:a="http://schemas.openxmlformats.org/drawingml/2006/main" noGrp="1"/>
          </p:cNvSpPr>
          <p:nvPr/>
        </p:nvSpPr>
        <p:spPr>
          <a:xfrm xmlns:a="http://schemas.openxmlformats.org/drawingml/2006/main">
            <a:off x="609600" y="5905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0C9BA"/>
                </a:solidFill>
                <a:latin typeface="Arial"/>
                <a:ea typeface="Arial"/>
                <a:cs typeface="Arial"/>
              </a:defRPr>
            </a:pPr>
            <a:r>
              <a:rPr sz="1800" b="0">
                <a:solidFill>
                  <a:srgbClr val="C0C9BA"/>
                </a:solidFill>
                <a:latin typeface="Arial"/>
                <a:ea typeface="Arial"/>
                <a:cs typeface="Arial"/>
              </a:rPr>
              <a:t>Reports distinguish real behavior from injected failure cases.</a:t>
            </a:r>
          </a:p>
        </p:txBody>
      </p:sp>
    </p:spTree>
    <p:extLst>
      <p:ext uri="{BB962C8B-B14F-4D97-AF65-F5344CB8AC3E}">
        <p14:creationId xmlns:p14="http://schemas.microsoft.com/office/powerpoint/2010/main" val="1040929463"/>
      </p:ext>
    </p:extLst>
  </p:cSld>
</p:sld>
</file>

<file path=ppt/slides/slide9.xml><?xml version="1.0" encoding="utf-8"?>
<p:sld xmlns:p="http://schemas.openxmlformats.org/presentationml/2006/main">
  <p:cSld>
    <p:bg>
      <p:bgPr>
        <a:solidFill xmlns:a="http://schemas.openxmlformats.org/drawingml/2006/main">
          <a:srgbClr val="151E1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F57000F-199B-4882-8936-E5C86ABF0ECC}"/>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D3F78D"/>
                </a:solidFill>
                <a:latin typeface="Arial"/>
                <a:ea typeface="Arial"/>
                <a:cs typeface="Arial"/>
              </a:defRPr>
            </a:pPr>
            <a:r>
              <a:rPr sz="3450" b="1">
                <a:solidFill>
                  <a:srgbClr val="D3F78D"/>
                </a:solidFill>
                <a:latin typeface="Arial"/>
                <a:ea typeface="Arial"/>
                <a:cs typeface="Arial"/>
              </a:rPr>
              <a:t>Lessons and remaining work</a:t>
            </a:r>
          </a:p>
        </p:txBody>
      </p:sp>
      <p:sp>
        <p:nvSpPr>
          <p:cNvPr id="2" name="">
            <a:extLst xmlns:a="http://schemas.openxmlformats.org/drawingml/2006/main">
              <a:ext uri="{FF2B5EF4-FFF2-40B4-BE49-F238E27FC236}">
                <a16:creationId xmlns:a16="http://schemas.microsoft.com/office/drawing/2014/main" id="{7B7DE0EC-BB2E-45E7-BD41-554028324239}"/>
              </a:ext>
            </a:extLst>
          </p:cNvPr>
          <p:cNvSpPr>
            <a:spLocks xmlns:a="http://schemas.openxmlformats.org/drawingml/2006/main" noGrp="1"/>
          </p:cNvSpPr>
          <p:nvPr/>
        </p:nvSpPr>
        <p:spPr>
          <a:xfrm xmlns:a="http://schemas.openxmlformats.org/drawingml/2006/main">
            <a:off x="609600" y="1666875"/>
            <a:ext cx="10763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4F4E9"/>
                </a:solidFill>
                <a:latin typeface="Arial"/>
                <a:ea typeface="Arial"/>
                <a:cs typeface="Arial"/>
              </a:defRPr>
            </a:pPr>
            <a:r>
              <a:rPr sz="2625" b="1">
                <a:solidFill>
                  <a:srgbClr val="F4F4E9"/>
                </a:solidFill>
                <a:latin typeface="Arial"/>
                <a:ea typeface="Arial"/>
                <a:cs typeface="Arial"/>
              </a:rPr>
              <a:t>Retries need stable identity.</a:t>
            </a:r>
          </a:p>
          <a:p xmlns:a="http://schemas.openxmlformats.org/drawingml/2006/main">
            <a:pPr>
              <a:defRPr sz="2625" b="1">
                <a:solidFill>
                  <a:srgbClr val="F4F4E9"/>
                </a:solidFill>
                <a:latin typeface="Arial"/>
                <a:ea typeface="Arial"/>
                <a:cs typeface="Arial"/>
              </a:defRPr>
            </a:pPr>
            <a:r>
              <a:rPr sz="2625" b="1">
                <a:solidFill>
                  <a:srgbClr val="F4F4E9"/>
                </a:solidFill>
                <a:latin typeface="Arial"/>
                <a:ea typeface="Arial"/>
                <a:cs typeface="Arial"/>
              </a:rPr>
              <a:t>Locks and transactions solve different problems.</a:t>
            </a:r>
          </a:p>
          <a:p xmlns:a="http://schemas.openxmlformats.org/drawingml/2006/main">
            <a:pPr>
              <a:defRPr sz="2625" b="1">
                <a:solidFill>
                  <a:srgbClr val="F4F4E9"/>
                </a:solidFill>
                <a:latin typeface="Arial"/>
                <a:ea typeface="Arial"/>
                <a:cs typeface="Arial"/>
              </a:defRPr>
            </a:pPr>
            <a:r>
              <a:rPr sz="2625" b="1">
                <a:solidFill>
                  <a:srgbClr val="F4F4E9"/>
                </a:solidFill>
                <a:latin typeface="Arial"/>
                <a:ea typeface="Arial"/>
                <a:cs typeface="Arial"/>
              </a:rPr>
              <a:t>Quality claims need actual evidence.</a:t>
            </a:r>
          </a:p>
        </p:txBody>
      </p:sp>
      <p:sp>
        <p:nvSpPr>
          <p:cNvPr id="3" name="">
            <a:extLst xmlns:a="http://schemas.openxmlformats.org/drawingml/2006/main">
              <a:ext uri="{FF2B5EF4-FFF2-40B4-BE49-F238E27FC236}">
                <a16:creationId xmlns:a16="http://schemas.microsoft.com/office/drawing/2014/main" id="{5FDDD81B-86C5-4C25-B66B-0C9DEF083FB8}"/>
              </a:ext>
            </a:extLst>
          </p:cNvPr>
          <p:cNvSpPr>
            <a:spLocks xmlns:a="http://schemas.openxmlformats.org/drawingml/2006/main" noGrp="1"/>
          </p:cNvSpPr>
          <p:nvPr/>
        </p:nvSpPr>
        <p:spPr>
          <a:xfrm xmlns:a="http://schemas.openxmlformats.org/drawingml/2006/main">
            <a:off x="609600" y="4048125"/>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C0C9BA"/>
                </a:solidFill>
                <a:latin typeface="Arial"/>
                <a:ea typeface="Arial"/>
                <a:cs typeface="Arial"/>
              </a:defRPr>
            </a:pPr>
            <a:r>
              <a:rPr sz="2325" b="0">
                <a:solidFill>
                  <a:srgbClr val="C0C9BA"/>
                </a:solidFill>
                <a:latin typeface="Arial"/>
                <a:ea typeface="Arial"/>
                <a:cs typeface="Arial"/>
              </a:rPr>
              <a:t>Planned 3D card after required application work</a:t>
            </a:r>
          </a:p>
          <a:p xmlns:a="http://schemas.openxmlformats.org/drawingml/2006/main">
            <a:pPr>
              <a:defRPr sz="2325" b="0">
                <a:solidFill>
                  <a:srgbClr val="C0C9BA"/>
                </a:solidFill>
                <a:latin typeface="Arial"/>
                <a:ea typeface="Arial"/>
                <a:cs typeface="Arial"/>
              </a:defRPr>
            </a:pPr>
            <a:r>
              <a:rPr sz="2325" b="0">
                <a:solidFill>
                  <a:srgbClr val="C0C9BA"/>
                </a:solidFill>
                <a:latin typeface="Arial"/>
                <a:ea typeface="Arial"/>
                <a:cs typeface="Arial"/>
              </a:rPr>
              <a:t>Two peer reviews and recorded changes</a:t>
            </a:r>
          </a:p>
          <a:p xmlns:a="http://schemas.openxmlformats.org/drawingml/2006/main">
            <a:pPr>
              <a:defRPr sz="2325" b="0">
                <a:solidFill>
                  <a:srgbClr val="C0C9BA"/>
                </a:solidFill>
                <a:latin typeface="Arial"/>
                <a:ea typeface="Arial"/>
                <a:cs typeface="Arial"/>
              </a:defRPr>
            </a:pPr>
            <a:r>
              <a:rPr sz="2325" b="0">
                <a:solidFill>
                  <a:srgbClr val="C0C9BA"/>
                </a:solidFill>
                <a:latin typeface="Arial"/>
                <a:ea typeface="Arial"/>
                <a:cs typeface="Arial"/>
              </a:rPr>
              <a:t>Rehearsal October 12</a:t>
            </a:r>
          </a:p>
          <a:p xmlns:a="http://schemas.openxmlformats.org/drawingml/2006/main">
            <a:pPr>
              <a:defRPr sz="2325" b="0">
                <a:solidFill>
                  <a:srgbClr val="C0C9BA"/>
                </a:solidFill>
                <a:latin typeface="Arial"/>
                <a:ea typeface="Arial"/>
                <a:cs typeface="Arial"/>
              </a:defRPr>
            </a:pPr>
            <a:r>
              <a:rPr sz="2325" b="0">
                <a:solidFill>
                  <a:srgbClr val="C0C9BA"/>
                </a:solidFill>
                <a:latin typeface="Arial"/>
                <a:ea typeface="Arial"/>
                <a:cs typeface="Arial"/>
              </a:rPr>
              <a:t>Presentation and submission October 13</a:t>
            </a:r>
          </a:p>
        </p:txBody>
      </p:sp>
    </p:spTree>
    <p:extLst>
      <p:ext uri="{BB962C8B-B14F-4D97-AF65-F5344CB8AC3E}">
        <p14:creationId xmlns:p14="http://schemas.microsoft.com/office/powerpoint/2010/main" val="16410944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2026-10-08T19:29:42.3180000Z</dcterms:created>
  <dcterms:modified xsi:type="dcterms:W3CDTF">2026-10-08T19:29:42.3180000Z</dcterms:modified>
</coreProperties>
</file>